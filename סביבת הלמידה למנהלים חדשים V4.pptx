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p:sldMasterIdLst>
    <p:sldMasterId id="2147483648" r:id="rId4"/>
    <p:sldMasterId id="2147483661" r:id="rId5"/>
  </p:sldMasterIdLst>
  <p:notesMasterIdLst>
    <p:notesMasterId r:id="rId64"/>
  </p:notesMasterIdLst>
  <p:sldIdLst>
    <p:sldId id="282" r:id="rId6"/>
    <p:sldId id="3465" r:id="rId7"/>
    <p:sldId id="320" r:id="rId8"/>
    <p:sldId id="285" r:id="rId9"/>
    <p:sldId id="1554" r:id="rId10"/>
    <p:sldId id="343" r:id="rId11"/>
    <p:sldId id="3488" r:id="rId12"/>
    <p:sldId id="313" r:id="rId13"/>
    <p:sldId id="3477" r:id="rId14"/>
    <p:sldId id="318" r:id="rId15"/>
    <p:sldId id="321" r:id="rId16"/>
    <p:sldId id="322" r:id="rId17"/>
    <p:sldId id="323" r:id="rId18"/>
    <p:sldId id="3461" r:id="rId19"/>
    <p:sldId id="324" r:id="rId20"/>
    <p:sldId id="325" r:id="rId21"/>
    <p:sldId id="326" r:id="rId22"/>
    <p:sldId id="327" r:id="rId23"/>
    <p:sldId id="328" r:id="rId24"/>
    <p:sldId id="335" r:id="rId25"/>
    <p:sldId id="319" r:id="rId26"/>
    <p:sldId id="314" r:id="rId27"/>
    <p:sldId id="329" r:id="rId28"/>
    <p:sldId id="330" r:id="rId29"/>
    <p:sldId id="331" r:id="rId30"/>
    <p:sldId id="332" r:id="rId31"/>
    <p:sldId id="334" r:id="rId32"/>
    <p:sldId id="333" r:id="rId33"/>
    <p:sldId id="315" r:id="rId34"/>
    <p:sldId id="341" r:id="rId35"/>
    <p:sldId id="340" r:id="rId36"/>
    <p:sldId id="339" r:id="rId37"/>
    <p:sldId id="338" r:id="rId38"/>
    <p:sldId id="342" r:id="rId39"/>
    <p:sldId id="316" r:id="rId40"/>
    <p:sldId id="336" r:id="rId41"/>
    <p:sldId id="317" r:id="rId42"/>
    <p:sldId id="3472" r:id="rId43"/>
    <p:sldId id="3473" r:id="rId44"/>
    <p:sldId id="3474" r:id="rId45"/>
    <p:sldId id="3475" r:id="rId46"/>
    <p:sldId id="3476" r:id="rId47"/>
    <p:sldId id="3466" r:id="rId48"/>
    <p:sldId id="3467" r:id="rId49"/>
    <p:sldId id="3468" r:id="rId50"/>
    <p:sldId id="3469" r:id="rId51"/>
    <p:sldId id="3470" r:id="rId52"/>
    <p:sldId id="3464" r:id="rId53"/>
    <p:sldId id="3478" r:id="rId54"/>
    <p:sldId id="3479" r:id="rId55"/>
    <p:sldId id="3480" r:id="rId56"/>
    <p:sldId id="3481" r:id="rId57"/>
    <p:sldId id="3482" r:id="rId58"/>
    <p:sldId id="3483" r:id="rId59"/>
    <p:sldId id="3484" r:id="rId60"/>
    <p:sldId id="3485" r:id="rId61"/>
    <p:sldId id="3486" r:id="rId62"/>
    <p:sldId id="3487" r:id="rId63"/>
  </p:sldIdLst>
  <p:sldSz cx="12192000" cy="6858000"/>
  <p:notesSz cx="6858000" cy="9144000"/>
  <p:embeddedFontLst>
    <p:embeddedFont>
      <p:font typeface="Ploni ML v2 AAA" panose="00000500000000000000" pitchFamily="50" charset="-79"/>
      <p:regular r:id="rId65"/>
      <p:bold r:id="rId66"/>
    </p:embeddedFont>
    <p:embeddedFont>
      <p:font typeface="Ploni ML v2 AAA Light" panose="00000400000000000000" pitchFamily="50" charset="-79"/>
      <p:regular r:id="rId67"/>
    </p:embeddedFont>
    <p:embeddedFont>
      <p:font typeface="Ploni ML v2 AAA Medium" panose="00000600000000000000" pitchFamily="50" charset="-79"/>
      <p:regular r:id="rId68"/>
    </p:embeddedFont>
    <p:embeddedFont>
      <p:font typeface="Rubik" pitchFamily="2" charset="-79"/>
      <p:regular r:id="rId69"/>
      <p:bold r:id="rId70"/>
      <p:italic r:id="rId71"/>
      <p:boldItalic r:id="rId72"/>
    </p:embeddedFont>
    <p:embeddedFont>
      <p:font typeface="Rubik Black" pitchFamily="2" charset="-79"/>
      <p:bold r:id="rId73"/>
      <p:boldItalic r:id="rId74"/>
    </p:embeddedFont>
    <p:embeddedFont>
      <p:font typeface="Rubik Light" pitchFamily="2" charset="-79"/>
      <p:regular r:id="rId75"/>
      <p:italic r:id="rId76"/>
    </p:embeddedFont>
  </p:embeddedFontLst>
  <p:defaultTextStyle>
    <a:defPPr>
      <a:defRPr lang="LID4096"/>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6341BD67-8163-412B-8D4E-5C718E184466}">
          <p14:sldIdLst>
            <p14:sldId id="282"/>
            <p14:sldId id="3465"/>
            <p14:sldId id="320"/>
          </p14:sldIdLst>
        </p14:section>
        <p14:section name="מודל הניהול והמנהיגות" id="{7EA84143-2410-40FC-9F1E-57710F1428BA}">
          <p14:sldIdLst>
            <p14:sldId id="285"/>
            <p14:sldId id="1554"/>
            <p14:sldId id="343"/>
            <p14:sldId id="3488"/>
          </p14:sldIdLst>
        </p14:section>
        <p14:section name="אסטרטגיית מאוחדת" id="{878B524E-9920-47CB-B94E-89A0E87BFAC8}">
          <p14:sldIdLst>
            <p14:sldId id="313"/>
            <p14:sldId id="3477"/>
            <p14:sldId id="318"/>
            <p14:sldId id="321"/>
            <p14:sldId id="322"/>
            <p14:sldId id="323"/>
            <p14:sldId id="3461"/>
            <p14:sldId id="324"/>
            <p14:sldId id="325"/>
            <p14:sldId id="326"/>
            <p14:sldId id="327"/>
            <p14:sldId id="328"/>
            <p14:sldId id="335"/>
            <p14:sldId id="319"/>
          </p14:sldIdLst>
        </p14:section>
        <p14:section name="תכנית העבודה שלי" id="{F8E2379E-4C78-497E-AFF7-C54EDD556611}">
          <p14:sldIdLst>
            <p14:sldId id="314"/>
            <p14:sldId id="329"/>
            <p14:sldId id="330"/>
            <p14:sldId id="331"/>
            <p14:sldId id="332"/>
            <p14:sldId id="334"/>
            <p14:sldId id="333"/>
          </p14:sldIdLst>
        </p14:section>
        <p14:section name="יסודות הרכש" id="{8B2AB06B-B9DD-4445-8187-D99BEA7CA893}">
          <p14:sldIdLst>
            <p14:sldId id="315"/>
            <p14:sldId id="341"/>
            <p14:sldId id="340"/>
            <p14:sldId id="339"/>
            <p14:sldId id="338"/>
            <p14:sldId id="342"/>
          </p14:sldIdLst>
        </p14:section>
        <p14:section name="הערכת ביצועים" id="{B7D4495A-FA88-4208-AACD-E92212E46E10}">
          <p14:sldIdLst>
            <p14:sldId id="316"/>
            <p14:sldId id="336"/>
          </p14:sldIdLst>
        </p14:section>
        <p14:section name="מדידה והערכה" id="{4AA84DBB-2949-4334-9554-A274716481D1}">
          <p14:sldIdLst>
            <p14:sldId id="317"/>
            <p14:sldId id="3472"/>
            <p14:sldId id="3473"/>
            <p14:sldId id="3474"/>
            <p14:sldId id="3475"/>
            <p14:sldId id="3476"/>
            <p14:sldId id="3466"/>
            <p14:sldId id="3467"/>
            <p14:sldId id="3468"/>
            <p14:sldId id="3469"/>
            <p14:sldId id="3470"/>
            <p14:sldId id="3464"/>
            <p14:sldId id="3478"/>
            <p14:sldId id="3479"/>
            <p14:sldId id="3480"/>
            <p14:sldId id="3481"/>
            <p14:sldId id="3482"/>
            <p14:sldId id="3483"/>
            <p14:sldId id="3484"/>
            <p14:sldId id="3485"/>
            <p14:sldId id="3486"/>
            <p14:sldId id="348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221"/>
    <a:srgbClr val="FAAF54"/>
    <a:srgbClr val="009CE1"/>
    <a:srgbClr val="2DB2CD"/>
    <a:srgbClr val="283A84"/>
    <a:srgbClr val="F9A035"/>
    <a:srgbClr val="F896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35C09-34F9-4E64-A1DB-C5051A34FC52}" v="16" dt="2026-10-11T10:49:55.761"/>
  </p1510:revLst>
</p1510:revInfo>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744" autoAdjust="0"/>
    <p:restoredTop sz="94660"/>
  </p:normalViewPr>
  <p:slideViewPr>
    <p:cSldViewPr snapToGrid="0" showGuides="1">
      <p:cViewPr varScale="1">
        <p:scale>
          <a:sx n="111" d="100"/>
          <a:sy n="111" d="100"/>
        </p:scale>
        <p:origin x="57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font" Target="fonts/font4.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10.fntdata"/><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8.fntdata"/><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3.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6.fntdata"/><Relationship Id="rId75"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2.fntdata"/><Relationship Id="rId7" Type="http://schemas.openxmlformats.org/officeDocument/2006/relationships/slide" Target="slides/slide2.xml"/><Relationship Id="rId71" Type="http://schemas.openxmlformats.org/officeDocument/2006/relationships/font" Target="fonts/font7.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va Helvitz" userId="3c2689f1-d1de-437e-9394-14fb68275595" providerId="ADAL" clId="{E3E8DA98-84A8-4DBC-BDAD-C917E4151870}"/>
    <pc:docChg chg="modSld">
      <pc:chgData name="Adva Helvitz" userId="3c2689f1-d1de-437e-9394-14fb68275595" providerId="ADAL" clId="{E3E8DA98-84A8-4DBC-BDAD-C917E4151870}" dt="2026-10-11T10:49:55.761" v="17" actId="1076"/>
      <pc:docMkLst>
        <pc:docMk/>
      </pc:docMkLst>
      <pc:sldChg chg="modSp">
        <pc:chgData name="Adva Helvitz" userId="3c2689f1-d1de-437e-9394-14fb68275595" providerId="ADAL" clId="{E3E8DA98-84A8-4DBC-BDAD-C917E4151870}" dt="2026-10-11T10:21:22.098" v="6"/>
        <pc:sldMkLst>
          <pc:docMk/>
          <pc:sldMk cId="209330539" sldId="285"/>
        </pc:sldMkLst>
        <pc:spChg chg="mod">
          <ac:chgData name="Adva Helvitz" userId="3c2689f1-d1de-437e-9394-14fb68275595" providerId="ADAL" clId="{E3E8DA98-84A8-4DBC-BDAD-C917E4151870}" dt="2026-10-11T10:21:22.098" v="6"/>
          <ac:spMkLst>
            <pc:docMk/>
            <pc:sldMk cId="209330539" sldId="285"/>
            <ac:spMk id="2" creationId="{E2F3C76D-4A8A-DFFA-ACBC-EC1ED836BABD}"/>
          </ac:spMkLst>
        </pc:spChg>
      </pc:sldChg>
      <pc:sldChg chg="modSp">
        <pc:chgData name="Adva Helvitz" userId="3c2689f1-d1de-437e-9394-14fb68275595" providerId="ADAL" clId="{E3E8DA98-84A8-4DBC-BDAD-C917E4151870}" dt="2026-10-11T10:39:21.530" v="9"/>
        <pc:sldMkLst>
          <pc:docMk/>
          <pc:sldMk cId="221456658" sldId="316"/>
        </pc:sldMkLst>
        <pc:spChg chg="mod">
          <ac:chgData name="Adva Helvitz" userId="3c2689f1-d1de-437e-9394-14fb68275595" providerId="ADAL" clId="{E3E8DA98-84A8-4DBC-BDAD-C917E4151870}" dt="2026-10-11T10:39:21.530" v="9"/>
          <ac:spMkLst>
            <pc:docMk/>
            <pc:sldMk cId="221456658" sldId="316"/>
            <ac:spMk id="2" creationId="{5E7F514A-FAC4-DD66-454C-B41E1C26A844}"/>
          </ac:spMkLst>
        </pc:spChg>
      </pc:sldChg>
      <pc:sldChg chg="modSp">
        <pc:chgData name="Adva Helvitz" userId="3c2689f1-d1de-437e-9394-14fb68275595" providerId="ADAL" clId="{E3E8DA98-84A8-4DBC-BDAD-C917E4151870}" dt="2026-10-11T10:42:59.163" v="12"/>
        <pc:sldMkLst>
          <pc:docMk/>
          <pc:sldMk cId="234366058" sldId="317"/>
        </pc:sldMkLst>
        <pc:spChg chg="mod">
          <ac:chgData name="Adva Helvitz" userId="3c2689f1-d1de-437e-9394-14fb68275595" providerId="ADAL" clId="{E3E8DA98-84A8-4DBC-BDAD-C917E4151870}" dt="2026-10-11T10:42:59.163" v="12"/>
          <ac:spMkLst>
            <pc:docMk/>
            <pc:sldMk cId="234366058" sldId="317"/>
            <ac:spMk id="3" creationId="{25E34680-6048-7A29-FA8E-DD6594F4D5E3}"/>
          </ac:spMkLst>
        </pc:spChg>
      </pc:sldChg>
      <pc:sldChg chg="delSp">
        <pc:chgData name="Adva Helvitz" userId="3c2689f1-d1de-437e-9394-14fb68275595" providerId="ADAL" clId="{E3E8DA98-84A8-4DBC-BDAD-C917E4151870}" dt="2026-10-11T10:18:26.712" v="1"/>
        <pc:sldMkLst>
          <pc:docMk/>
          <pc:sldMk cId="187687422" sldId="320"/>
        </pc:sldMkLst>
        <pc:spChg chg="del">
          <ac:chgData name="Adva Helvitz" userId="3c2689f1-d1de-437e-9394-14fb68275595" providerId="ADAL" clId="{E3E8DA98-84A8-4DBC-BDAD-C917E4151870}" dt="2026-10-11T10:18:26.712" v="1"/>
          <ac:spMkLst>
            <pc:docMk/>
            <pc:sldMk cId="187687422" sldId="320"/>
            <ac:spMk id="9" creationId="{3A0784F8-5A43-3816-C80D-3543AE415317}"/>
          </ac:spMkLst>
        </pc:spChg>
      </pc:sldChg>
      <pc:sldChg chg="delSp modSp">
        <pc:chgData name="Adva Helvitz" userId="3c2689f1-d1de-437e-9394-14fb68275595" providerId="ADAL" clId="{E3E8DA98-84A8-4DBC-BDAD-C917E4151870}" dt="2026-10-11T10:49:55.761" v="17" actId="1076"/>
        <pc:sldMkLst>
          <pc:docMk/>
          <pc:sldMk cId="2416562355" sldId="3464"/>
        </pc:sldMkLst>
        <pc:picChg chg="mod">
          <ac:chgData name="Adva Helvitz" userId="3c2689f1-d1de-437e-9394-14fb68275595" providerId="ADAL" clId="{E3E8DA98-84A8-4DBC-BDAD-C917E4151870}" dt="2026-10-11T10:49:55.761" v="17" actId="1076"/>
          <ac:picMkLst>
            <pc:docMk/>
            <pc:sldMk cId="2416562355" sldId="3464"/>
            <ac:picMk id="34" creationId="{AA21FCE3-C326-6FA9-2D55-0E1CFC03E7F3}"/>
          </ac:picMkLst>
        </pc:picChg>
        <pc:picChg chg="del">
          <ac:chgData name="Adva Helvitz" userId="3c2689f1-d1de-437e-9394-14fb68275595" providerId="ADAL" clId="{E3E8DA98-84A8-4DBC-BDAD-C917E4151870}" dt="2026-10-11T10:49:34.734" v="16" actId="478"/>
          <ac:picMkLst>
            <pc:docMk/>
            <pc:sldMk cId="2416562355" sldId="3464"/>
            <ac:picMk id="36" creationId="{30CB4DC4-5E09-BAF9-5BFE-448E7626FAF8}"/>
          </ac:picMkLst>
        </pc:picChg>
        <pc:picChg chg="del">
          <ac:chgData name="Adva Helvitz" userId="3c2689f1-d1de-437e-9394-14fb68275595" providerId="ADAL" clId="{E3E8DA98-84A8-4DBC-BDAD-C917E4151870}" dt="2026-10-11T10:49:34.734" v="16" actId="478"/>
          <ac:picMkLst>
            <pc:docMk/>
            <pc:sldMk cId="2416562355" sldId="3464"/>
            <ac:picMk id="37" creationId="{7C69672D-5492-86F8-5B18-CEF83D4AD5C4}"/>
          </ac:picMkLst>
        </pc:picChg>
      </pc:sldChg>
      <pc:sldChg chg="modSp">
        <pc:chgData name="Adva Helvitz" userId="3c2689f1-d1de-437e-9394-14fb68275595" providerId="ADAL" clId="{E3E8DA98-84A8-4DBC-BDAD-C917E4151870}" dt="2026-10-11T10:17:29.173" v="0"/>
        <pc:sldMkLst>
          <pc:docMk/>
          <pc:sldMk cId="1806499435" sldId="3465"/>
        </pc:sldMkLst>
        <pc:spChg chg="mod">
          <ac:chgData name="Adva Helvitz" userId="3c2689f1-d1de-437e-9394-14fb68275595" providerId="ADAL" clId="{E3E8DA98-84A8-4DBC-BDAD-C917E4151870}" dt="2026-10-11T10:17:29.173" v="0"/>
          <ac:spMkLst>
            <pc:docMk/>
            <pc:sldMk cId="1806499435" sldId="3465"/>
            <ac:spMk id="34" creationId="{706716CF-0E90-9E1F-0AF4-D4FF80B1E6F0}"/>
          </ac:spMkLst>
        </pc:spChg>
      </pc:sldChg>
      <pc:sldChg chg="delSp modSp">
        <pc:chgData name="Adva Helvitz" userId="3c2689f1-d1de-437e-9394-14fb68275595" providerId="ADAL" clId="{E3E8DA98-84A8-4DBC-BDAD-C917E4151870}" dt="2026-10-11T10:45:30.324" v="14"/>
        <pc:sldMkLst>
          <pc:docMk/>
          <pc:sldMk cId="1690837959" sldId="3472"/>
        </pc:sldMkLst>
        <pc:spChg chg="del">
          <ac:chgData name="Adva Helvitz" userId="3c2689f1-d1de-437e-9394-14fb68275595" providerId="ADAL" clId="{E3E8DA98-84A8-4DBC-BDAD-C917E4151870}" dt="2026-10-11T10:45:30.324" v="14"/>
          <ac:spMkLst>
            <pc:docMk/>
            <pc:sldMk cId="1690837959" sldId="3472"/>
            <ac:spMk id="2" creationId="{4F7A7040-6805-3539-A388-ED12AA25DECE}"/>
          </ac:spMkLst>
        </pc:spChg>
        <pc:spChg chg="mod">
          <ac:chgData name="Adva Helvitz" userId="3c2689f1-d1de-437e-9394-14fb68275595" providerId="ADAL" clId="{E3E8DA98-84A8-4DBC-BDAD-C917E4151870}" dt="2026-10-11T10:44:25.453" v="13"/>
          <ac:spMkLst>
            <pc:docMk/>
            <pc:sldMk cId="1690837959" sldId="3472"/>
            <ac:spMk id="3" creationId="{17EB740E-680C-144D-2538-D441E96F76DF}"/>
          </ac:spMkLst>
        </pc:spChg>
      </pc:sldChg>
      <pc:sldChg chg="modSp">
        <pc:chgData name="Adva Helvitz" userId="3c2689f1-d1de-437e-9394-14fb68275595" providerId="ADAL" clId="{E3E8DA98-84A8-4DBC-BDAD-C917E4151870}" dt="2026-10-11T10:46:25.351" v="15"/>
        <pc:sldMkLst>
          <pc:docMk/>
          <pc:sldMk cId="3338563283" sldId="3474"/>
        </pc:sldMkLst>
        <pc:spChg chg="mod">
          <ac:chgData name="Adva Helvitz" userId="3c2689f1-d1de-437e-9394-14fb68275595" providerId="ADAL" clId="{E3E8DA98-84A8-4DBC-BDAD-C917E4151870}" dt="2026-10-11T10:46:25.351" v="15"/>
          <ac:spMkLst>
            <pc:docMk/>
            <pc:sldMk cId="3338563283" sldId="3474"/>
            <ac:spMk id="10" creationId="{DE93F81A-7050-5016-B5A1-029DACED23C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lexb\Google%20Drive\ALEX%20BARBER%20OD\&#1500;&#1511;&#1493;&#1495;&#1493;&#1514;%202015%20&#1495;&#1491;&#1513;\&#1511;&#1493;&#1508;&#1495;%20&#1502;&#1488;&#1493;&#1495;&#1491;&#1514;\&#1502;&#1513;&#1488;&#1489;&#1497;%20&#1488;&#1504;&#1493;&#1513;\&#1502;&#1488;&#1493;&#1495;&#1491;&#1514;%20-%20&#1505;&#1511;&#1512;%20&#1506;&#1502;&#1491;&#1493;&#1514;\&#1505;&#1511;&#1512;%20&#1506;&#1502;&#1491;&#1493;&#1514;%2011.2025\AVODA\SPSS%20&#1495;&#1491;&#1513;\&#1513;&#1488;&#1500;&#1493;&#1503;%20&#1512;&#1493;&#1508;&#1488;&#1497;&#1501;%20-%20&#1490;&#1512;&#1508;&#1497;&#1501;%20.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'הקופה המועדפת'!$D$16</c:f>
              <c:strCache>
                <c:ptCount val="1"/>
                <c:pt idx="0">
                  <c:v>8.2024</c:v>
                </c:pt>
              </c:strCache>
            </c:strRef>
          </c:tx>
          <c:spPr>
            <a:solidFill>
              <a:srgbClr val="F8991A"/>
            </a:solidFill>
            <a:ln>
              <a:noFill/>
            </a:ln>
            <a:effectLst/>
          </c:spPr>
          <c:invertIfNegative val="0"/>
          <c:dPt>
            <c:idx val="1"/>
            <c:invertIfNegative val="0"/>
            <c:bubble3D val="0"/>
            <c:spPr>
              <a:solidFill>
                <a:srgbClr val="00699D"/>
              </a:solidFill>
              <a:ln>
                <a:noFill/>
              </a:ln>
              <a:effectLst/>
            </c:spPr>
            <c:extLst>
              <c:ext xmlns:c16="http://schemas.microsoft.com/office/drawing/2014/chart" uri="{C3380CC4-5D6E-409C-BE32-E72D297353CC}">
                <c16:uniqueId val="{00000002-71C3-4532-8C1A-C1EADEF17321}"/>
              </c:ext>
            </c:extLst>
          </c:dPt>
          <c:dPt>
            <c:idx val="2"/>
            <c:invertIfNegative val="0"/>
            <c:bubble3D val="0"/>
            <c:spPr>
              <a:solidFill>
                <a:srgbClr val="009239"/>
              </a:solidFill>
              <a:ln>
                <a:noFill/>
              </a:ln>
              <a:effectLst/>
            </c:spPr>
            <c:extLst>
              <c:ext xmlns:c16="http://schemas.microsoft.com/office/drawing/2014/chart" uri="{C3380CC4-5D6E-409C-BE32-E72D297353CC}">
                <c16:uniqueId val="{00000005-71C3-4532-8C1A-C1EADEF17321}"/>
              </c:ext>
            </c:extLst>
          </c:dPt>
          <c:dPt>
            <c:idx val="3"/>
            <c:invertIfNegative val="0"/>
            <c:bubble3D val="0"/>
            <c:spPr>
              <a:solidFill>
                <a:srgbClr val="BE3F81"/>
              </a:solidFill>
              <a:ln>
                <a:noFill/>
              </a:ln>
              <a:effectLst/>
            </c:spPr>
            <c:extLst>
              <c:ext xmlns:c16="http://schemas.microsoft.com/office/drawing/2014/chart" uri="{C3380CC4-5D6E-409C-BE32-E72D297353CC}">
                <c16:uniqueId val="{0000000A-71C3-4532-8C1A-C1EADEF17321}"/>
              </c:ext>
            </c:extLst>
          </c:dPt>
          <c:dPt>
            <c:idx val="5"/>
            <c:invertIfNegative val="0"/>
            <c:bubble3D val="0"/>
            <c:spPr>
              <a:solidFill>
                <a:schemeClr val="bg1">
                  <a:lumMod val="75000"/>
                </a:schemeClr>
              </a:solidFill>
              <a:ln>
                <a:noFill/>
              </a:ln>
              <a:effectLst/>
            </c:spPr>
            <c:extLst>
              <c:ext xmlns:c16="http://schemas.microsoft.com/office/drawing/2014/chart" uri="{C3380CC4-5D6E-409C-BE32-E72D297353CC}">
                <c16:uniqueId val="{00000006-71C3-4532-8C1A-C1EADEF17321}"/>
              </c:ext>
            </c:extLst>
          </c:dPt>
          <c:dPt>
            <c:idx val="6"/>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8-71C3-4532-8C1A-C1EADEF1732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'הקופה המועדפת'!$C$17:$C$23</c:f>
              <c:strCache>
                <c:ptCount val="7"/>
                <c:pt idx="0">
                  <c:v>מאוחדת</c:v>
                </c:pt>
                <c:pt idx="1">
                  <c:v>מכבי</c:v>
                </c:pt>
                <c:pt idx="2">
                  <c:v>כללית</c:v>
                </c:pt>
                <c:pt idx="3">
                  <c:v>לאומית</c:v>
                </c:pt>
                <c:pt idx="5">
                  <c:v>כולם אותו דבר</c:v>
                </c:pt>
                <c:pt idx="6">
                  <c:v>לא יודע.ת</c:v>
                </c:pt>
              </c:strCache>
            </c:strRef>
          </c:cat>
          <c:val>
            <c:numRef>
              <c:f>'הקופה המועדפת'!$D$17:$D$23</c:f>
              <c:numCache>
                <c:formatCode>General</c:formatCode>
                <c:ptCount val="7"/>
                <c:pt idx="0">
                  <c:v>0.21</c:v>
                </c:pt>
                <c:pt idx="1">
                  <c:v>0.31</c:v>
                </c:pt>
                <c:pt idx="2">
                  <c:v>0.05</c:v>
                </c:pt>
                <c:pt idx="3">
                  <c:v>0.03</c:v>
                </c:pt>
                <c:pt idx="5">
                  <c:v>0.11</c:v>
                </c:pt>
                <c:pt idx="6">
                  <c:v>0.28999999999999998</c:v>
                </c:pt>
              </c:numCache>
            </c:numRef>
          </c:val>
          <c:extLst>
            <c:ext xmlns:c16="http://schemas.microsoft.com/office/drawing/2014/chart" uri="{C3380CC4-5D6E-409C-BE32-E72D297353CC}">
              <c16:uniqueId val="{00000000-71C3-4532-8C1A-C1EADEF17321}"/>
            </c:ext>
          </c:extLst>
        </c:ser>
        <c:ser>
          <c:idx val="1"/>
          <c:order val="1"/>
          <c:tx>
            <c:strRef>
              <c:f>'הקופה המועדפת'!$E$16</c:f>
              <c:strCache>
                <c:ptCount val="1"/>
                <c:pt idx="0">
                  <c:v>11.2025</c:v>
                </c:pt>
              </c:strCache>
            </c:strRef>
          </c:tx>
          <c:spPr>
            <a:solidFill>
              <a:srgbClr val="F8991A"/>
            </a:solidFill>
            <a:ln>
              <a:noFill/>
            </a:ln>
            <a:effectLst/>
          </c:spPr>
          <c:invertIfNegative val="0"/>
          <c:dPt>
            <c:idx val="1"/>
            <c:invertIfNegative val="0"/>
            <c:bubble3D val="0"/>
            <c:spPr>
              <a:solidFill>
                <a:srgbClr val="00699D"/>
              </a:solidFill>
              <a:ln>
                <a:noFill/>
              </a:ln>
              <a:effectLst/>
            </c:spPr>
            <c:extLst>
              <c:ext xmlns:c16="http://schemas.microsoft.com/office/drawing/2014/chart" uri="{C3380CC4-5D6E-409C-BE32-E72D297353CC}">
                <c16:uniqueId val="{00000003-71C3-4532-8C1A-C1EADEF17321}"/>
              </c:ext>
            </c:extLst>
          </c:dPt>
          <c:dPt>
            <c:idx val="2"/>
            <c:invertIfNegative val="0"/>
            <c:bubble3D val="0"/>
            <c:spPr>
              <a:solidFill>
                <a:srgbClr val="009239"/>
              </a:solidFill>
              <a:ln>
                <a:noFill/>
              </a:ln>
              <a:effectLst/>
            </c:spPr>
            <c:extLst>
              <c:ext xmlns:c16="http://schemas.microsoft.com/office/drawing/2014/chart" uri="{C3380CC4-5D6E-409C-BE32-E72D297353CC}">
                <c16:uniqueId val="{00000004-71C3-4532-8C1A-C1EADEF17321}"/>
              </c:ext>
            </c:extLst>
          </c:dPt>
          <c:dPt>
            <c:idx val="3"/>
            <c:invertIfNegative val="0"/>
            <c:bubble3D val="0"/>
            <c:spPr>
              <a:solidFill>
                <a:srgbClr val="BE3F81"/>
              </a:solidFill>
              <a:ln>
                <a:noFill/>
              </a:ln>
              <a:effectLst/>
            </c:spPr>
            <c:extLst>
              <c:ext xmlns:c16="http://schemas.microsoft.com/office/drawing/2014/chart" uri="{C3380CC4-5D6E-409C-BE32-E72D297353CC}">
                <c16:uniqueId val="{0000000B-71C3-4532-8C1A-C1EADEF17321}"/>
              </c:ext>
            </c:extLst>
          </c:dPt>
          <c:dPt>
            <c:idx val="5"/>
            <c:invertIfNegative val="0"/>
            <c:bubble3D val="0"/>
            <c:spPr>
              <a:solidFill>
                <a:schemeClr val="bg1">
                  <a:lumMod val="75000"/>
                </a:schemeClr>
              </a:solidFill>
              <a:ln>
                <a:noFill/>
              </a:ln>
              <a:effectLst/>
            </c:spPr>
            <c:extLst>
              <c:ext xmlns:c16="http://schemas.microsoft.com/office/drawing/2014/chart" uri="{C3380CC4-5D6E-409C-BE32-E72D297353CC}">
                <c16:uniqueId val="{00000007-71C3-4532-8C1A-C1EADEF17321}"/>
              </c:ext>
            </c:extLst>
          </c:dPt>
          <c:dPt>
            <c:idx val="6"/>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9-71C3-4532-8C1A-C1EADEF1732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mn-lt"/>
                    <a:ea typeface="+mn-ea"/>
                    <a:cs typeface="+mn-cs"/>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'הקופה המועדפת'!$C$17:$C$23</c:f>
              <c:strCache>
                <c:ptCount val="7"/>
                <c:pt idx="0">
                  <c:v>מאוחדת</c:v>
                </c:pt>
                <c:pt idx="1">
                  <c:v>מכבי</c:v>
                </c:pt>
                <c:pt idx="2">
                  <c:v>כללית</c:v>
                </c:pt>
                <c:pt idx="3">
                  <c:v>לאומית</c:v>
                </c:pt>
                <c:pt idx="5">
                  <c:v>כולם אותו דבר</c:v>
                </c:pt>
                <c:pt idx="6">
                  <c:v>לא יודע.ת</c:v>
                </c:pt>
              </c:strCache>
            </c:strRef>
          </c:cat>
          <c:val>
            <c:numRef>
              <c:f>'הקופה המועדפת'!$E$17:$E$23</c:f>
              <c:numCache>
                <c:formatCode>General</c:formatCode>
                <c:ptCount val="7"/>
                <c:pt idx="0">
                  <c:v>0.30298013245033112</c:v>
                </c:pt>
                <c:pt idx="1">
                  <c:v>0.24006622516556292</c:v>
                </c:pt>
                <c:pt idx="2">
                  <c:v>4.6357615894039736E-2</c:v>
                </c:pt>
                <c:pt idx="3">
                  <c:v>1.6556291390728478E-2</c:v>
                </c:pt>
                <c:pt idx="5">
                  <c:v>9.602649006622517E-2</c:v>
                </c:pt>
                <c:pt idx="6">
                  <c:v>0.29801324503311261</c:v>
                </c:pt>
              </c:numCache>
            </c:numRef>
          </c:val>
          <c:extLst>
            <c:ext xmlns:c16="http://schemas.microsoft.com/office/drawing/2014/chart" uri="{C3380CC4-5D6E-409C-BE32-E72D297353CC}">
              <c16:uniqueId val="{00000001-71C3-4532-8C1A-C1EADEF17321}"/>
            </c:ext>
          </c:extLst>
        </c:ser>
        <c:dLbls>
          <c:showLegendKey val="0"/>
          <c:showVal val="0"/>
          <c:showCatName val="0"/>
          <c:showSerName val="0"/>
          <c:showPercent val="0"/>
          <c:showBubbleSize val="0"/>
        </c:dLbls>
        <c:gapWidth val="100"/>
        <c:overlap val="-7"/>
        <c:axId val="1837275967"/>
        <c:axId val="1837276447"/>
      </c:barChart>
      <c:catAx>
        <c:axId val="183727596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he-IL"/>
          </a:p>
        </c:txPr>
        <c:crossAx val="1837276447"/>
        <c:crosses val="autoZero"/>
        <c:auto val="1"/>
        <c:lblAlgn val="ctr"/>
        <c:lblOffset val="100"/>
        <c:noMultiLvlLbl val="0"/>
      </c:catAx>
      <c:valAx>
        <c:axId val="1837276447"/>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he-IL"/>
          </a:p>
        </c:txPr>
        <c:crossAx val="183727596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LID4096"/>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ED078677-22D7-41FC-B5D3-E11CE629BE7C}" type="datetimeFigureOut">
              <a:rPr lang="LID4096" smtClean="0"/>
              <a:t>10/11/2026</a:t>
            </a:fld>
            <a:endParaRPr lang="LID4096"/>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LID4096"/>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LID4096"/>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38595FF7-FE32-4318-86C8-9BCCCCC021F9}" type="slidenum">
              <a:rPr lang="LID4096" smtClean="0"/>
              <a:t>‹#›</a:t>
            </a:fld>
            <a:endParaRPr lang="LID4096"/>
          </a:p>
        </p:txBody>
      </p:sp>
    </p:spTree>
    <p:extLst>
      <p:ext uri="{BB962C8B-B14F-4D97-AF65-F5344CB8AC3E}">
        <p14:creationId xmlns:p14="http://schemas.microsoft.com/office/powerpoint/2010/main" val="167364761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ולאט לאט דברים נראים פחות ופחות אפשריים...</a:t>
            </a:r>
            <a:endParaRPr lang="en-US" dirty="0"/>
          </a:p>
        </p:txBody>
      </p:sp>
      <p:sp>
        <p:nvSpPr>
          <p:cNvPr id="4" name="Slide Number Placeholder 3"/>
          <p:cNvSpPr>
            <a:spLocks noGrp="1"/>
          </p:cNvSpPr>
          <p:nvPr>
            <p:ph type="sldNum" sz="quarter" idx="5"/>
          </p:nvPr>
        </p:nvSpPr>
        <p:spPr/>
        <p:txBody>
          <a:bodyPr/>
          <a:lstStyle/>
          <a:p>
            <a:fld id="{09AD6184-9735-4161-9D26-03185139A00C}" type="slidenum">
              <a:rPr lang="en-US" smtClean="0"/>
              <a:t>1</a:t>
            </a:fld>
            <a:endParaRPr lang="en-US"/>
          </a:p>
        </p:txBody>
      </p:sp>
    </p:spTree>
    <p:extLst>
      <p:ext uri="{BB962C8B-B14F-4D97-AF65-F5344CB8AC3E}">
        <p14:creationId xmlns:p14="http://schemas.microsoft.com/office/powerpoint/2010/main" val="3844736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491-721B-6B1A-398F-F42472935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6E1C9-58AB-5AC9-47C6-1139CA5C0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32878-A0DA-F424-7AED-ACA4C211C9E1}"/>
              </a:ext>
            </a:extLst>
          </p:cNvPr>
          <p:cNvSpPr>
            <a:spLocks noGrp="1"/>
          </p:cNvSpPr>
          <p:nvPr>
            <p:ph type="body" idx="1"/>
          </p:nvPr>
        </p:nvSpPr>
        <p:spPr/>
        <p:txBody>
          <a:bodyPr/>
          <a:lstStyle/>
          <a:p>
            <a:pPr algn="r" rtl="1"/>
            <a:r>
              <a:rPr lang="he-IL" dirty="0"/>
              <a:t>ולאט לאט דברים נראים פחות ופחות אפשריים...</a:t>
            </a:r>
            <a:endParaRPr lang="en-US" dirty="0"/>
          </a:p>
        </p:txBody>
      </p:sp>
      <p:sp>
        <p:nvSpPr>
          <p:cNvPr id="4" name="Slide Number Placeholder 3">
            <a:extLst>
              <a:ext uri="{FF2B5EF4-FFF2-40B4-BE49-F238E27FC236}">
                <a16:creationId xmlns:a16="http://schemas.microsoft.com/office/drawing/2014/main" id="{FAD951FE-6C8B-1463-6F7C-2BEAD3A55B34}"/>
              </a:ext>
            </a:extLst>
          </p:cNvPr>
          <p:cNvSpPr>
            <a:spLocks noGrp="1"/>
          </p:cNvSpPr>
          <p:nvPr>
            <p:ph type="sldNum" sz="quarter" idx="5"/>
          </p:nvPr>
        </p:nvSpPr>
        <p:spPr/>
        <p:txBody>
          <a:bodyPr/>
          <a:lstStyle/>
          <a:p>
            <a:fld id="{09AD6184-9735-4161-9D26-03185139A00C}" type="slidenum">
              <a:rPr lang="en-US" smtClean="0"/>
              <a:t>2</a:t>
            </a:fld>
            <a:endParaRPr lang="en-US"/>
          </a:p>
        </p:txBody>
      </p:sp>
    </p:spTree>
    <p:extLst>
      <p:ext uri="{BB962C8B-B14F-4D97-AF65-F5344CB8AC3E}">
        <p14:creationId xmlns:p14="http://schemas.microsoft.com/office/powerpoint/2010/main" val="3268505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353D-B77D-329A-EF11-D0FD01DB8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9F321-D0CE-E1E6-C037-7C66F0726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965A3-316C-08A7-4874-D4C7DE54C9BA}"/>
              </a:ext>
            </a:extLst>
          </p:cNvPr>
          <p:cNvSpPr>
            <a:spLocks noGrp="1"/>
          </p:cNvSpPr>
          <p:nvPr>
            <p:ph type="body" idx="1"/>
          </p:nvPr>
        </p:nvSpPr>
        <p:spPr/>
        <p:txBody>
          <a:bodyPr/>
          <a:lstStyle/>
          <a:p>
            <a:pPr algn="r" rtl="1"/>
            <a:r>
              <a:rPr lang="he-IL" dirty="0"/>
              <a:t>ולאט לאט דברים נראים פחות ופחות אפשריים...</a:t>
            </a:r>
            <a:endParaRPr lang="en-US" dirty="0"/>
          </a:p>
        </p:txBody>
      </p:sp>
      <p:sp>
        <p:nvSpPr>
          <p:cNvPr id="4" name="Slide Number Placeholder 3">
            <a:extLst>
              <a:ext uri="{FF2B5EF4-FFF2-40B4-BE49-F238E27FC236}">
                <a16:creationId xmlns:a16="http://schemas.microsoft.com/office/drawing/2014/main" id="{1084E870-6B0E-D723-8FA6-8BAA3B462D41}"/>
              </a:ext>
            </a:extLst>
          </p:cNvPr>
          <p:cNvSpPr>
            <a:spLocks noGrp="1"/>
          </p:cNvSpPr>
          <p:nvPr>
            <p:ph type="sldNum" sz="quarter" idx="5"/>
          </p:nvPr>
        </p:nvSpPr>
        <p:spPr/>
        <p:txBody>
          <a:bodyPr/>
          <a:lstStyle/>
          <a:p>
            <a:fld id="{09AD6184-9735-4161-9D26-03185139A00C}" type="slidenum">
              <a:rPr lang="en-US" smtClean="0"/>
              <a:t>3</a:t>
            </a:fld>
            <a:endParaRPr lang="en-US"/>
          </a:p>
        </p:txBody>
      </p:sp>
    </p:spTree>
    <p:extLst>
      <p:ext uri="{BB962C8B-B14F-4D97-AF65-F5344CB8AC3E}">
        <p14:creationId xmlns:p14="http://schemas.microsoft.com/office/powerpoint/2010/main" val="7808251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280555-3A5F-9E8A-DFE7-ADFF1FC17C0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he-IL"/>
              <a:t>לחץ כדי לערוך סגנון כותרת של תבנית בסיס</a:t>
            </a:r>
            <a:endParaRPr lang="LID4096"/>
          </a:p>
        </p:txBody>
      </p:sp>
      <p:sp>
        <p:nvSpPr>
          <p:cNvPr id="3" name="כותרת משנה 2">
            <a:extLst>
              <a:ext uri="{FF2B5EF4-FFF2-40B4-BE49-F238E27FC236}">
                <a16:creationId xmlns:a16="http://schemas.microsoft.com/office/drawing/2014/main" id="{0E691672-96BA-BEEA-DDB9-1EA9F2834DC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LID4096"/>
          </a:p>
        </p:txBody>
      </p:sp>
      <p:sp>
        <p:nvSpPr>
          <p:cNvPr id="4" name="מציין מיקום של תאריך 3">
            <a:extLst>
              <a:ext uri="{FF2B5EF4-FFF2-40B4-BE49-F238E27FC236}">
                <a16:creationId xmlns:a16="http://schemas.microsoft.com/office/drawing/2014/main" id="{E8A77AEC-0686-B1EF-2614-195320277C70}"/>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5" name="מציין מיקום של כותרת תחתונה 4">
            <a:extLst>
              <a:ext uri="{FF2B5EF4-FFF2-40B4-BE49-F238E27FC236}">
                <a16:creationId xmlns:a16="http://schemas.microsoft.com/office/drawing/2014/main" id="{706EE63A-2F87-685D-8A41-69FD106301CA}"/>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6" name="מציין מיקום של מספר שקופית 5">
            <a:extLst>
              <a:ext uri="{FF2B5EF4-FFF2-40B4-BE49-F238E27FC236}">
                <a16:creationId xmlns:a16="http://schemas.microsoft.com/office/drawing/2014/main" id="{003B9202-09D8-4D43-9501-F5B578A4C8A3}"/>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pic>
        <p:nvPicPr>
          <p:cNvPr id="8" name="תמונה 7">
            <a:extLst>
              <a:ext uri="{FF2B5EF4-FFF2-40B4-BE49-F238E27FC236}">
                <a16:creationId xmlns:a16="http://schemas.microsoft.com/office/drawing/2014/main" id="{72D4F926-45E1-50A4-A920-63E408F33367}"/>
              </a:ext>
            </a:extLst>
          </p:cNvPr>
          <p:cNvPicPr/>
          <p:nvPr userDrawn="1"/>
        </p:nvPicPr>
        <p:blipFill>
          <a:blip r:embed="rId2">
            <a:extLst>
              <a:ext uri="{28A0092B-C50C-407E-A947-70E740481C1C}">
                <a14:useLocalDpi xmlns:a14="http://schemas.microsoft.com/office/drawing/2010/main" val="0"/>
              </a:ext>
            </a:extLst>
          </a:blip>
          <a:srcRect/>
          <a:stretch/>
        </p:blipFill>
        <p:spPr>
          <a:xfrm>
            <a:off x="179777" y="262163"/>
            <a:ext cx="1158161" cy="366450"/>
          </a:xfrm>
          <a:prstGeom prst="rect">
            <a:avLst/>
          </a:prstGeom>
        </p:spPr>
      </p:pic>
      <p:cxnSp>
        <p:nvCxnSpPr>
          <p:cNvPr id="9" name="מחבר ישר 8">
            <a:extLst>
              <a:ext uri="{FF2B5EF4-FFF2-40B4-BE49-F238E27FC236}">
                <a16:creationId xmlns:a16="http://schemas.microsoft.com/office/drawing/2014/main" id="{3E1E67BD-71C3-3758-FE3B-C4E26CC7AD31}"/>
              </a:ext>
            </a:extLst>
          </p:cNvPr>
          <p:cNvCxnSpPr>
            <a:cxnSpLocks/>
          </p:cNvCxnSpPr>
          <p:nvPr userDrawn="1"/>
        </p:nvCxnSpPr>
        <p:spPr>
          <a:xfrm flipH="1">
            <a:off x="1517716" y="445388"/>
            <a:ext cx="10242484" cy="0"/>
          </a:xfrm>
          <a:prstGeom prst="line">
            <a:avLst/>
          </a:prstGeom>
          <a:ln w="28575">
            <a:solidFill>
              <a:srgbClr val="009BD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4077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44311E-6C0D-F69C-0D17-403815410CBA}"/>
              </a:ext>
            </a:extLst>
          </p:cNvPr>
          <p:cNvSpPr>
            <a:spLocks noGrp="1"/>
          </p:cNvSpPr>
          <p:nvPr>
            <p:ph type="title"/>
          </p:nvPr>
        </p:nvSpPr>
        <p:spPr>
          <a:xfrm>
            <a:off x="838200" y="365125"/>
            <a:ext cx="10515600" cy="1325563"/>
          </a:xfrm>
          <a:prstGeom prst="rect">
            <a:avLst/>
          </a:prstGeom>
        </p:spPr>
        <p:txBody>
          <a:body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7BF74C7C-8A3D-C326-7B26-26224BFE6237}"/>
              </a:ext>
            </a:extLst>
          </p:cNvPr>
          <p:cNvSpPr>
            <a:spLocks noGrp="1"/>
          </p:cNvSpPr>
          <p:nvPr>
            <p:ph idx="1"/>
          </p:nvPr>
        </p:nvSpPr>
        <p:spPr>
          <a:xfrm>
            <a:off x="838200" y="1825625"/>
            <a:ext cx="10515600" cy="4351338"/>
          </a:xfrm>
          <a:prstGeom prst="rect">
            <a:avLst/>
          </a:prstGeo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99E78FA9-1EF0-6462-7464-48206883754D}"/>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5" name="מציין מיקום של כותרת תחתונה 4">
            <a:extLst>
              <a:ext uri="{FF2B5EF4-FFF2-40B4-BE49-F238E27FC236}">
                <a16:creationId xmlns:a16="http://schemas.microsoft.com/office/drawing/2014/main" id="{8B0A5E16-16DA-171D-2B5F-A3CEC6827D9A}"/>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6" name="מציין מיקום של מספר שקופית 5">
            <a:extLst>
              <a:ext uri="{FF2B5EF4-FFF2-40B4-BE49-F238E27FC236}">
                <a16:creationId xmlns:a16="http://schemas.microsoft.com/office/drawing/2014/main" id="{26115D6A-6ECA-DB52-0B68-CAB18AB8BA01}"/>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839291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1D60D0-6D0C-0E08-B25F-76AFB42B4E3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he-IL"/>
              <a:t>לחץ כדי לערוך סגנון כותרת של תבנית בסיס</a:t>
            </a:r>
            <a:endParaRPr lang="LID4096"/>
          </a:p>
        </p:txBody>
      </p:sp>
      <p:sp>
        <p:nvSpPr>
          <p:cNvPr id="3" name="מציין מיקום טקסט 2">
            <a:extLst>
              <a:ext uri="{FF2B5EF4-FFF2-40B4-BE49-F238E27FC236}">
                <a16:creationId xmlns:a16="http://schemas.microsoft.com/office/drawing/2014/main" id="{CE9B6910-310F-3ADA-2C29-2881C3490D4F}"/>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503C40B9-9B3A-FE73-7531-E1230AF85BF7}"/>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5" name="מציין מיקום של כותרת תחתונה 4">
            <a:extLst>
              <a:ext uri="{FF2B5EF4-FFF2-40B4-BE49-F238E27FC236}">
                <a16:creationId xmlns:a16="http://schemas.microsoft.com/office/drawing/2014/main" id="{8471E1FD-BFEC-4BCF-C402-E289F04772FE}"/>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6" name="מציין מיקום של מספר שקופית 5">
            <a:extLst>
              <a:ext uri="{FF2B5EF4-FFF2-40B4-BE49-F238E27FC236}">
                <a16:creationId xmlns:a16="http://schemas.microsoft.com/office/drawing/2014/main" id="{8FF4119A-7F96-3C86-918E-6A905F61E034}"/>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1948669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858192-D4A9-3D0E-E888-12C63F80A378}"/>
              </a:ext>
            </a:extLst>
          </p:cNvPr>
          <p:cNvSpPr>
            <a:spLocks noGrp="1"/>
          </p:cNvSpPr>
          <p:nvPr>
            <p:ph type="title"/>
          </p:nvPr>
        </p:nvSpPr>
        <p:spPr>
          <a:xfrm>
            <a:off x="838200" y="365125"/>
            <a:ext cx="10515600" cy="1325563"/>
          </a:xfrm>
          <a:prstGeom prst="rect">
            <a:avLst/>
          </a:prstGeom>
        </p:spPr>
        <p:txBody>
          <a:body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1AEA3479-2BF2-7EA4-20A4-5BC6EBD07F40}"/>
              </a:ext>
            </a:extLst>
          </p:cNvPr>
          <p:cNvSpPr>
            <a:spLocks noGrp="1"/>
          </p:cNvSpPr>
          <p:nvPr>
            <p:ph sz="half" idx="1"/>
          </p:nvPr>
        </p:nvSpPr>
        <p:spPr>
          <a:xfrm>
            <a:off x="838200" y="1825625"/>
            <a:ext cx="5181600" cy="4351338"/>
          </a:xfrm>
          <a:prstGeom prst="rect">
            <a:avLst/>
          </a:prstGeo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תוכן 3">
            <a:extLst>
              <a:ext uri="{FF2B5EF4-FFF2-40B4-BE49-F238E27FC236}">
                <a16:creationId xmlns:a16="http://schemas.microsoft.com/office/drawing/2014/main" id="{1BD17DAF-C414-5FCB-1D71-BE61ADBD7204}"/>
              </a:ext>
            </a:extLst>
          </p:cNvPr>
          <p:cNvSpPr>
            <a:spLocks noGrp="1"/>
          </p:cNvSpPr>
          <p:nvPr>
            <p:ph sz="half" idx="2"/>
          </p:nvPr>
        </p:nvSpPr>
        <p:spPr>
          <a:xfrm>
            <a:off x="6172200" y="1825625"/>
            <a:ext cx="5181600" cy="4351338"/>
          </a:xfrm>
          <a:prstGeom prst="rect">
            <a:avLst/>
          </a:prstGeo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5" name="מציין מיקום של תאריך 4">
            <a:extLst>
              <a:ext uri="{FF2B5EF4-FFF2-40B4-BE49-F238E27FC236}">
                <a16:creationId xmlns:a16="http://schemas.microsoft.com/office/drawing/2014/main" id="{34F000A5-A0C3-7F8C-1CCE-E03FDFBDE1BB}"/>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6" name="מציין מיקום של כותרת תחתונה 5">
            <a:extLst>
              <a:ext uri="{FF2B5EF4-FFF2-40B4-BE49-F238E27FC236}">
                <a16:creationId xmlns:a16="http://schemas.microsoft.com/office/drawing/2014/main" id="{E5917012-60D4-21AE-9FCE-5067352363F4}"/>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7" name="מציין מיקום של מספר שקופית 6">
            <a:extLst>
              <a:ext uri="{FF2B5EF4-FFF2-40B4-BE49-F238E27FC236}">
                <a16:creationId xmlns:a16="http://schemas.microsoft.com/office/drawing/2014/main" id="{84453791-A65C-491B-4A40-323C9346C03A}"/>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1443129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6B9D79-6A3E-A95C-8BC5-8BCEA859DDE5}"/>
              </a:ext>
            </a:extLst>
          </p:cNvPr>
          <p:cNvSpPr>
            <a:spLocks noGrp="1"/>
          </p:cNvSpPr>
          <p:nvPr>
            <p:ph type="title"/>
          </p:nvPr>
        </p:nvSpPr>
        <p:spPr>
          <a:xfrm>
            <a:off x="839788" y="365125"/>
            <a:ext cx="10515600" cy="1325563"/>
          </a:xfrm>
          <a:prstGeom prst="rect">
            <a:avLst/>
          </a:prstGeom>
        </p:spPr>
        <p:txBody>
          <a:bodyPr/>
          <a:lstStyle/>
          <a:p>
            <a:r>
              <a:rPr lang="he-IL"/>
              <a:t>לחץ כדי לערוך סגנון כותרת של תבנית בסיס</a:t>
            </a:r>
            <a:endParaRPr lang="LID4096"/>
          </a:p>
        </p:txBody>
      </p:sp>
      <p:sp>
        <p:nvSpPr>
          <p:cNvPr id="3" name="מציין מיקום טקסט 2">
            <a:extLst>
              <a:ext uri="{FF2B5EF4-FFF2-40B4-BE49-F238E27FC236}">
                <a16:creationId xmlns:a16="http://schemas.microsoft.com/office/drawing/2014/main" id="{EC9CB0D1-872B-7D47-30D1-F4C877BD888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BBB55C1-9572-C08F-C17F-08253C1FFAA7}"/>
              </a:ext>
            </a:extLst>
          </p:cNvPr>
          <p:cNvSpPr>
            <a:spLocks noGrp="1"/>
          </p:cNvSpPr>
          <p:nvPr>
            <p:ph sz="half" idx="2"/>
          </p:nvPr>
        </p:nvSpPr>
        <p:spPr>
          <a:xfrm>
            <a:off x="839788" y="2505075"/>
            <a:ext cx="5157787" cy="3684588"/>
          </a:xfrm>
          <a:prstGeom prst="rect">
            <a:avLst/>
          </a:prstGeo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5" name="מציין מיקום טקסט 4">
            <a:extLst>
              <a:ext uri="{FF2B5EF4-FFF2-40B4-BE49-F238E27FC236}">
                <a16:creationId xmlns:a16="http://schemas.microsoft.com/office/drawing/2014/main" id="{2013C825-20DD-03B6-E27C-6698B185419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EACDE05-8B32-58A7-C887-0098D3EEDF90}"/>
              </a:ext>
            </a:extLst>
          </p:cNvPr>
          <p:cNvSpPr>
            <a:spLocks noGrp="1"/>
          </p:cNvSpPr>
          <p:nvPr>
            <p:ph sz="quarter" idx="4"/>
          </p:nvPr>
        </p:nvSpPr>
        <p:spPr>
          <a:xfrm>
            <a:off x="6172200" y="2505075"/>
            <a:ext cx="5183188" cy="3684588"/>
          </a:xfrm>
          <a:prstGeom prst="rect">
            <a:avLst/>
          </a:prstGeo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7" name="מציין מיקום של תאריך 6">
            <a:extLst>
              <a:ext uri="{FF2B5EF4-FFF2-40B4-BE49-F238E27FC236}">
                <a16:creationId xmlns:a16="http://schemas.microsoft.com/office/drawing/2014/main" id="{47ECDC77-F7DF-D8CA-54CB-4CF51BAE160F}"/>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8" name="מציין מיקום של כותרת תחתונה 7">
            <a:extLst>
              <a:ext uri="{FF2B5EF4-FFF2-40B4-BE49-F238E27FC236}">
                <a16:creationId xmlns:a16="http://schemas.microsoft.com/office/drawing/2014/main" id="{A08DEB9D-15CB-5EB5-538E-8C4846F5F6CC}"/>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9" name="מציין מיקום של מספר שקופית 8">
            <a:extLst>
              <a:ext uri="{FF2B5EF4-FFF2-40B4-BE49-F238E27FC236}">
                <a16:creationId xmlns:a16="http://schemas.microsoft.com/office/drawing/2014/main" id="{DEA3258E-86B3-89DC-0F3F-F26E7102EC9C}"/>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1023770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89455C-67AC-448A-CCCC-C98BB053FD4E}"/>
              </a:ext>
            </a:extLst>
          </p:cNvPr>
          <p:cNvSpPr>
            <a:spLocks noGrp="1"/>
          </p:cNvSpPr>
          <p:nvPr>
            <p:ph type="title"/>
          </p:nvPr>
        </p:nvSpPr>
        <p:spPr>
          <a:xfrm>
            <a:off x="838200" y="365125"/>
            <a:ext cx="10515600" cy="1325563"/>
          </a:xfrm>
          <a:prstGeom prst="rect">
            <a:avLst/>
          </a:prstGeom>
        </p:spPr>
        <p:txBody>
          <a:bodyPr/>
          <a:lstStyle/>
          <a:p>
            <a:r>
              <a:rPr lang="he-IL"/>
              <a:t>לחץ כדי לערוך סגנון כותרת של תבנית בסיס</a:t>
            </a:r>
            <a:endParaRPr lang="LID4096"/>
          </a:p>
        </p:txBody>
      </p:sp>
      <p:sp>
        <p:nvSpPr>
          <p:cNvPr id="3" name="מציין מיקום של תאריך 2">
            <a:extLst>
              <a:ext uri="{FF2B5EF4-FFF2-40B4-BE49-F238E27FC236}">
                <a16:creationId xmlns:a16="http://schemas.microsoft.com/office/drawing/2014/main" id="{D0BE93D6-C129-9C7D-97D8-672ED58E342F}"/>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4" name="מציין מיקום של כותרת תחתונה 3">
            <a:extLst>
              <a:ext uri="{FF2B5EF4-FFF2-40B4-BE49-F238E27FC236}">
                <a16:creationId xmlns:a16="http://schemas.microsoft.com/office/drawing/2014/main" id="{B3DAA1B9-9618-D3FD-CE97-AACE2A47B8ED}"/>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5" name="מציין מיקום של מספר שקופית 4">
            <a:extLst>
              <a:ext uri="{FF2B5EF4-FFF2-40B4-BE49-F238E27FC236}">
                <a16:creationId xmlns:a16="http://schemas.microsoft.com/office/drawing/2014/main" id="{727107F7-0870-9A6E-34CC-B590C026B647}"/>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233076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1A0081B4-D795-CAA6-40F6-E9805B1BFFF5}"/>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3" name="מציין מיקום של כותרת תחתונה 2">
            <a:extLst>
              <a:ext uri="{FF2B5EF4-FFF2-40B4-BE49-F238E27FC236}">
                <a16:creationId xmlns:a16="http://schemas.microsoft.com/office/drawing/2014/main" id="{A475BD4D-5B1D-B1CD-6912-90FE41B2FA0A}"/>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4" name="מציין מיקום של מספר שקופית 3">
            <a:extLst>
              <a:ext uri="{FF2B5EF4-FFF2-40B4-BE49-F238E27FC236}">
                <a16:creationId xmlns:a16="http://schemas.microsoft.com/office/drawing/2014/main" id="{43C3C142-3074-877E-DAE0-051B14CF1308}"/>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3083764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ADB65E-406B-8DCD-0AC4-714F3F63F13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C7F2D3FE-B64D-E1D7-0A60-AC1B9B6C0CED}"/>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טקסט 3">
            <a:extLst>
              <a:ext uri="{FF2B5EF4-FFF2-40B4-BE49-F238E27FC236}">
                <a16:creationId xmlns:a16="http://schemas.microsoft.com/office/drawing/2014/main" id="{1565B983-5937-2A52-3FB1-DF025DFBBE5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26A1029-A196-97EB-B123-670DCB2BED65}"/>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6" name="מציין מיקום של כותרת תחתונה 5">
            <a:extLst>
              <a:ext uri="{FF2B5EF4-FFF2-40B4-BE49-F238E27FC236}">
                <a16:creationId xmlns:a16="http://schemas.microsoft.com/office/drawing/2014/main" id="{170CF2A6-C2D5-0ED4-13AA-BD467C1A8040}"/>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7" name="מציין מיקום של מספר שקופית 6">
            <a:extLst>
              <a:ext uri="{FF2B5EF4-FFF2-40B4-BE49-F238E27FC236}">
                <a16:creationId xmlns:a16="http://schemas.microsoft.com/office/drawing/2014/main" id="{52ED7F22-AF98-1C33-00C6-9298275DD672}"/>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3326103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CF7698-A898-396A-47C4-5D6BD2B496A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he-IL"/>
              <a:t>לחץ כדי לערוך סגנון כותרת של תבנית בסיס</a:t>
            </a:r>
            <a:endParaRPr lang="LID4096"/>
          </a:p>
        </p:txBody>
      </p:sp>
      <p:sp>
        <p:nvSpPr>
          <p:cNvPr id="3" name="מציין מיקום של תמונה 2">
            <a:extLst>
              <a:ext uri="{FF2B5EF4-FFF2-40B4-BE49-F238E27FC236}">
                <a16:creationId xmlns:a16="http://schemas.microsoft.com/office/drawing/2014/main" id="{A089E0E9-6EB2-870E-0525-4DE709123A5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מציין מיקום טקסט 3">
            <a:extLst>
              <a:ext uri="{FF2B5EF4-FFF2-40B4-BE49-F238E27FC236}">
                <a16:creationId xmlns:a16="http://schemas.microsoft.com/office/drawing/2014/main" id="{D4269456-5CF5-617C-51A0-2CF826E708F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E5FB55A-1F94-5B77-A279-7905C872215E}"/>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6" name="מציין מיקום של כותרת תחתונה 5">
            <a:extLst>
              <a:ext uri="{FF2B5EF4-FFF2-40B4-BE49-F238E27FC236}">
                <a16:creationId xmlns:a16="http://schemas.microsoft.com/office/drawing/2014/main" id="{32302936-F316-638C-0233-28C1C020A1D0}"/>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7" name="מציין מיקום של מספר שקופית 6">
            <a:extLst>
              <a:ext uri="{FF2B5EF4-FFF2-40B4-BE49-F238E27FC236}">
                <a16:creationId xmlns:a16="http://schemas.microsoft.com/office/drawing/2014/main" id="{7C9F4BF3-5CB0-0AD7-6D10-529CADAB7AC2}"/>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344483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F7ACEF-FF2B-F9DC-6B30-7B33ED6358B0}"/>
              </a:ext>
            </a:extLst>
          </p:cNvPr>
          <p:cNvSpPr>
            <a:spLocks noGrp="1"/>
          </p:cNvSpPr>
          <p:nvPr>
            <p:ph type="title"/>
          </p:nvPr>
        </p:nvSpPr>
        <p:spPr>
          <a:xfrm>
            <a:off x="838200" y="365125"/>
            <a:ext cx="10515600" cy="1325563"/>
          </a:xfrm>
          <a:prstGeom prst="rect">
            <a:avLst/>
          </a:prstGeom>
        </p:spPr>
        <p:txBody>
          <a:bodyPr/>
          <a:lstStyle/>
          <a:p>
            <a:r>
              <a:rPr lang="he-IL"/>
              <a:t>לחץ כדי לערוך סגנון כותרת של תבנית בסיס</a:t>
            </a:r>
            <a:endParaRPr lang="LID4096"/>
          </a:p>
        </p:txBody>
      </p:sp>
      <p:sp>
        <p:nvSpPr>
          <p:cNvPr id="3" name="מציין מיקום של טקסט אנכי 2">
            <a:extLst>
              <a:ext uri="{FF2B5EF4-FFF2-40B4-BE49-F238E27FC236}">
                <a16:creationId xmlns:a16="http://schemas.microsoft.com/office/drawing/2014/main" id="{D637F5EE-3039-3FA4-C103-70C3FE62ED22}"/>
              </a:ext>
            </a:extLst>
          </p:cNvPr>
          <p:cNvSpPr>
            <a:spLocks noGrp="1"/>
          </p:cNvSpPr>
          <p:nvPr>
            <p:ph type="body" orient="vert" idx="1"/>
          </p:nvPr>
        </p:nvSpPr>
        <p:spPr>
          <a:xfrm>
            <a:off x="838200" y="1825625"/>
            <a:ext cx="10515600" cy="4351338"/>
          </a:xfrm>
          <a:prstGeom prst="rect">
            <a:avLst/>
          </a:prstGeo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3F3DE8DC-116E-165F-F034-6A60D7268438}"/>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5" name="מציין מיקום של כותרת תחתונה 4">
            <a:extLst>
              <a:ext uri="{FF2B5EF4-FFF2-40B4-BE49-F238E27FC236}">
                <a16:creationId xmlns:a16="http://schemas.microsoft.com/office/drawing/2014/main" id="{807D5065-250C-C273-F12A-2830F8A22DD7}"/>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6" name="מציין מיקום של מספר שקופית 5">
            <a:extLst>
              <a:ext uri="{FF2B5EF4-FFF2-40B4-BE49-F238E27FC236}">
                <a16:creationId xmlns:a16="http://schemas.microsoft.com/office/drawing/2014/main" id="{2604FA4A-F646-5270-E894-E8FB768F355B}"/>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3323126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9B21932-F97C-151A-6203-71E087A63808}"/>
              </a:ext>
            </a:extLst>
          </p:cNvPr>
          <p:cNvSpPr>
            <a:spLocks noGrp="1"/>
          </p:cNvSpPr>
          <p:nvPr>
            <p:ph type="title" orient="vert"/>
          </p:nvPr>
        </p:nvSpPr>
        <p:spPr>
          <a:xfrm>
            <a:off x="8724900" y="365125"/>
            <a:ext cx="2628900" cy="5811838"/>
          </a:xfrm>
          <a:prstGeom prst="rect">
            <a:avLst/>
          </a:prstGeom>
        </p:spPr>
        <p:txBody>
          <a:bodyPr vert="eaVert"/>
          <a:lstStyle/>
          <a:p>
            <a:r>
              <a:rPr lang="he-IL"/>
              <a:t>לחץ כדי לערוך סגנון כותרת של תבנית בסיס</a:t>
            </a:r>
            <a:endParaRPr lang="LID4096"/>
          </a:p>
        </p:txBody>
      </p:sp>
      <p:sp>
        <p:nvSpPr>
          <p:cNvPr id="3" name="מציין מיקום של טקסט אנכי 2">
            <a:extLst>
              <a:ext uri="{FF2B5EF4-FFF2-40B4-BE49-F238E27FC236}">
                <a16:creationId xmlns:a16="http://schemas.microsoft.com/office/drawing/2014/main" id="{085A3090-06AF-AF8D-F662-685A0073B34D}"/>
              </a:ext>
            </a:extLst>
          </p:cNvPr>
          <p:cNvSpPr>
            <a:spLocks noGrp="1"/>
          </p:cNvSpPr>
          <p:nvPr>
            <p:ph type="body" orient="vert" idx="1"/>
          </p:nvPr>
        </p:nvSpPr>
        <p:spPr>
          <a:xfrm>
            <a:off x="838200" y="365125"/>
            <a:ext cx="7734300" cy="5811838"/>
          </a:xfrm>
          <a:prstGeom prst="rect">
            <a:avLst/>
          </a:prstGeo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8437CF65-3B86-17B9-1018-DA0D16A13858}"/>
              </a:ext>
            </a:extLst>
          </p:cNvPr>
          <p:cNvSpPr>
            <a:spLocks noGrp="1"/>
          </p:cNvSpPr>
          <p:nvPr>
            <p:ph type="dt" sz="half" idx="10"/>
          </p:nvPr>
        </p:nvSpPr>
        <p:spPr>
          <a:xfrm>
            <a:off x="8610600" y="6356350"/>
            <a:ext cx="2743200" cy="365125"/>
          </a:xfrm>
          <a:prstGeom prst="rect">
            <a:avLst/>
          </a:prstGeom>
        </p:spPr>
        <p:txBody>
          <a:bodyPr/>
          <a:lstStyle/>
          <a:p>
            <a:fld id="{7F1249F4-1801-4B19-B09D-53020CF4F04D}" type="datetimeFigureOut">
              <a:rPr lang="LID4096" smtClean="0"/>
              <a:t>10/11/2026</a:t>
            </a:fld>
            <a:endParaRPr lang="LID4096"/>
          </a:p>
        </p:txBody>
      </p:sp>
      <p:sp>
        <p:nvSpPr>
          <p:cNvPr id="5" name="מציין מיקום של כותרת תחתונה 4">
            <a:extLst>
              <a:ext uri="{FF2B5EF4-FFF2-40B4-BE49-F238E27FC236}">
                <a16:creationId xmlns:a16="http://schemas.microsoft.com/office/drawing/2014/main" id="{9D730206-4303-00B0-7073-1CB55685F7DC}"/>
              </a:ext>
            </a:extLst>
          </p:cNvPr>
          <p:cNvSpPr>
            <a:spLocks noGrp="1"/>
          </p:cNvSpPr>
          <p:nvPr>
            <p:ph type="ftr" sz="quarter" idx="11"/>
          </p:nvPr>
        </p:nvSpPr>
        <p:spPr>
          <a:xfrm>
            <a:off x="4038600" y="6356350"/>
            <a:ext cx="4114800" cy="365125"/>
          </a:xfrm>
          <a:prstGeom prst="rect">
            <a:avLst/>
          </a:prstGeom>
        </p:spPr>
        <p:txBody>
          <a:bodyPr/>
          <a:lstStyle/>
          <a:p>
            <a:endParaRPr lang="LID4096"/>
          </a:p>
        </p:txBody>
      </p:sp>
      <p:sp>
        <p:nvSpPr>
          <p:cNvPr id="6" name="מציין מיקום של מספר שקופית 5">
            <a:extLst>
              <a:ext uri="{FF2B5EF4-FFF2-40B4-BE49-F238E27FC236}">
                <a16:creationId xmlns:a16="http://schemas.microsoft.com/office/drawing/2014/main" id="{C9B3F00E-061D-0C00-5AF3-5CBDAABBFF52}"/>
              </a:ext>
            </a:extLst>
          </p:cNvPr>
          <p:cNvSpPr>
            <a:spLocks noGrp="1"/>
          </p:cNvSpPr>
          <p:nvPr>
            <p:ph type="sldNum" sz="quarter" idx="12"/>
          </p:nvPr>
        </p:nvSpPr>
        <p:spPr>
          <a:xfrm>
            <a:off x="838200" y="6356350"/>
            <a:ext cx="2743200" cy="365125"/>
          </a:xfrm>
          <a:prstGeom prst="rect">
            <a:avLst/>
          </a:prstGeom>
        </p:spPr>
        <p:txBody>
          <a:bodyPr/>
          <a:lstStyle/>
          <a:p>
            <a:fld id="{6A854823-45F3-47DD-A4C1-29E63073CCCA}" type="slidenum">
              <a:rPr lang="LID4096" smtClean="0"/>
              <a:t>‹#›</a:t>
            </a:fld>
            <a:endParaRPr lang="LID4096"/>
          </a:p>
        </p:txBody>
      </p:sp>
    </p:spTree>
    <p:extLst>
      <p:ext uri="{BB962C8B-B14F-4D97-AF65-F5344CB8AC3E}">
        <p14:creationId xmlns:p14="http://schemas.microsoft.com/office/powerpoint/2010/main" val="317146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שקופית כותרת">
    <p:spTree>
      <p:nvGrpSpPr>
        <p:cNvPr id="1" name=""/>
        <p:cNvGrpSpPr/>
        <p:nvPr/>
      </p:nvGrpSpPr>
      <p:grpSpPr>
        <a:xfrm>
          <a:off x="0" y="0"/>
          <a:ext cx="0" cy="0"/>
          <a:chOff x="0" y="0"/>
          <a:chExt cx="0" cy="0"/>
        </a:xfrm>
      </p:grpSpPr>
      <p:pic>
        <p:nvPicPr>
          <p:cNvPr id="12" name="תמונה 11" descr="תמונה שמכילה קיר, שלג&#10;&#10;התיאור נוצר באופן אוטומטי">
            <a:extLst>
              <a:ext uri="{FF2B5EF4-FFF2-40B4-BE49-F238E27FC236}">
                <a16:creationId xmlns:a16="http://schemas.microsoft.com/office/drawing/2014/main" id="{91421EBA-18E2-41EE-84D6-A38BE84B4B1F}"/>
              </a:ext>
            </a:extLst>
          </p:cNvPr>
          <p:cNvPicPr>
            <a:picLocks noChangeAspect="1"/>
          </p:cNvPicPr>
          <p:nvPr userDrawn="1"/>
        </p:nvPicPr>
        <p:blipFill>
          <a:blip r:embed="rId2" cstate="screen">
            <a:alphaModFix amt="38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4" name="תמונה 13">
            <a:extLst>
              <a:ext uri="{FF2B5EF4-FFF2-40B4-BE49-F238E27FC236}">
                <a16:creationId xmlns:a16="http://schemas.microsoft.com/office/drawing/2014/main" id="{06BEFE36-F876-4118-BA4B-BD364E20C66E}"/>
              </a:ext>
            </a:extLst>
          </p:cNvPr>
          <p:cNvPicPr>
            <a:picLocks noChangeAspect="1"/>
          </p:cNvPicPr>
          <p:nvPr userDrawn="1"/>
        </p:nvPicPr>
        <p:blipFill>
          <a:blip r:embed="rId3" cstate="screen">
            <a:alphaModFix amt="43000"/>
            <a:extLst>
              <a:ext uri="{28A0092B-C50C-407E-A947-70E740481C1C}">
                <a14:useLocalDpi xmlns:a14="http://schemas.microsoft.com/office/drawing/2010/main"/>
              </a:ext>
            </a:extLst>
          </a:blip>
          <a:stretch>
            <a:fillRect/>
          </a:stretch>
        </p:blipFill>
        <p:spPr>
          <a:xfrm>
            <a:off x="-1" y="0"/>
            <a:ext cx="12192000" cy="6858000"/>
          </a:xfrm>
          <a:prstGeom prst="rect">
            <a:avLst/>
          </a:prstGeom>
        </p:spPr>
      </p:pic>
      <p:pic>
        <p:nvPicPr>
          <p:cNvPr id="15" name="תמונה 14">
            <a:extLst>
              <a:ext uri="{FF2B5EF4-FFF2-40B4-BE49-F238E27FC236}">
                <a16:creationId xmlns:a16="http://schemas.microsoft.com/office/drawing/2014/main" id="{D3D2045A-742A-4240-9446-6E85DD4E4509}"/>
              </a:ext>
            </a:extLst>
          </p:cNvPr>
          <p:cNvPicPr/>
          <p:nvPr userDrawn="1"/>
        </p:nvPicPr>
        <p:blipFill>
          <a:blip r:embed="rId4">
            <a:extLst>
              <a:ext uri="{28A0092B-C50C-407E-A947-70E740481C1C}">
                <a14:useLocalDpi xmlns:a14="http://schemas.microsoft.com/office/drawing/2010/main" val="0"/>
              </a:ext>
            </a:extLst>
          </a:blip>
          <a:srcRect/>
          <a:stretch/>
        </p:blipFill>
        <p:spPr>
          <a:xfrm>
            <a:off x="179777" y="262163"/>
            <a:ext cx="1158161" cy="366450"/>
          </a:xfrm>
          <a:prstGeom prst="rect">
            <a:avLst/>
          </a:prstGeom>
        </p:spPr>
      </p:pic>
      <p:cxnSp>
        <p:nvCxnSpPr>
          <p:cNvPr id="35" name="מחבר ישר 34">
            <a:extLst>
              <a:ext uri="{FF2B5EF4-FFF2-40B4-BE49-F238E27FC236}">
                <a16:creationId xmlns:a16="http://schemas.microsoft.com/office/drawing/2014/main" id="{1E2EFD54-5D6C-4126-BEAF-14D3AC5F2F19}"/>
              </a:ext>
            </a:extLst>
          </p:cNvPr>
          <p:cNvCxnSpPr>
            <a:cxnSpLocks/>
          </p:cNvCxnSpPr>
          <p:nvPr userDrawn="1"/>
        </p:nvCxnSpPr>
        <p:spPr>
          <a:xfrm flipH="1">
            <a:off x="1517716" y="445388"/>
            <a:ext cx="9086784" cy="0"/>
          </a:xfrm>
          <a:prstGeom prst="line">
            <a:avLst/>
          </a:prstGeom>
          <a:ln w="28575">
            <a:solidFill>
              <a:srgbClr val="009BDF"/>
            </a:solidFill>
          </a:ln>
        </p:spPr>
        <p:style>
          <a:lnRef idx="1">
            <a:schemeClr val="accent1"/>
          </a:lnRef>
          <a:fillRef idx="0">
            <a:schemeClr val="accent1"/>
          </a:fillRef>
          <a:effectRef idx="0">
            <a:schemeClr val="accent1"/>
          </a:effectRef>
          <a:fontRef idx="minor">
            <a:schemeClr val="tx1"/>
          </a:fontRef>
        </p:style>
      </p:cxnSp>
      <p:sp>
        <p:nvSpPr>
          <p:cNvPr id="3" name="מלבן 2">
            <a:extLst>
              <a:ext uri="{FF2B5EF4-FFF2-40B4-BE49-F238E27FC236}">
                <a16:creationId xmlns:a16="http://schemas.microsoft.com/office/drawing/2014/main" id="{C1092A3A-4B43-4E52-BAF0-27D014604808}"/>
              </a:ext>
            </a:extLst>
          </p:cNvPr>
          <p:cNvSpPr/>
          <p:nvPr userDrawn="1"/>
        </p:nvSpPr>
        <p:spPr>
          <a:xfrm>
            <a:off x="-1" y="6787299"/>
            <a:ext cx="12192000" cy="80105"/>
          </a:xfrm>
          <a:prstGeom prst="rect">
            <a:avLst/>
          </a:prstGeom>
          <a:gradFill>
            <a:gsLst>
              <a:gs pos="0">
                <a:srgbClr val="F37021"/>
              </a:gs>
              <a:gs pos="100000">
                <a:srgbClr val="FFA91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5543792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117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29239153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2337380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3828802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16847437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401506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2055259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4020386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33380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25043725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4353821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F020E98-B5D6-4589-85E0-4CF2BA654FF3}" type="slidenum">
              <a:rPr lang="he-IL" smtClean="0"/>
              <a:t>‹#›</a:t>
            </a:fld>
            <a:endParaRPr lang="he-IL"/>
          </a:p>
        </p:txBody>
      </p:sp>
    </p:spTree>
    <p:extLst>
      <p:ext uri="{BB962C8B-B14F-4D97-AF65-F5344CB8AC3E}">
        <p14:creationId xmlns:p14="http://schemas.microsoft.com/office/powerpoint/2010/main" val="31762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003F6E05-F967-AC02-A706-460906A023C4}"/>
              </a:ext>
            </a:extLst>
          </p:cNvPr>
          <p:cNvSpPr txBox="1"/>
          <p:nvPr userDrawn="1">
            <p:extLst>
              <p:ext uri="{1162E1C5-73C7-4A58-AE30-91384D911F3F}">
                <p184:classification xmlns:p184="http://schemas.microsoft.com/office/powerpoint/2018/4/main" val="ftr"/>
              </p:ext>
            </p:extLst>
          </p:nvPr>
        </p:nvSpPr>
        <p:spPr>
          <a:xfrm>
            <a:off x="5510213" y="6642100"/>
            <a:ext cx="1206563" cy="152400"/>
          </a:xfrm>
          <a:prstGeom prst="rect">
            <a:avLst/>
          </a:prstGeom>
        </p:spPr>
        <p:txBody>
          <a:bodyPr horzOverflow="overflow" lIns="0" tIns="0" rIns="0" bIns="0">
            <a:spAutoFit/>
          </a:bodyPr>
          <a:lstStyle/>
          <a:p>
            <a:pPr algn="l"/>
            <a:r>
              <a:rPr lang="he-IL" sz="1000">
                <a:solidFill>
                  <a:srgbClr val="0000FF">
                    <a:alpha val="50000"/>
                  </a:srgbClr>
                </a:solidFill>
                <a:latin typeface="Aptos" panose="020B0004020202020204" pitchFamily="34" charset="0"/>
              </a:rPr>
              <a:t> מסמך בסיווג חסוי עסקי</a:t>
            </a:r>
          </a:p>
        </p:txBody>
      </p:sp>
    </p:spTree>
    <p:extLst>
      <p:ext uri="{BB962C8B-B14F-4D97-AF65-F5344CB8AC3E}">
        <p14:creationId xmlns:p14="http://schemas.microsoft.com/office/powerpoint/2010/main" val="1234092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3"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F18D1E6B-9950-432B-B3DD-6558DA5DD1B9}" type="datetimeFigureOut">
              <a:rPr lang="he-IL" smtClean="0"/>
              <a:t>ל'/תשרי/תשפ"ז</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EF020E98-B5D6-4589-85E0-4CF2BA654FF3}" type="slidenum">
              <a:rPr lang="he-IL" smtClean="0"/>
              <a:t>‹#›</a:t>
            </a:fld>
            <a:endParaRPr lang="he-IL"/>
          </a:p>
        </p:txBody>
      </p:sp>
      <p:sp>
        <p:nvSpPr>
          <p:cNvPr id="8" name="תיבת טקסט 7">
            <a:extLst>
              <a:ext uri="{FF2B5EF4-FFF2-40B4-BE49-F238E27FC236}">
                <a16:creationId xmlns:a16="http://schemas.microsoft.com/office/drawing/2014/main" id="{819A8776-3F7B-D08A-6D08-BBC4555926DA}"/>
              </a:ext>
            </a:extLst>
          </p:cNvPr>
          <p:cNvSpPr txBox="1"/>
          <p:nvPr userDrawn="1">
            <p:extLst>
              <p:ext uri="{1162E1C5-73C7-4A58-AE30-91384D911F3F}">
                <p184:classification xmlns:p184="http://schemas.microsoft.com/office/powerpoint/2018/4/main" val="ftr"/>
              </p:ext>
            </p:extLst>
          </p:nvPr>
        </p:nvSpPr>
        <p:spPr>
          <a:xfrm>
            <a:off x="5226050" y="6642100"/>
            <a:ext cx="1774889" cy="152400"/>
          </a:xfrm>
          <a:prstGeom prst="rect">
            <a:avLst/>
          </a:prstGeom>
        </p:spPr>
        <p:txBody>
          <a:bodyPr horzOverflow="overflow" lIns="0" tIns="0" rIns="0" bIns="0">
            <a:spAutoFit/>
          </a:bodyPr>
          <a:lstStyle/>
          <a:p>
            <a:pPr algn="l"/>
            <a:r>
              <a:rPr lang="he-IL" sz="1000">
                <a:solidFill>
                  <a:srgbClr val="0000FF">
                    <a:alpha val="50000"/>
                  </a:srgbClr>
                </a:solidFill>
                <a:latin typeface="Aptos" panose="020B0004020202020204" pitchFamily="34" charset="0"/>
              </a:rPr>
              <a:t>מאוחדת - מסמך בסיווג: חסוי ארגוני</a:t>
            </a:r>
          </a:p>
        </p:txBody>
      </p:sp>
    </p:spTree>
    <p:extLst>
      <p:ext uri="{BB962C8B-B14F-4D97-AF65-F5344CB8AC3E}">
        <p14:creationId xmlns:p14="http://schemas.microsoft.com/office/powerpoint/2010/main" val="273158624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9.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meuhedet.sharepoint.com/:x:/r/sites/klika-customer/01122025/%D7%9E%D7%99%D7%A0%D7%99%20%D7%9E%D7%A8%D7%9B%D7%96%D7%99%20%D7%92%D7%95%D7%A0%D7%99%D7%95%D7%A8%202025.xlsx?d=w0c2368d72c3740dbba02b6f49364aea2&amp;csf=1&amp;web=1&amp;e=FbVaEd" TargetMode="External"/><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6" name="Picture 25" descr="Blue and orange letters on a black background&#10;&#10;Description automatically generated">
            <a:extLst>
              <a:ext uri="{FF2B5EF4-FFF2-40B4-BE49-F238E27FC236}">
                <a16:creationId xmlns:a16="http://schemas.microsoft.com/office/drawing/2014/main" id="{64BFC947-119A-4816-1460-39A1B98C186A}"/>
              </a:ext>
            </a:extLst>
          </p:cNvPr>
          <p:cNvPicPr>
            <a:picLocks noChangeAspect="1"/>
          </p:cNvPicPr>
          <p:nvPr/>
        </p:nvPicPr>
        <p:blipFill>
          <a:blip r:embed="rId3"/>
          <a:stretch>
            <a:fillRect/>
          </a:stretch>
        </p:blipFill>
        <p:spPr>
          <a:xfrm>
            <a:off x="346065" y="285170"/>
            <a:ext cx="1336265" cy="308885"/>
          </a:xfrm>
          <a:prstGeom prst="rect">
            <a:avLst/>
          </a:prstGeom>
        </p:spPr>
      </p:pic>
      <p:grpSp>
        <p:nvGrpSpPr>
          <p:cNvPr id="5" name="קבוצה 4">
            <a:extLst>
              <a:ext uri="{FF2B5EF4-FFF2-40B4-BE49-F238E27FC236}">
                <a16:creationId xmlns:a16="http://schemas.microsoft.com/office/drawing/2014/main" id="{D9B9C994-D6E3-B167-A71D-611292871D97}"/>
              </a:ext>
            </a:extLst>
          </p:cNvPr>
          <p:cNvGrpSpPr/>
          <p:nvPr/>
        </p:nvGrpSpPr>
        <p:grpSpPr>
          <a:xfrm>
            <a:off x="2602085" y="-342481"/>
            <a:ext cx="6987830" cy="2356478"/>
            <a:chOff x="-1641885" y="583492"/>
            <a:chExt cx="16208515" cy="5465933"/>
          </a:xfrm>
        </p:grpSpPr>
        <p:sp>
          <p:nvSpPr>
            <p:cNvPr id="32" name="Oval 1">
              <a:extLst>
                <a:ext uri="{FF2B5EF4-FFF2-40B4-BE49-F238E27FC236}">
                  <a16:creationId xmlns:a16="http://schemas.microsoft.com/office/drawing/2014/main" id="{8DBDC81C-A6B0-C401-B5A3-962B588ED489}"/>
                </a:ext>
              </a:extLst>
            </p:cNvPr>
            <p:cNvSpPr/>
            <p:nvPr/>
          </p:nvSpPr>
          <p:spPr>
            <a:xfrm rot="12505892">
              <a:off x="10117537" y="1609501"/>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8" name="Oval 27">
              <a:extLst>
                <a:ext uri="{FF2B5EF4-FFF2-40B4-BE49-F238E27FC236}">
                  <a16:creationId xmlns:a16="http://schemas.microsoft.com/office/drawing/2014/main" id="{D7A44C0A-0BE2-9598-890F-044E4648B111}"/>
                </a:ext>
              </a:extLst>
            </p:cNvPr>
            <p:cNvSpPr/>
            <p:nvPr/>
          </p:nvSpPr>
          <p:spPr>
            <a:xfrm>
              <a:off x="7788937" y="2014065"/>
              <a:ext cx="3689391" cy="2974526"/>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8" name="Oval 1">
              <a:extLst>
                <a:ext uri="{FF2B5EF4-FFF2-40B4-BE49-F238E27FC236}">
                  <a16:creationId xmlns:a16="http://schemas.microsoft.com/office/drawing/2014/main" id="{7D44D40F-E3B2-6FD3-813A-F4DC9DEA074E}"/>
                </a:ext>
              </a:extLst>
            </p:cNvPr>
            <p:cNvSpPr/>
            <p:nvPr/>
          </p:nvSpPr>
          <p:spPr>
            <a:xfrm rot="15870939">
              <a:off x="3532036" y="207907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3" name="Oval 1">
              <a:extLst>
                <a:ext uri="{FF2B5EF4-FFF2-40B4-BE49-F238E27FC236}">
                  <a16:creationId xmlns:a16="http://schemas.microsoft.com/office/drawing/2014/main" id="{5FC706C0-61BA-E11C-E985-D4DC28EA91F4}"/>
                </a:ext>
              </a:extLst>
            </p:cNvPr>
            <p:cNvSpPr/>
            <p:nvPr/>
          </p:nvSpPr>
          <p:spPr>
            <a:xfrm rot="15870939">
              <a:off x="9886568" y="286655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7" name="Oval 1">
              <a:extLst>
                <a:ext uri="{FF2B5EF4-FFF2-40B4-BE49-F238E27FC236}">
                  <a16:creationId xmlns:a16="http://schemas.microsoft.com/office/drawing/2014/main" id="{DCD85C87-92E4-B81D-A711-75414A5CCEE2}"/>
                </a:ext>
              </a:extLst>
            </p:cNvPr>
            <p:cNvSpPr/>
            <p:nvPr/>
          </p:nvSpPr>
          <p:spPr>
            <a:xfrm rot="12505892">
              <a:off x="-1349039" y="1700940"/>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alpha val="83534"/>
                  </a:srgbClr>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5" name="Oval 14">
              <a:extLst>
                <a:ext uri="{FF2B5EF4-FFF2-40B4-BE49-F238E27FC236}">
                  <a16:creationId xmlns:a16="http://schemas.microsoft.com/office/drawing/2014/main" id="{656BA64D-3666-BD1F-8AC8-C2D4C73450E8}"/>
                </a:ext>
              </a:extLst>
            </p:cNvPr>
            <p:cNvSpPr/>
            <p:nvPr/>
          </p:nvSpPr>
          <p:spPr>
            <a:xfrm>
              <a:off x="10760350" y="4253702"/>
              <a:ext cx="535660" cy="646331"/>
            </a:xfrm>
            <a:prstGeom prst="ellipse">
              <a:avLst/>
            </a:prstGeom>
            <a:solidFill>
              <a:srgbClr val="2DB2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6" name="Oval 15">
              <a:extLst>
                <a:ext uri="{FF2B5EF4-FFF2-40B4-BE49-F238E27FC236}">
                  <a16:creationId xmlns:a16="http://schemas.microsoft.com/office/drawing/2014/main" id="{CD7E975E-904A-4F11-B9FF-E6E976028776}"/>
                </a:ext>
              </a:extLst>
            </p:cNvPr>
            <p:cNvSpPr/>
            <p:nvPr/>
          </p:nvSpPr>
          <p:spPr>
            <a:xfrm>
              <a:off x="10606792" y="1751255"/>
              <a:ext cx="535660" cy="646331"/>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4" name="Oval 1">
              <a:extLst>
                <a:ext uri="{FF2B5EF4-FFF2-40B4-BE49-F238E27FC236}">
                  <a16:creationId xmlns:a16="http://schemas.microsoft.com/office/drawing/2014/main" id="{9E016B22-32DC-48F7-DAFC-64465B48BF44}"/>
                </a:ext>
              </a:extLst>
            </p:cNvPr>
            <p:cNvSpPr/>
            <p:nvPr/>
          </p:nvSpPr>
          <p:spPr>
            <a:xfrm>
              <a:off x="-586717" y="1236944"/>
              <a:ext cx="4833707" cy="342023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3" name="Oval 1">
              <a:extLst>
                <a:ext uri="{FF2B5EF4-FFF2-40B4-BE49-F238E27FC236}">
                  <a16:creationId xmlns:a16="http://schemas.microsoft.com/office/drawing/2014/main" id="{0D5C5A95-05C1-21B7-C74F-F3D9F160B16D}"/>
                </a:ext>
              </a:extLst>
            </p:cNvPr>
            <p:cNvSpPr/>
            <p:nvPr/>
          </p:nvSpPr>
          <p:spPr>
            <a:xfrm>
              <a:off x="2763335" y="583492"/>
              <a:ext cx="6594413" cy="526756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 name="connsiteX0" fmla="*/ 3796 w 3407396"/>
                <a:gd name="connsiteY0" fmla="*/ 1341885 h 2697430"/>
                <a:gd name="connsiteX1" fmla="*/ 1706197 w 3407396"/>
                <a:gd name="connsiteY1" fmla="*/ 600838 h 2697430"/>
                <a:gd name="connsiteX2" fmla="*/ 3407396 w 3407396"/>
                <a:gd name="connsiteY2" fmla="*/ 605285 h 2697430"/>
                <a:gd name="connsiteX3" fmla="*/ 2188196 w 3407396"/>
                <a:gd name="connsiteY3" fmla="*/ 2688085 h 2697430"/>
                <a:gd name="connsiteX4" fmla="*/ 3796 w 3407396"/>
                <a:gd name="connsiteY4" fmla="*/ 1341885 h 2697430"/>
                <a:gd name="connsiteX0" fmla="*/ 7945 w 3411545"/>
                <a:gd name="connsiteY0" fmla="*/ 1341885 h 2699587"/>
                <a:gd name="connsiteX1" fmla="*/ 1710346 w 3411545"/>
                <a:gd name="connsiteY1" fmla="*/ 600838 h 2699587"/>
                <a:gd name="connsiteX2" fmla="*/ 3411545 w 3411545"/>
                <a:gd name="connsiteY2" fmla="*/ 605285 h 2699587"/>
                <a:gd name="connsiteX3" fmla="*/ 2192345 w 3411545"/>
                <a:gd name="connsiteY3" fmla="*/ 2688085 h 2699587"/>
                <a:gd name="connsiteX4" fmla="*/ 7945 w 3411545"/>
                <a:gd name="connsiteY4" fmla="*/ 1341885 h 269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545" h="2699587">
                  <a:moveTo>
                    <a:pt x="7945" y="1341885"/>
                  </a:moveTo>
                  <a:cubicBezTo>
                    <a:pt x="-111335" y="760468"/>
                    <a:pt x="1143079" y="723605"/>
                    <a:pt x="1710346" y="600838"/>
                  </a:cubicBezTo>
                  <a:cubicBezTo>
                    <a:pt x="2277613" y="478071"/>
                    <a:pt x="3144845" y="-690193"/>
                    <a:pt x="3411545" y="605285"/>
                  </a:cubicBezTo>
                  <a:cubicBezTo>
                    <a:pt x="3411545" y="1545163"/>
                    <a:pt x="2759612" y="2565318"/>
                    <a:pt x="2192345" y="2688085"/>
                  </a:cubicBezTo>
                  <a:cubicBezTo>
                    <a:pt x="1625078" y="2810852"/>
                    <a:pt x="127225" y="1923302"/>
                    <a:pt x="7945" y="1341885"/>
                  </a:cubicBezTo>
                  <a:close/>
                </a:path>
              </a:pathLst>
            </a:cu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תיבת טקסט 1">
              <a:extLst>
                <a:ext uri="{FF2B5EF4-FFF2-40B4-BE49-F238E27FC236}">
                  <a16:creationId xmlns:a16="http://schemas.microsoft.com/office/drawing/2014/main" id="{15A65139-810D-968F-3316-3129786291E1}"/>
                </a:ext>
              </a:extLst>
            </p:cNvPr>
            <p:cNvSpPr txBox="1"/>
            <p:nvPr/>
          </p:nvSpPr>
          <p:spPr>
            <a:xfrm>
              <a:off x="3797591" y="2397586"/>
              <a:ext cx="4876272" cy="2213085"/>
            </a:xfrm>
            <a:prstGeom prst="rect">
              <a:avLst/>
            </a:prstGeom>
            <a:noFill/>
          </p:spPr>
          <p:txBody>
            <a:bodyPr wrap="square" rtlCol="0">
              <a:spAutoFit/>
            </a:bodyPr>
            <a:lstStyle/>
            <a:p>
              <a:pPr algn="ctr"/>
              <a:r>
                <a:rPr lang="he-IL" sz="2800" dirty="0">
                  <a:solidFill>
                    <a:schemeClr val="bg1"/>
                  </a:solidFill>
                  <a:latin typeface="Rubik Black" pitchFamily="2" charset="-79"/>
                  <a:cs typeface="Rubik Black" pitchFamily="2" charset="-79"/>
                </a:rPr>
                <a:t>מרכז הניהול במאוחדת</a:t>
              </a:r>
              <a:endParaRPr lang="LID4096" sz="2800" dirty="0">
                <a:solidFill>
                  <a:schemeClr val="bg1"/>
                </a:solidFill>
                <a:latin typeface="Rubik Black" pitchFamily="2" charset="-79"/>
                <a:cs typeface="Rubik Black" pitchFamily="2" charset="-79"/>
              </a:endParaRPr>
            </a:p>
          </p:txBody>
        </p:sp>
        <p:sp>
          <p:nvSpPr>
            <p:cNvPr id="33" name="Oval 32">
              <a:extLst>
                <a:ext uri="{FF2B5EF4-FFF2-40B4-BE49-F238E27FC236}">
                  <a16:creationId xmlns:a16="http://schemas.microsoft.com/office/drawing/2014/main" id="{D58C3B72-8CD9-96B5-1456-386B98726C29}"/>
                </a:ext>
              </a:extLst>
            </p:cNvPr>
            <p:cNvSpPr/>
            <p:nvPr/>
          </p:nvSpPr>
          <p:spPr>
            <a:xfrm>
              <a:off x="1640509" y="2008561"/>
              <a:ext cx="747346" cy="901753"/>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35" name="Oval 1">
              <a:extLst>
                <a:ext uri="{FF2B5EF4-FFF2-40B4-BE49-F238E27FC236}">
                  <a16:creationId xmlns:a16="http://schemas.microsoft.com/office/drawing/2014/main" id="{FC9F5C73-93A2-E76E-05A5-A7440F2ABEB3}"/>
                </a:ext>
              </a:extLst>
            </p:cNvPr>
            <p:cNvSpPr/>
            <p:nvPr/>
          </p:nvSpPr>
          <p:spPr>
            <a:xfrm rot="15870939">
              <a:off x="-1817571" y="1406723"/>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sp>
        <p:nvSpPr>
          <p:cNvPr id="29" name="מלבן 28">
            <a:extLst>
              <a:ext uri="{FF2B5EF4-FFF2-40B4-BE49-F238E27FC236}">
                <a16:creationId xmlns:a16="http://schemas.microsoft.com/office/drawing/2014/main" id="{E77614B9-EBA2-F3FA-5394-AFF85DD26744}"/>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7" name="מלבן: פינות מעוגלות 26">
            <a:extLst>
              <a:ext uri="{FF2B5EF4-FFF2-40B4-BE49-F238E27FC236}">
                <a16:creationId xmlns:a16="http://schemas.microsoft.com/office/drawing/2014/main" id="{9AA86108-6CFE-D341-9F23-68FD2275EE65}"/>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תיבת טקסט 29">
            <a:extLst>
              <a:ext uri="{FF2B5EF4-FFF2-40B4-BE49-F238E27FC236}">
                <a16:creationId xmlns:a16="http://schemas.microsoft.com/office/drawing/2014/main" id="{274F5A1A-8178-BBFF-DCBD-62FB203CA52A}"/>
              </a:ext>
            </a:extLst>
          </p:cNvPr>
          <p:cNvSpPr txBox="1"/>
          <p:nvPr/>
        </p:nvSpPr>
        <p:spPr>
          <a:xfrm>
            <a:off x="2519839" y="1891526"/>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ברוכים הבאים למאוחדת!</a:t>
            </a:r>
          </a:p>
        </p:txBody>
      </p:sp>
      <p:pic>
        <p:nvPicPr>
          <p:cNvPr id="31" name="Picture 25" descr="Blue and orange letters on a black background&#10;&#10;Description automatically generated">
            <a:extLst>
              <a:ext uri="{FF2B5EF4-FFF2-40B4-BE49-F238E27FC236}">
                <a16:creationId xmlns:a16="http://schemas.microsoft.com/office/drawing/2014/main" id="{DFA57DC8-F096-13AB-5CBB-D47FDB31259F}"/>
              </a:ext>
            </a:extLst>
          </p:cNvPr>
          <p:cNvPicPr>
            <a:picLocks noChangeAspect="1"/>
          </p:cNvPicPr>
          <p:nvPr/>
        </p:nvPicPr>
        <p:blipFill>
          <a:blip r:embed="rId3"/>
          <a:stretch>
            <a:fillRect/>
          </a:stretch>
        </p:blipFill>
        <p:spPr>
          <a:xfrm>
            <a:off x="6268154" y="788359"/>
            <a:ext cx="2244710" cy="518877"/>
          </a:xfrm>
          <a:prstGeom prst="rect">
            <a:avLst/>
          </a:prstGeom>
        </p:spPr>
      </p:pic>
      <p:sp>
        <p:nvSpPr>
          <p:cNvPr id="36" name="תיבת טקסט 35">
            <a:extLst>
              <a:ext uri="{FF2B5EF4-FFF2-40B4-BE49-F238E27FC236}">
                <a16:creationId xmlns:a16="http://schemas.microsoft.com/office/drawing/2014/main" id="{4E361FB0-6A50-7BCD-B14C-E54BE350DCE0}"/>
              </a:ext>
            </a:extLst>
          </p:cNvPr>
          <p:cNvSpPr txBox="1"/>
          <p:nvPr/>
        </p:nvSpPr>
        <p:spPr>
          <a:xfrm>
            <a:off x="2519839" y="3334462"/>
            <a:ext cx="7057663" cy="1200329"/>
          </a:xfrm>
          <a:prstGeom prst="rect">
            <a:avLst/>
          </a:prstGeom>
          <a:noFill/>
        </p:spPr>
        <p:txBody>
          <a:bodyPr wrap="square">
            <a:spAutoFit/>
          </a:bodyPr>
          <a:lstStyle/>
          <a:p>
            <a:pPr algn="ctr">
              <a:buNone/>
            </a:pPr>
            <a:r>
              <a:rPr lang="he-IL" dirty="0">
                <a:latin typeface="Rubik" pitchFamily="2" charset="-79"/>
                <a:cs typeface="Rubik" pitchFamily="2" charset="-79"/>
              </a:rPr>
              <a:t>כניסתכם לתפקיד ניהולי חדש בארגון, הינה שלב משמעותי המהווה המצריך למידה של עולם תוכן רחב – מערכות, תהליכים, נהלים ושפה </a:t>
            </a:r>
            <a:r>
              <a:rPr lang="he-IL" dirty="0" err="1">
                <a:latin typeface="Rubik" pitchFamily="2" charset="-79"/>
                <a:cs typeface="Rubik" pitchFamily="2" charset="-79"/>
              </a:rPr>
              <a:t>אירגונית</a:t>
            </a:r>
            <a:r>
              <a:rPr lang="he-IL" dirty="0">
                <a:latin typeface="Rubik" pitchFamily="2" charset="-79"/>
                <a:cs typeface="Rubik" pitchFamily="2" charset="-79"/>
              </a:rPr>
              <a:t> שמעצבים את העשייה היומיומית ודרושים לקליטה איכותית והצלחה בתפקיד. </a:t>
            </a:r>
          </a:p>
          <a:p>
            <a:pPr algn="ctr">
              <a:buNone/>
            </a:pPr>
            <a:endParaRPr lang="he-IL" dirty="0">
              <a:latin typeface="Rubik" pitchFamily="2" charset="-79"/>
              <a:cs typeface="Rubik" pitchFamily="2" charset="-79"/>
            </a:endParaRPr>
          </a:p>
        </p:txBody>
      </p:sp>
      <p:pic>
        <p:nvPicPr>
          <p:cNvPr id="6" name="תמונה 5">
            <a:extLst>
              <a:ext uri="{FF2B5EF4-FFF2-40B4-BE49-F238E27FC236}">
                <a16:creationId xmlns:a16="http://schemas.microsoft.com/office/drawing/2014/main" id="{A962F61C-9D6E-F1A0-4E36-80B7D0CAD1B5}"/>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3275" b="91940" l="2825" r="99209">
                        <a14:foregroundMark x1="87345" y1="17128" x2="87345" y2="17128"/>
                        <a14:foregroundMark x1="60678" y1="16373" x2="60678" y2="16373"/>
                        <a14:foregroundMark x1="58870" y1="3778" x2="58870" y2="3778"/>
                        <a14:foregroundMark x1="46102" y1="17380" x2="46102" y2="17380"/>
                        <a14:foregroundMark x1="36384" y1="17884" x2="36384" y2="17884"/>
                        <a14:foregroundMark x1="40113" y1="16121" x2="40113" y2="16121"/>
                        <a14:foregroundMark x1="23616" y1="11083" x2="23616" y2="11083"/>
                        <a14:foregroundMark x1="25989" y1="31738" x2="25989" y2="31738"/>
                        <a14:foregroundMark x1="10847" y1="31738" x2="10847" y2="31738"/>
                        <a14:foregroundMark x1="2825" y1="52645" x2="2825" y2="52645"/>
                        <a14:foregroundMark x1="18531" y1="92191" x2="18531" y2="92191"/>
                        <a14:foregroundMark x1="85085" y1="67254" x2="85085" y2="67254"/>
                        <a14:foregroundMark x1="50056" y1="58942" x2="50056" y2="58942"/>
                        <a14:foregroundMark x1="89718" y1="34257" x2="89718" y2="34257"/>
                        <a14:foregroundMark x1="99209" y1="47355" x2="99209" y2="47355"/>
                      </a14:backgroundRemoval>
                    </a14:imgEffect>
                  </a14:imgLayer>
                </a14:imgProps>
              </a:ext>
            </a:extLst>
          </a:blip>
          <a:stretch>
            <a:fillRect/>
          </a:stretch>
        </p:blipFill>
        <p:spPr>
          <a:xfrm>
            <a:off x="4473611" y="817877"/>
            <a:ext cx="1157287" cy="519145"/>
          </a:xfrm>
          <a:prstGeom prst="rect">
            <a:avLst/>
          </a:prstGeom>
        </p:spPr>
      </p:pic>
      <p:sp>
        <p:nvSpPr>
          <p:cNvPr id="9" name="מלבן 8">
            <a:extLst>
              <a:ext uri="{FF2B5EF4-FFF2-40B4-BE49-F238E27FC236}">
                <a16:creationId xmlns:a16="http://schemas.microsoft.com/office/drawing/2014/main" id="{3A92908C-94A1-0CC4-445B-1BBB10350856}"/>
              </a:ext>
            </a:extLst>
          </p:cNvPr>
          <p:cNvSpPr/>
          <p:nvPr/>
        </p:nvSpPr>
        <p:spPr>
          <a:xfrm>
            <a:off x="30514" y="507413"/>
            <a:ext cx="1836386" cy="15652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הוראות הפקה: חילקתי את הפופ אפ ל2 כדי שלא יהיה עומס טקסט</a:t>
            </a:r>
          </a:p>
        </p:txBody>
      </p:sp>
    </p:spTree>
    <p:extLst>
      <p:ext uri="{BB962C8B-B14F-4D97-AF65-F5344CB8AC3E}">
        <p14:creationId xmlns:p14="http://schemas.microsoft.com/office/powerpoint/2010/main" val="310864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86CF-F79C-D69D-3AC9-CD2E7AF3B965}"/>
            </a:ext>
          </a:extLst>
        </p:cNvPr>
        <p:cNvGrpSpPr/>
        <p:nvPr/>
      </p:nvGrpSpPr>
      <p:grpSpPr>
        <a:xfrm>
          <a:off x="0" y="0"/>
          <a:ext cx="0" cy="0"/>
          <a:chOff x="0" y="0"/>
          <a:chExt cx="0" cy="0"/>
        </a:xfrm>
      </p:grpSpPr>
      <p:pic>
        <p:nvPicPr>
          <p:cNvPr id="26" name="Picture 25" descr="Blue and orange letters on a black background&#10;&#10;Description automatically generated">
            <a:extLst>
              <a:ext uri="{FF2B5EF4-FFF2-40B4-BE49-F238E27FC236}">
                <a16:creationId xmlns:a16="http://schemas.microsoft.com/office/drawing/2014/main" id="{20531DF8-4BC2-53EE-D6DE-17BF9374BE0B}"/>
              </a:ext>
            </a:extLst>
          </p:cNvPr>
          <p:cNvPicPr>
            <a:picLocks noChangeAspect="1"/>
          </p:cNvPicPr>
          <p:nvPr/>
        </p:nvPicPr>
        <p:blipFill>
          <a:blip r:embed="rId3"/>
          <a:stretch>
            <a:fillRect/>
          </a:stretch>
        </p:blipFill>
        <p:spPr>
          <a:xfrm>
            <a:off x="346065" y="285170"/>
            <a:ext cx="1336265" cy="308885"/>
          </a:xfrm>
          <a:prstGeom prst="rect">
            <a:avLst/>
          </a:prstGeom>
        </p:spPr>
      </p:pic>
      <p:grpSp>
        <p:nvGrpSpPr>
          <p:cNvPr id="5" name="קבוצה 4">
            <a:extLst>
              <a:ext uri="{FF2B5EF4-FFF2-40B4-BE49-F238E27FC236}">
                <a16:creationId xmlns:a16="http://schemas.microsoft.com/office/drawing/2014/main" id="{DD553B4D-1E0D-D371-EBE4-EE59FBA0426C}"/>
              </a:ext>
            </a:extLst>
          </p:cNvPr>
          <p:cNvGrpSpPr/>
          <p:nvPr/>
        </p:nvGrpSpPr>
        <p:grpSpPr>
          <a:xfrm>
            <a:off x="2602085" y="-342481"/>
            <a:ext cx="6987830" cy="2356478"/>
            <a:chOff x="-1641885" y="583492"/>
            <a:chExt cx="16208515" cy="5465933"/>
          </a:xfrm>
        </p:grpSpPr>
        <p:sp>
          <p:nvSpPr>
            <p:cNvPr id="32" name="Oval 1">
              <a:extLst>
                <a:ext uri="{FF2B5EF4-FFF2-40B4-BE49-F238E27FC236}">
                  <a16:creationId xmlns:a16="http://schemas.microsoft.com/office/drawing/2014/main" id="{65975186-CE60-897E-AA6F-992F89E93FB8}"/>
                </a:ext>
              </a:extLst>
            </p:cNvPr>
            <p:cNvSpPr/>
            <p:nvPr/>
          </p:nvSpPr>
          <p:spPr>
            <a:xfrm rot="12505892">
              <a:off x="10117537" y="1609501"/>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8" name="Oval 27">
              <a:extLst>
                <a:ext uri="{FF2B5EF4-FFF2-40B4-BE49-F238E27FC236}">
                  <a16:creationId xmlns:a16="http://schemas.microsoft.com/office/drawing/2014/main" id="{47F399F8-A537-23B5-DC63-EDBCA10375DD}"/>
                </a:ext>
              </a:extLst>
            </p:cNvPr>
            <p:cNvSpPr/>
            <p:nvPr/>
          </p:nvSpPr>
          <p:spPr>
            <a:xfrm>
              <a:off x="7788937" y="2014065"/>
              <a:ext cx="3689391" cy="2974526"/>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8" name="Oval 1">
              <a:extLst>
                <a:ext uri="{FF2B5EF4-FFF2-40B4-BE49-F238E27FC236}">
                  <a16:creationId xmlns:a16="http://schemas.microsoft.com/office/drawing/2014/main" id="{B3FAF759-9F82-499C-D8A7-A4436B0FAA1C}"/>
                </a:ext>
              </a:extLst>
            </p:cNvPr>
            <p:cNvSpPr/>
            <p:nvPr/>
          </p:nvSpPr>
          <p:spPr>
            <a:xfrm rot="15870939">
              <a:off x="3532036" y="207907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3" name="Oval 1">
              <a:extLst>
                <a:ext uri="{FF2B5EF4-FFF2-40B4-BE49-F238E27FC236}">
                  <a16:creationId xmlns:a16="http://schemas.microsoft.com/office/drawing/2014/main" id="{CA8FFDD2-82F0-B7DC-48FE-6B37A3A10940}"/>
                </a:ext>
              </a:extLst>
            </p:cNvPr>
            <p:cNvSpPr/>
            <p:nvPr/>
          </p:nvSpPr>
          <p:spPr>
            <a:xfrm rot="15870939">
              <a:off x="9886568" y="286655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7" name="Oval 1">
              <a:extLst>
                <a:ext uri="{FF2B5EF4-FFF2-40B4-BE49-F238E27FC236}">
                  <a16:creationId xmlns:a16="http://schemas.microsoft.com/office/drawing/2014/main" id="{9A83B27A-AD9F-F448-CDF1-3FB32EE9C723}"/>
                </a:ext>
              </a:extLst>
            </p:cNvPr>
            <p:cNvSpPr/>
            <p:nvPr/>
          </p:nvSpPr>
          <p:spPr>
            <a:xfrm rot="12505892">
              <a:off x="-1349039" y="1700940"/>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alpha val="83534"/>
                  </a:srgbClr>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5" name="Oval 14">
              <a:extLst>
                <a:ext uri="{FF2B5EF4-FFF2-40B4-BE49-F238E27FC236}">
                  <a16:creationId xmlns:a16="http://schemas.microsoft.com/office/drawing/2014/main" id="{4C99DD83-5719-2702-DBFC-9A008D2E4EAE}"/>
                </a:ext>
              </a:extLst>
            </p:cNvPr>
            <p:cNvSpPr/>
            <p:nvPr/>
          </p:nvSpPr>
          <p:spPr>
            <a:xfrm>
              <a:off x="10760350" y="4253702"/>
              <a:ext cx="535660" cy="646331"/>
            </a:xfrm>
            <a:prstGeom prst="ellipse">
              <a:avLst/>
            </a:prstGeom>
            <a:solidFill>
              <a:srgbClr val="2DB2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6" name="Oval 15">
              <a:extLst>
                <a:ext uri="{FF2B5EF4-FFF2-40B4-BE49-F238E27FC236}">
                  <a16:creationId xmlns:a16="http://schemas.microsoft.com/office/drawing/2014/main" id="{0D5FCD44-7CB5-4155-0474-3BAD444659A0}"/>
                </a:ext>
              </a:extLst>
            </p:cNvPr>
            <p:cNvSpPr/>
            <p:nvPr/>
          </p:nvSpPr>
          <p:spPr>
            <a:xfrm>
              <a:off x="10606792" y="1751255"/>
              <a:ext cx="535660" cy="646331"/>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4" name="Oval 1">
              <a:extLst>
                <a:ext uri="{FF2B5EF4-FFF2-40B4-BE49-F238E27FC236}">
                  <a16:creationId xmlns:a16="http://schemas.microsoft.com/office/drawing/2014/main" id="{67AC6FA3-0D43-5A53-4553-F800812D1773}"/>
                </a:ext>
              </a:extLst>
            </p:cNvPr>
            <p:cNvSpPr/>
            <p:nvPr/>
          </p:nvSpPr>
          <p:spPr>
            <a:xfrm>
              <a:off x="-586717" y="1236944"/>
              <a:ext cx="4833707" cy="342023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3" name="Oval 1">
              <a:extLst>
                <a:ext uri="{FF2B5EF4-FFF2-40B4-BE49-F238E27FC236}">
                  <a16:creationId xmlns:a16="http://schemas.microsoft.com/office/drawing/2014/main" id="{7A974BD0-5DE5-4CE5-421E-66A94D895D9A}"/>
                </a:ext>
              </a:extLst>
            </p:cNvPr>
            <p:cNvSpPr/>
            <p:nvPr/>
          </p:nvSpPr>
          <p:spPr>
            <a:xfrm>
              <a:off x="2763335" y="583492"/>
              <a:ext cx="6594413" cy="526756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 name="connsiteX0" fmla="*/ 3796 w 3407396"/>
                <a:gd name="connsiteY0" fmla="*/ 1341885 h 2697430"/>
                <a:gd name="connsiteX1" fmla="*/ 1706197 w 3407396"/>
                <a:gd name="connsiteY1" fmla="*/ 600838 h 2697430"/>
                <a:gd name="connsiteX2" fmla="*/ 3407396 w 3407396"/>
                <a:gd name="connsiteY2" fmla="*/ 605285 h 2697430"/>
                <a:gd name="connsiteX3" fmla="*/ 2188196 w 3407396"/>
                <a:gd name="connsiteY3" fmla="*/ 2688085 h 2697430"/>
                <a:gd name="connsiteX4" fmla="*/ 3796 w 3407396"/>
                <a:gd name="connsiteY4" fmla="*/ 1341885 h 2697430"/>
                <a:gd name="connsiteX0" fmla="*/ 7945 w 3411545"/>
                <a:gd name="connsiteY0" fmla="*/ 1341885 h 2699587"/>
                <a:gd name="connsiteX1" fmla="*/ 1710346 w 3411545"/>
                <a:gd name="connsiteY1" fmla="*/ 600838 h 2699587"/>
                <a:gd name="connsiteX2" fmla="*/ 3411545 w 3411545"/>
                <a:gd name="connsiteY2" fmla="*/ 605285 h 2699587"/>
                <a:gd name="connsiteX3" fmla="*/ 2192345 w 3411545"/>
                <a:gd name="connsiteY3" fmla="*/ 2688085 h 2699587"/>
                <a:gd name="connsiteX4" fmla="*/ 7945 w 3411545"/>
                <a:gd name="connsiteY4" fmla="*/ 1341885 h 269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545" h="2699587">
                  <a:moveTo>
                    <a:pt x="7945" y="1341885"/>
                  </a:moveTo>
                  <a:cubicBezTo>
                    <a:pt x="-111335" y="760468"/>
                    <a:pt x="1143079" y="723605"/>
                    <a:pt x="1710346" y="600838"/>
                  </a:cubicBezTo>
                  <a:cubicBezTo>
                    <a:pt x="2277613" y="478071"/>
                    <a:pt x="3144845" y="-690193"/>
                    <a:pt x="3411545" y="605285"/>
                  </a:cubicBezTo>
                  <a:cubicBezTo>
                    <a:pt x="3411545" y="1545163"/>
                    <a:pt x="2759612" y="2565318"/>
                    <a:pt x="2192345" y="2688085"/>
                  </a:cubicBezTo>
                  <a:cubicBezTo>
                    <a:pt x="1625078" y="2810852"/>
                    <a:pt x="127225" y="1923302"/>
                    <a:pt x="7945" y="1341885"/>
                  </a:cubicBezTo>
                  <a:close/>
                </a:path>
              </a:pathLst>
            </a:cu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תיבת טקסט 1">
              <a:extLst>
                <a:ext uri="{FF2B5EF4-FFF2-40B4-BE49-F238E27FC236}">
                  <a16:creationId xmlns:a16="http://schemas.microsoft.com/office/drawing/2014/main" id="{4EA7C176-819D-A7FD-03BF-D3CF7AE24887}"/>
                </a:ext>
              </a:extLst>
            </p:cNvPr>
            <p:cNvSpPr txBox="1"/>
            <p:nvPr/>
          </p:nvSpPr>
          <p:spPr>
            <a:xfrm>
              <a:off x="3797591" y="2397586"/>
              <a:ext cx="4876272" cy="2213085"/>
            </a:xfrm>
            <a:prstGeom prst="rect">
              <a:avLst/>
            </a:prstGeom>
            <a:noFill/>
          </p:spPr>
          <p:txBody>
            <a:bodyPr wrap="square" rtlCol="0">
              <a:spAutoFit/>
            </a:bodyPr>
            <a:lstStyle/>
            <a:p>
              <a:pPr algn="ctr"/>
              <a:r>
                <a:rPr lang="he-IL" sz="2800" dirty="0">
                  <a:solidFill>
                    <a:schemeClr val="bg1"/>
                  </a:solidFill>
                  <a:latin typeface="Rubik Black" pitchFamily="2" charset="-79"/>
                  <a:cs typeface="Rubik Black" pitchFamily="2" charset="-79"/>
                </a:rPr>
                <a:t>מרכז הניהול במאוחדת</a:t>
              </a:r>
              <a:endParaRPr lang="LID4096" sz="2800" dirty="0">
                <a:solidFill>
                  <a:schemeClr val="bg1"/>
                </a:solidFill>
                <a:latin typeface="Rubik Black" pitchFamily="2" charset="-79"/>
                <a:cs typeface="Rubik Black" pitchFamily="2" charset="-79"/>
              </a:endParaRPr>
            </a:p>
          </p:txBody>
        </p:sp>
        <p:sp>
          <p:nvSpPr>
            <p:cNvPr id="33" name="Oval 32">
              <a:extLst>
                <a:ext uri="{FF2B5EF4-FFF2-40B4-BE49-F238E27FC236}">
                  <a16:creationId xmlns:a16="http://schemas.microsoft.com/office/drawing/2014/main" id="{E904BFE6-E25E-17F7-E394-411C0C36139D}"/>
                </a:ext>
              </a:extLst>
            </p:cNvPr>
            <p:cNvSpPr/>
            <p:nvPr/>
          </p:nvSpPr>
          <p:spPr>
            <a:xfrm>
              <a:off x="1640509" y="2008561"/>
              <a:ext cx="747346" cy="901753"/>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35" name="Oval 1">
              <a:extLst>
                <a:ext uri="{FF2B5EF4-FFF2-40B4-BE49-F238E27FC236}">
                  <a16:creationId xmlns:a16="http://schemas.microsoft.com/office/drawing/2014/main" id="{6957CF3C-7D8D-BD87-A0F3-6131182B165E}"/>
                </a:ext>
              </a:extLst>
            </p:cNvPr>
            <p:cNvSpPr/>
            <p:nvPr/>
          </p:nvSpPr>
          <p:spPr>
            <a:xfrm rot="15870939">
              <a:off x="-1817571" y="1406723"/>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sp>
        <p:nvSpPr>
          <p:cNvPr id="29" name="מלבן 28">
            <a:extLst>
              <a:ext uri="{FF2B5EF4-FFF2-40B4-BE49-F238E27FC236}">
                <a16:creationId xmlns:a16="http://schemas.microsoft.com/office/drawing/2014/main" id="{E075B941-8CF1-2A94-C79F-69B9D5C83C49}"/>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7" name="מלבן: פינות מעוגלות 26">
            <a:extLst>
              <a:ext uri="{FF2B5EF4-FFF2-40B4-BE49-F238E27FC236}">
                <a16:creationId xmlns:a16="http://schemas.microsoft.com/office/drawing/2014/main" id="{CF203818-9182-4FAF-E320-B3DA5F873FF9}"/>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1" name="Picture 25" descr="Blue and orange letters on a black background&#10;&#10;Description automatically generated">
            <a:extLst>
              <a:ext uri="{FF2B5EF4-FFF2-40B4-BE49-F238E27FC236}">
                <a16:creationId xmlns:a16="http://schemas.microsoft.com/office/drawing/2014/main" id="{AD377D0C-245D-D9A5-8222-D24CF803580C}"/>
              </a:ext>
            </a:extLst>
          </p:cNvPr>
          <p:cNvPicPr>
            <a:picLocks noChangeAspect="1"/>
          </p:cNvPicPr>
          <p:nvPr/>
        </p:nvPicPr>
        <p:blipFill>
          <a:blip r:embed="rId3"/>
          <a:stretch>
            <a:fillRect/>
          </a:stretch>
        </p:blipFill>
        <p:spPr>
          <a:xfrm>
            <a:off x="6268154" y="788359"/>
            <a:ext cx="2244710" cy="518877"/>
          </a:xfrm>
          <a:prstGeom prst="rect">
            <a:avLst/>
          </a:prstGeom>
        </p:spPr>
      </p:pic>
      <p:sp>
        <p:nvSpPr>
          <p:cNvPr id="34" name="מלבן: פינות מעוגלות 33">
            <a:extLst>
              <a:ext uri="{FF2B5EF4-FFF2-40B4-BE49-F238E27FC236}">
                <a16:creationId xmlns:a16="http://schemas.microsoft.com/office/drawing/2014/main" id="{706716CF-0E90-9E1F-0AF4-D4FF80B1E6F0}"/>
              </a:ext>
            </a:extLst>
          </p:cNvPr>
          <p:cNvSpPr/>
          <p:nvPr/>
        </p:nvSpPr>
        <p:spPr>
          <a:xfrm>
            <a:off x="1213768" y="5581019"/>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t>לכניסה לחצו כאן</a:t>
            </a:r>
            <a:endParaRPr lang="LID4096" dirty="0">
              <a:solidFill>
                <a:schemeClr val="bg1"/>
              </a:solidFill>
              <a:latin typeface="Rubik" pitchFamily="2" charset="-79"/>
              <a:cs typeface="Rubik" pitchFamily="2" charset="-79"/>
            </a:endParaRPr>
          </a:p>
        </p:txBody>
      </p:sp>
      <p:sp>
        <p:nvSpPr>
          <p:cNvPr id="36" name="תיבת טקסט 35">
            <a:extLst>
              <a:ext uri="{FF2B5EF4-FFF2-40B4-BE49-F238E27FC236}">
                <a16:creationId xmlns:a16="http://schemas.microsoft.com/office/drawing/2014/main" id="{EC2C7AFF-1C85-98E2-211F-E54FA5FFA74A}"/>
              </a:ext>
            </a:extLst>
          </p:cNvPr>
          <p:cNvSpPr txBox="1"/>
          <p:nvPr/>
        </p:nvSpPr>
        <p:spPr>
          <a:xfrm>
            <a:off x="2519839" y="3334462"/>
            <a:ext cx="7057663" cy="2585323"/>
          </a:xfrm>
          <a:prstGeom prst="rect">
            <a:avLst/>
          </a:prstGeom>
          <a:noFill/>
        </p:spPr>
        <p:txBody>
          <a:bodyPr wrap="square">
            <a:spAutoFit/>
          </a:bodyPr>
          <a:lstStyle/>
          <a:p>
            <a:pPr algn="ctr">
              <a:buNone/>
            </a:pPr>
            <a:r>
              <a:rPr lang="he-IL" dirty="0">
                <a:latin typeface="Rubik" pitchFamily="2" charset="-79"/>
                <a:cs typeface="Rubik" pitchFamily="2" charset="-79"/>
              </a:rPr>
              <a:t>לפניכם</a:t>
            </a:r>
            <a:r>
              <a:rPr lang="he-IL" b="1" dirty="0">
                <a:latin typeface="Rubik" pitchFamily="2" charset="-79"/>
                <a:cs typeface="Rubik" pitchFamily="2" charset="-79"/>
              </a:rPr>
              <a:t> </a:t>
            </a:r>
            <a:r>
              <a:rPr lang="he-IL" dirty="0">
                <a:latin typeface="Rubik" pitchFamily="2" charset="-79"/>
                <a:cs typeface="Rubik" pitchFamily="2" charset="-79"/>
              </a:rPr>
              <a:t>סביבה שנועדה לעשות קצת סדר בתוך המורכבות, </a:t>
            </a:r>
            <a:r>
              <a:rPr lang="he-IL" dirty="0" err="1">
                <a:latin typeface="Rubik" pitchFamily="2" charset="-79"/>
                <a:cs typeface="Rubik" pitchFamily="2" charset="-79"/>
              </a:rPr>
              <a:t>ולהנגיש</a:t>
            </a:r>
            <a:r>
              <a:rPr lang="he-IL" dirty="0">
                <a:latin typeface="Rubik" pitchFamily="2" charset="-79"/>
                <a:cs typeface="Rubik" pitchFamily="2" charset="-79"/>
              </a:rPr>
              <a:t> את הנושאים המרכזיים שכל מנהל במאוחדת צריך להכיר כבר בתחילת הדרך. </a:t>
            </a:r>
          </a:p>
          <a:p>
            <a:pPr algn="ctr">
              <a:buNone/>
            </a:pPr>
            <a:endParaRPr lang="he-IL" dirty="0">
              <a:latin typeface="Rubik" pitchFamily="2" charset="-79"/>
              <a:cs typeface="Rubik" pitchFamily="2" charset="-79"/>
            </a:endParaRPr>
          </a:p>
          <a:p>
            <a:pPr algn="ctr">
              <a:buNone/>
            </a:pPr>
            <a:r>
              <a:rPr lang="he-IL" dirty="0">
                <a:latin typeface="Rubik" pitchFamily="2" charset="-79"/>
                <a:cs typeface="Rubik" pitchFamily="2" charset="-79"/>
              </a:rPr>
              <a:t>אנו מזמינים אותכם לעיין בתכנים, לבחור מה רלוונטי עבורכם, </a:t>
            </a:r>
            <a:br>
              <a:rPr lang="en-US" dirty="0">
                <a:latin typeface="Rubik" pitchFamily="2" charset="-79"/>
                <a:cs typeface="Rubik" pitchFamily="2" charset="-79"/>
              </a:rPr>
            </a:br>
            <a:r>
              <a:rPr lang="he-IL" dirty="0">
                <a:latin typeface="Rubik" pitchFamily="2" charset="-79"/>
                <a:cs typeface="Rubik" pitchFamily="2" charset="-79"/>
              </a:rPr>
              <a:t>ולצאת לדרך עם בסיס מקצועי להמשך תהליך הלמידה. </a:t>
            </a:r>
          </a:p>
          <a:p>
            <a:pPr algn="ctr">
              <a:buNone/>
            </a:pPr>
            <a:r>
              <a:rPr lang="he-IL" dirty="0">
                <a:latin typeface="Rubik" pitchFamily="2" charset="-79"/>
                <a:cs typeface="Rubik" pitchFamily="2" charset="-79"/>
              </a:rPr>
              <a:t>זה הזמן להכיר, לשאול, ולבחור את מה שיסייע לכם ביותר – </a:t>
            </a:r>
            <a:br>
              <a:rPr lang="en-US" dirty="0">
                <a:latin typeface="Rubik" pitchFamily="2" charset="-79"/>
                <a:cs typeface="Rubik" pitchFamily="2" charset="-79"/>
              </a:rPr>
            </a:br>
            <a:r>
              <a:rPr lang="he-IL" dirty="0">
                <a:latin typeface="Rubik" pitchFamily="2" charset="-79"/>
                <a:cs typeface="Rubik" pitchFamily="2" charset="-79"/>
              </a:rPr>
              <a:t>ולהתחיל לייצר השפעה כבר מהיום הראשון.</a:t>
            </a:r>
          </a:p>
          <a:p>
            <a:pPr algn="ctr">
              <a:buNone/>
            </a:pPr>
            <a:endParaRPr lang="he-IL" dirty="0">
              <a:latin typeface="Rubik" pitchFamily="2" charset="-79"/>
              <a:cs typeface="Rubik" pitchFamily="2" charset="-79"/>
            </a:endParaRPr>
          </a:p>
          <a:p>
            <a:pPr algn="ctr">
              <a:buNone/>
            </a:pPr>
            <a:r>
              <a:rPr lang="he-IL" b="1" dirty="0">
                <a:solidFill>
                  <a:srgbClr val="F47221"/>
                </a:solidFill>
                <a:latin typeface="Rubik" pitchFamily="2" charset="-79"/>
                <a:cs typeface="Rubik" pitchFamily="2" charset="-79"/>
              </a:rPr>
              <a:t>בהצלחה!</a:t>
            </a:r>
          </a:p>
        </p:txBody>
      </p:sp>
      <p:pic>
        <p:nvPicPr>
          <p:cNvPr id="6" name="תמונה 5">
            <a:extLst>
              <a:ext uri="{FF2B5EF4-FFF2-40B4-BE49-F238E27FC236}">
                <a16:creationId xmlns:a16="http://schemas.microsoft.com/office/drawing/2014/main" id="{56964946-2130-980C-84E2-939045D43E59}"/>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3275" b="91940" l="2825" r="99209">
                        <a14:foregroundMark x1="87345" y1="17128" x2="87345" y2="17128"/>
                        <a14:foregroundMark x1="60678" y1="16373" x2="60678" y2="16373"/>
                        <a14:foregroundMark x1="58870" y1="3778" x2="58870" y2="3778"/>
                        <a14:foregroundMark x1="46102" y1="17380" x2="46102" y2="17380"/>
                        <a14:foregroundMark x1="36384" y1="17884" x2="36384" y2="17884"/>
                        <a14:foregroundMark x1="40113" y1="16121" x2="40113" y2="16121"/>
                        <a14:foregroundMark x1="23616" y1="11083" x2="23616" y2="11083"/>
                        <a14:foregroundMark x1="25989" y1="31738" x2="25989" y2="31738"/>
                        <a14:foregroundMark x1="10847" y1="31738" x2="10847" y2="31738"/>
                        <a14:foregroundMark x1="2825" y1="52645" x2="2825" y2="52645"/>
                        <a14:foregroundMark x1="18531" y1="92191" x2="18531" y2="92191"/>
                        <a14:foregroundMark x1="85085" y1="67254" x2="85085" y2="67254"/>
                        <a14:foregroundMark x1="50056" y1="58942" x2="50056" y2="58942"/>
                        <a14:foregroundMark x1="89718" y1="34257" x2="89718" y2="34257"/>
                        <a14:foregroundMark x1="99209" y1="47355" x2="99209" y2="47355"/>
                      </a14:backgroundRemoval>
                    </a14:imgEffect>
                  </a14:imgLayer>
                </a14:imgProps>
              </a:ext>
            </a:extLst>
          </a:blip>
          <a:stretch>
            <a:fillRect/>
          </a:stretch>
        </p:blipFill>
        <p:spPr>
          <a:xfrm>
            <a:off x="4473611" y="817877"/>
            <a:ext cx="1157287" cy="519145"/>
          </a:xfrm>
          <a:prstGeom prst="rect">
            <a:avLst/>
          </a:prstGeom>
        </p:spPr>
      </p:pic>
      <p:sp>
        <p:nvSpPr>
          <p:cNvPr id="9" name="מלבן 8">
            <a:extLst>
              <a:ext uri="{FF2B5EF4-FFF2-40B4-BE49-F238E27FC236}">
                <a16:creationId xmlns:a16="http://schemas.microsoft.com/office/drawing/2014/main" id="{06AD70D7-5876-0B72-86B5-3E65A118ADBF}"/>
              </a:ext>
            </a:extLst>
          </p:cNvPr>
          <p:cNvSpPr/>
          <p:nvPr/>
        </p:nvSpPr>
        <p:spPr>
          <a:xfrm>
            <a:off x="30514" y="507413"/>
            <a:ext cx="1836386" cy="15652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הוראות הפקה: חילקתי את הפופ אפ ל2 כדי שלא יהיה עומס טקסט</a:t>
            </a:r>
          </a:p>
        </p:txBody>
      </p:sp>
      <p:sp>
        <p:nvSpPr>
          <p:cNvPr id="8" name="תיבת טקסט 7">
            <a:extLst>
              <a:ext uri="{FF2B5EF4-FFF2-40B4-BE49-F238E27FC236}">
                <a16:creationId xmlns:a16="http://schemas.microsoft.com/office/drawing/2014/main" id="{05951419-B3A4-06AB-61F7-7EEE4EDC8A0F}"/>
              </a:ext>
            </a:extLst>
          </p:cNvPr>
          <p:cNvSpPr txBox="1"/>
          <p:nvPr/>
        </p:nvSpPr>
        <p:spPr>
          <a:xfrm>
            <a:off x="2535859" y="2264485"/>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ברוכים הבאים למאוחדת!</a:t>
            </a:r>
          </a:p>
        </p:txBody>
      </p:sp>
    </p:spTree>
    <p:extLst>
      <p:ext uri="{BB962C8B-B14F-4D97-AF65-F5344CB8AC3E}">
        <p14:creationId xmlns:p14="http://schemas.microsoft.com/office/powerpoint/2010/main" val="1806499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DEF9-B4D7-B1CC-327E-CEFE3E3A0753}"/>
            </a:ext>
          </a:extLst>
        </p:cNvPr>
        <p:cNvGrpSpPr/>
        <p:nvPr/>
      </p:nvGrpSpPr>
      <p:grpSpPr>
        <a:xfrm>
          <a:off x="0" y="0"/>
          <a:ext cx="0" cy="0"/>
          <a:chOff x="0" y="0"/>
          <a:chExt cx="0" cy="0"/>
        </a:xfrm>
      </p:grpSpPr>
      <p:pic>
        <p:nvPicPr>
          <p:cNvPr id="26" name="Picture 25" descr="Blue and orange letters on a black background&#10;&#10;Description automatically generated">
            <a:extLst>
              <a:ext uri="{FF2B5EF4-FFF2-40B4-BE49-F238E27FC236}">
                <a16:creationId xmlns:a16="http://schemas.microsoft.com/office/drawing/2014/main" id="{6C1F1811-2AA5-CA85-B2A4-C311374832A1}"/>
              </a:ext>
            </a:extLst>
          </p:cNvPr>
          <p:cNvPicPr>
            <a:picLocks noChangeAspect="1"/>
          </p:cNvPicPr>
          <p:nvPr/>
        </p:nvPicPr>
        <p:blipFill>
          <a:blip r:embed="rId3"/>
          <a:stretch>
            <a:fillRect/>
          </a:stretch>
        </p:blipFill>
        <p:spPr>
          <a:xfrm>
            <a:off x="346065" y="285170"/>
            <a:ext cx="1336265" cy="308885"/>
          </a:xfrm>
          <a:prstGeom prst="rect">
            <a:avLst/>
          </a:prstGeom>
        </p:spPr>
      </p:pic>
      <p:grpSp>
        <p:nvGrpSpPr>
          <p:cNvPr id="5" name="קבוצה 4">
            <a:extLst>
              <a:ext uri="{FF2B5EF4-FFF2-40B4-BE49-F238E27FC236}">
                <a16:creationId xmlns:a16="http://schemas.microsoft.com/office/drawing/2014/main" id="{525EC898-1AF8-6CB6-AE3E-23F5F56ADF90}"/>
              </a:ext>
            </a:extLst>
          </p:cNvPr>
          <p:cNvGrpSpPr/>
          <p:nvPr/>
        </p:nvGrpSpPr>
        <p:grpSpPr>
          <a:xfrm>
            <a:off x="2602085" y="-342481"/>
            <a:ext cx="6987830" cy="2356478"/>
            <a:chOff x="-1641885" y="583492"/>
            <a:chExt cx="16208515" cy="5465933"/>
          </a:xfrm>
        </p:grpSpPr>
        <p:sp>
          <p:nvSpPr>
            <p:cNvPr id="32" name="Oval 1">
              <a:extLst>
                <a:ext uri="{FF2B5EF4-FFF2-40B4-BE49-F238E27FC236}">
                  <a16:creationId xmlns:a16="http://schemas.microsoft.com/office/drawing/2014/main" id="{B8E0A527-D2D0-3496-34AB-6A55C60865F9}"/>
                </a:ext>
              </a:extLst>
            </p:cNvPr>
            <p:cNvSpPr/>
            <p:nvPr/>
          </p:nvSpPr>
          <p:spPr>
            <a:xfrm rot="12505892">
              <a:off x="10117537" y="1609501"/>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8" name="Oval 27">
              <a:extLst>
                <a:ext uri="{FF2B5EF4-FFF2-40B4-BE49-F238E27FC236}">
                  <a16:creationId xmlns:a16="http://schemas.microsoft.com/office/drawing/2014/main" id="{4A1E0E74-D3FC-317D-685C-13E6B57B29AC}"/>
                </a:ext>
              </a:extLst>
            </p:cNvPr>
            <p:cNvSpPr/>
            <p:nvPr/>
          </p:nvSpPr>
          <p:spPr>
            <a:xfrm>
              <a:off x="7788937" y="2014065"/>
              <a:ext cx="3689391" cy="2974526"/>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8" name="Oval 1">
              <a:extLst>
                <a:ext uri="{FF2B5EF4-FFF2-40B4-BE49-F238E27FC236}">
                  <a16:creationId xmlns:a16="http://schemas.microsoft.com/office/drawing/2014/main" id="{2BB348F0-D77F-40A0-E4AF-E3BD9EB4C9A4}"/>
                </a:ext>
              </a:extLst>
            </p:cNvPr>
            <p:cNvSpPr/>
            <p:nvPr/>
          </p:nvSpPr>
          <p:spPr>
            <a:xfrm rot="15870939">
              <a:off x="3532036" y="207907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3" name="Oval 1">
              <a:extLst>
                <a:ext uri="{FF2B5EF4-FFF2-40B4-BE49-F238E27FC236}">
                  <a16:creationId xmlns:a16="http://schemas.microsoft.com/office/drawing/2014/main" id="{6F8E4E97-0997-07B1-FA47-F85233419FF4}"/>
                </a:ext>
              </a:extLst>
            </p:cNvPr>
            <p:cNvSpPr/>
            <p:nvPr/>
          </p:nvSpPr>
          <p:spPr>
            <a:xfrm rot="15870939">
              <a:off x="9886568" y="2866555"/>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7" name="Oval 1">
              <a:extLst>
                <a:ext uri="{FF2B5EF4-FFF2-40B4-BE49-F238E27FC236}">
                  <a16:creationId xmlns:a16="http://schemas.microsoft.com/office/drawing/2014/main" id="{350BF3A7-13AC-729C-7020-134CAF45F206}"/>
                </a:ext>
              </a:extLst>
            </p:cNvPr>
            <p:cNvSpPr/>
            <p:nvPr/>
          </p:nvSpPr>
          <p:spPr>
            <a:xfrm rot="12505892">
              <a:off x="-1349039" y="1700940"/>
              <a:ext cx="4449093" cy="3148087"/>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0">
                  <a:srgbClr val="FDC527">
                    <a:alpha val="83534"/>
                  </a:srgbClr>
                </a:gs>
                <a:gs pos="79000">
                  <a:srgbClr val="F8B853">
                    <a:alpha val="8288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5" name="Oval 14">
              <a:extLst>
                <a:ext uri="{FF2B5EF4-FFF2-40B4-BE49-F238E27FC236}">
                  <a16:creationId xmlns:a16="http://schemas.microsoft.com/office/drawing/2014/main" id="{D9D0A870-50EB-BB13-7962-B0CE9A45D503}"/>
                </a:ext>
              </a:extLst>
            </p:cNvPr>
            <p:cNvSpPr/>
            <p:nvPr/>
          </p:nvSpPr>
          <p:spPr>
            <a:xfrm>
              <a:off x="10760350" y="4253702"/>
              <a:ext cx="535660" cy="646331"/>
            </a:xfrm>
            <a:prstGeom prst="ellipse">
              <a:avLst/>
            </a:prstGeom>
            <a:solidFill>
              <a:srgbClr val="2DB2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6" name="Oval 15">
              <a:extLst>
                <a:ext uri="{FF2B5EF4-FFF2-40B4-BE49-F238E27FC236}">
                  <a16:creationId xmlns:a16="http://schemas.microsoft.com/office/drawing/2014/main" id="{333E2D78-2413-E9B8-E466-90E04F13106A}"/>
                </a:ext>
              </a:extLst>
            </p:cNvPr>
            <p:cNvSpPr/>
            <p:nvPr/>
          </p:nvSpPr>
          <p:spPr>
            <a:xfrm>
              <a:off x="10606792" y="1751255"/>
              <a:ext cx="535660" cy="646331"/>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4" name="Oval 1">
              <a:extLst>
                <a:ext uri="{FF2B5EF4-FFF2-40B4-BE49-F238E27FC236}">
                  <a16:creationId xmlns:a16="http://schemas.microsoft.com/office/drawing/2014/main" id="{66CC9AF1-106A-B7D4-0FEB-30156E5D8C46}"/>
                </a:ext>
              </a:extLst>
            </p:cNvPr>
            <p:cNvSpPr/>
            <p:nvPr/>
          </p:nvSpPr>
          <p:spPr>
            <a:xfrm>
              <a:off x="-586717" y="1236944"/>
              <a:ext cx="4833707" cy="342023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3" name="Oval 1">
              <a:extLst>
                <a:ext uri="{FF2B5EF4-FFF2-40B4-BE49-F238E27FC236}">
                  <a16:creationId xmlns:a16="http://schemas.microsoft.com/office/drawing/2014/main" id="{B07E18CF-5189-B2B8-D7E1-2C42BED87B3E}"/>
                </a:ext>
              </a:extLst>
            </p:cNvPr>
            <p:cNvSpPr/>
            <p:nvPr/>
          </p:nvSpPr>
          <p:spPr>
            <a:xfrm>
              <a:off x="2763335" y="583492"/>
              <a:ext cx="6594413" cy="5267562"/>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 name="connsiteX0" fmla="*/ 3796 w 3407396"/>
                <a:gd name="connsiteY0" fmla="*/ 1341885 h 2697430"/>
                <a:gd name="connsiteX1" fmla="*/ 1706197 w 3407396"/>
                <a:gd name="connsiteY1" fmla="*/ 600838 h 2697430"/>
                <a:gd name="connsiteX2" fmla="*/ 3407396 w 3407396"/>
                <a:gd name="connsiteY2" fmla="*/ 605285 h 2697430"/>
                <a:gd name="connsiteX3" fmla="*/ 2188196 w 3407396"/>
                <a:gd name="connsiteY3" fmla="*/ 2688085 h 2697430"/>
                <a:gd name="connsiteX4" fmla="*/ 3796 w 3407396"/>
                <a:gd name="connsiteY4" fmla="*/ 1341885 h 2697430"/>
                <a:gd name="connsiteX0" fmla="*/ 7945 w 3411545"/>
                <a:gd name="connsiteY0" fmla="*/ 1341885 h 2699587"/>
                <a:gd name="connsiteX1" fmla="*/ 1710346 w 3411545"/>
                <a:gd name="connsiteY1" fmla="*/ 600838 h 2699587"/>
                <a:gd name="connsiteX2" fmla="*/ 3411545 w 3411545"/>
                <a:gd name="connsiteY2" fmla="*/ 605285 h 2699587"/>
                <a:gd name="connsiteX3" fmla="*/ 2192345 w 3411545"/>
                <a:gd name="connsiteY3" fmla="*/ 2688085 h 2699587"/>
                <a:gd name="connsiteX4" fmla="*/ 7945 w 3411545"/>
                <a:gd name="connsiteY4" fmla="*/ 1341885 h 269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545" h="2699587">
                  <a:moveTo>
                    <a:pt x="7945" y="1341885"/>
                  </a:moveTo>
                  <a:cubicBezTo>
                    <a:pt x="-111335" y="760468"/>
                    <a:pt x="1143079" y="723605"/>
                    <a:pt x="1710346" y="600838"/>
                  </a:cubicBezTo>
                  <a:cubicBezTo>
                    <a:pt x="2277613" y="478071"/>
                    <a:pt x="3144845" y="-690193"/>
                    <a:pt x="3411545" y="605285"/>
                  </a:cubicBezTo>
                  <a:cubicBezTo>
                    <a:pt x="3411545" y="1545163"/>
                    <a:pt x="2759612" y="2565318"/>
                    <a:pt x="2192345" y="2688085"/>
                  </a:cubicBezTo>
                  <a:cubicBezTo>
                    <a:pt x="1625078" y="2810852"/>
                    <a:pt x="127225" y="1923302"/>
                    <a:pt x="7945" y="1341885"/>
                  </a:cubicBezTo>
                  <a:close/>
                </a:path>
              </a:pathLst>
            </a:cu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תיבת טקסט 1">
              <a:extLst>
                <a:ext uri="{FF2B5EF4-FFF2-40B4-BE49-F238E27FC236}">
                  <a16:creationId xmlns:a16="http://schemas.microsoft.com/office/drawing/2014/main" id="{C2AA743A-47AE-DB6D-A318-DD149C057769}"/>
                </a:ext>
              </a:extLst>
            </p:cNvPr>
            <p:cNvSpPr txBox="1"/>
            <p:nvPr/>
          </p:nvSpPr>
          <p:spPr>
            <a:xfrm>
              <a:off x="3797591" y="2397586"/>
              <a:ext cx="4876272" cy="2213085"/>
            </a:xfrm>
            <a:prstGeom prst="rect">
              <a:avLst/>
            </a:prstGeom>
            <a:noFill/>
          </p:spPr>
          <p:txBody>
            <a:bodyPr wrap="square" rtlCol="0">
              <a:spAutoFit/>
            </a:bodyPr>
            <a:lstStyle/>
            <a:p>
              <a:pPr algn="ctr"/>
              <a:r>
                <a:rPr lang="he-IL" sz="2800" dirty="0">
                  <a:solidFill>
                    <a:schemeClr val="bg1"/>
                  </a:solidFill>
                  <a:latin typeface="Rubik Black" pitchFamily="2" charset="-79"/>
                  <a:cs typeface="Rubik Black" pitchFamily="2" charset="-79"/>
                </a:rPr>
                <a:t>מרכז הניהול במאוחדת</a:t>
              </a:r>
              <a:endParaRPr lang="LID4096" sz="2800" dirty="0">
                <a:solidFill>
                  <a:schemeClr val="bg1"/>
                </a:solidFill>
                <a:latin typeface="Rubik Black" pitchFamily="2" charset="-79"/>
                <a:cs typeface="Rubik Black" pitchFamily="2" charset="-79"/>
              </a:endParaRPr>
            </a:p>
          </p:txBody>
        </p:sp>
        <p:sp>
          <p:nvSpPr>
            <p:cNvPr id="33" name="Oval 32">
              <a:extLst>
                <a:ext uri="{FF2B5EF4-FFF2-40B4-BE49-F238E27FC236}">
                  <a16:creationId xmlns:a16="http://schemas.microsoft.com/office/drawing/2014/main" id="{11DB985A-7EAD-378E-3694-23F29E6398B1}"/>
                </a:ext>
              </a:extLst>
            </p:cNvPr>
            <p:cNvSpPr/>
            <p:nvPr/>
          </p:nvSpPr>
          <p:spPr>
            <a:xfrm>
              <a:off x="1640509" y="2008561"/>
              <a:ext cx="747346" cy="901753"/>
            </a:xfrm>
            <a:prstGeom prst="ellipse">
              <a:avLst/>
            </a:prstGeom>
            <a:gradFill flip="none" rotWithShape="1">
              <a:gsLst>
                <a:gs pos="0">
                  <a:srgbClr val="2DB2CD"/>
                </a:gs>
                <a:gs pos="100000">
                  <a:srgbClr val="283A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IL"/>
            </a:p>
          </p:txBody>
        </p:sp>
        <p:sp>
          <p:nvSpPr>
            <p:cNvPr id="35" name="Oval 1">
              <a:extLst>
                <a:ext uri="{FF2B5EF4-FFF2-40B4-BE49-F238E27FC236}">
                  <a16:creationId xmlns:a16="http://schemas.microsoft.com/office/drawing/2014/main" id="{9CB327F1-E901-10C2-24BC-9EDAD87D0836}"/>
                </a:ext>
              </a:extLst>
            </p:cNvPr>
            <p:cNvSpPr/>
            <p:nvPr/>
          </p:nvSpPr>
          <p:spPr>
            <a:xfrm rot="15870939">
              <a:off x="-1817571" y="1406723"/>
              <a:ext cx="3358556" cy="3007183"/>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sp>
        <p:nvSpPr>
          <p:cNvPr id="10" name="תיבת טקסט 9">
            <a:extLst>
              <a:ext uri="{FF2B5EF4-FFF2-40B4-BE49-F238E27FC236}">
                <a16:creationId xmlns:a16="http://schemas.microsoft.com/office/drawing/2014/main" id="{5C6AE681-D8F8-D34B-EF7D-5947899CEBBD}"/>
              </a:ext>
            </a:extLst>
          </p:cNvPr>
          <p:cNvSpPr txBox="1"/>
          <p:nvPr/>
        </p:nvSpPr>
        <p:spPr>
          <a:xfrm>
            <a:off x="2567167" y="2415726"/>
            <a:ext cx="7057663" cy="338554"/>
          </a:xfrm>
          <a:prstGeom prst="rect">
            <a:avLst/>
          </a:prstGeom>
          <a:noFill/>
        </p:spPr>
        <p:txBody>
          <a:bodyPr wrap="square">
            <a:spAutoFit/>
          </a:bodyPr>
          <a:lstStyle/>
          <a:p>
            <a:pPr algn="ctr">
              <a:buNone/>
            </a:pPr>
            <a:r>
              <a:rPr lang="he-IL" sz="1600" dirty="0">
                <a:latin typeface="Rubik" pitchFamily="2" charset="-79"/>
                <a:cs typeface="Rubik" pitchFamily="2" charset="-79"/>
              </a:rPr>
              <a:t>לחצו על כל נושא להרחבה</a:t>
            </a:r>
          </a:p>
        </p:txBody>
      </p:sp>
      <p:sp>
        <p:nvSpPr>
          <p:cNvPr id="6" name="מלבן: פינות מעוגלות 5">
            <a:extLst>
              <a:ext uri="{FF2B5EF4-FFF2-40B4-BE49-F238E27FC236}">
                <a16:creationId xmlns:a16="http://schemas.microsoft.com/office/drawing/2014/main" id="{5E122B47-2436-3D32-1D04-93CF0A2ADE7A}"/>
              </a:ext>
            </a:extLst>
          </p:cNvPr>
          <p:cNvSpPr/>
          <p:nvPr/>
        </p:nvSpPr>
        <p:spPr>
          <a:xfrm>
            <a:off x="9311833" y="3196271"/>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מודל הניהול והמנהיגות</a:t>
            </a:r>
            <a:endParaRPr lang="LID4096" dirty="0">
              <a:solidFill>
                <a:schemeClr val="bg1"/>
              </a:solidFill>
              <a:latin typeface="Rubik" pitchFamily="2" charset="-79"/>
              <a:cs typeface="Rubik" pitchFamily="2" charset="-79"/>
            </a:endParaRPr>
          </a:p>
        </p:txBody>
      </p:sp>
      <p:sp>
        <p:nvSpPr>
          <p:cNvPr id="11" name="מלבן: פינות מעוגלות 10">
            <a:extLst>
              <a:ext uri="{FF2B5EF4-FFF2-40B4-BE49-F238E27FC236}">
                <a16:creationId xmlns:a16="http://schemas.microsoft.com/office/drawing/2014/main" id="{59FCD1DC-A907-7076-9700-C870F9287ED1}"/>
              </a:ext>
            </a:extLst>
          </p:cNvPr>
          <p:cNvSpPr/>
          <p:nvPr/>
        </p:nvSpPr>
        <p:spPr>
          <a:xfrm>
            <a:off x="6368156" y="3196271"/>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he-IL" dirty="0">
                <a:solidFill>
                  <a:schemeClr val="bg1"/>
                </a:solidFill>
                <a:latin typeface="Rubik" pitchFamily="2" charset="-79"/>
                <a:cs typeface="Rubik" pitchFamily="2" charset="-79"/>
              </a:rPr>
              <a:t>אסטרטגיית מאוחדת</a:t>
            </a:r>
            <a:endParaRPr lang="LID4096" dirty="0">
              <a:solidFill>
                <a:schemeClr val="bg1"/>
              </a:solidFill>
              <a:latin typeface="Rubik" pitchFamily="2" charset="-79"/>
              <a:cs typeface="Rubik" pitchFamily="2" charset="-79"/>
            </a:endParaRPr>
          </a:p>
        </p:txBody>
      </p:sp>
      <p:sp>
        <p:nvSpPr>
          <p:cNvPr id="12" name="מלבן: פינות מעוגלות 11">
            <a:extLst>
              <a:ext uri="{FF2B5EF4-FFF2-40B4-BE49-F238E27FC236}">
                <a16:creationId xmlns:a16="http://schemas.microsoft.com/office/drawing/2014/main" id="{B1D77508-4E4C-29AC-D819-6C568E5F90BC}"/>
              </a:ext>
            </a:extLst>
          </p:cNvPr>
          <p:cNvSpPr/>
          <p:nvPr/>
        </p:nvSpPr>
        <p:spPr>
          <a:xfrm>
            <a:off x="3424479" y="3196271"/>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תכנית העבודה שלי</a:t>
            </a:r>
            <a:endParaRPr lang="LID4096" dirty="0">
              <a:solidFill>
                <a:schemeClr val="bg1"/>
              </a:solidFill>
              <a:latin typeface="Rubik" pitchFamily="2" charset="-79"/>
              <a:cs typeface="Rubik" pitchFamily="2" charset="-79"/>
            </a:endParaRPr>
          </a:p>
        </p:txBody>
      </p:sp>
      <p:sp>
        <p:nvSpPr>
          <p:cNvPr id="14" name="מלבן: פינות מעוגלות 13">
            <a:extLst>
              <a:ext uri="{FF2B5EF4-FFF2-40B4-BE49-F238E27FC236}">
                <a16:creationId xmlns:a16="http://schemas.microsoft.com/office/drawing/2014/main" id="{83AC8300-045F-6573-0E74-57E2AC1F3F40}"/>
              </a:ext>
            </a:extLst>
          </p:cNvPr>
          <p:cNvSpPr/>
          <p:nvPr/>
        </p:nvSpPr>
        <p:spPr>
          <a:xfrm>
            <a:off x="7775133" y="5048659"/>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he-IL" dirty="0">
                <a:solidFill>
                  <a:schemeClr val="bg1"/>
                </a:solidFill>
                <a:latin typeface="Rubik" pitchFamily="2" charset="-79"/>
                <a:cs typeface="Rubik" pitchFamily="2" charset="-79"/>
              </a:rPr>
              <a:t>הערכת ביצועים</a:t>
            </a:r>
            <a:endParaRPr lang="LID4096" dirty="0">
              <a:solidFill>
                <a:schemeClr val="bg1"/>
              </a:solidFill>
              <a:latin typeface="Rubik" pitchFamily="2" charset="-79"/>
              <a:cs typeface="Rubik" pitchFamily="2" charset="-79"/>
            </a:endParaRPr>
          </a:p>
        </p:txBody>
      </p:sp>
      <p:sp>
        <p:nvSpPr>
          <p:cNvPr id="17" name="מלבן: פינות מעוגלות 16">
            <a:extLst>
              <a:ext uri="{FF2B5EF4-FFF2-40B4-BE49-F238E27FC236}">
                <a16:creationId xmlns:a16="http://schemas.microsoft.com/office/drawing/2014/main" id="{792887E7-449A-0A5A-F803-70C5CE863927}"/>
              </a:ext>
            </a:extLst>
          </p:cNvPr>
          <p:cNvSpPr/>
          <p:nvPr/>
        </p:nvSpPr>
        <p:spPr>
          <a:xfrm>
            <a:off x="4774070" y="5048659"/>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ניהול מבוסס נתונים</a:t>
            </a:r>
            <a:endParaRPr lang="LID4096" dirty="0">
              <a:solidFill>
                <a:schemeClr val="bg1"/>
              </a:solidFill>
              <a:latin typeface="Rubik" pitchFamily="2" charset="-79"/>
              <a:cs typeface="Rubik" pitchFamily="2" charset="-79"/>
            </a:endParaRPr>
          </a:p>
        </p:txBody>
      </p:sp>
      <p:sp>
        <p:nvSpPr>
          <p:cNvPr id="19" name="מלבן: פינות מעוגלות 18">
            <a:extLst>
              <a:ext uri="{FF2B5EF4-FFF2-40B4-BE49-F238E27FC236}">
                <a16:creationId xmlns:a16="http://schemas.microsoft.com/office/drawing/2014/main" id="{C357C3DA-8115-D782-7CBB-E8AC4A62017D}"/>
              </a:ext>
            </a:extLst>
          </p:cNvPr>
          <p:cNvSpPr/>
          <p:nvPr/>
        </p:nvSpPr>
        <p:spPr>
          <a:xfrm>
            <a:off x="1773007" y="5048659"/>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כלי </a:t>
            </a:r>
            <a:r>
              <a:rPr lang="en-US" dirty="0">
                <a:solidFill>
                  <a:schemeClr val="bg1"/>
                </a:solidFill>
                <a:latin typeface="Rubik" pitchFamily="2" charset="-79"/>
                <a:cs typeface="Rubik" pitchFamily="2" charset="-79"/>
              </a:rPr>
              <a:t>AI</a:t>
            </a:r>
            <a:r>
              <a:rPr lang="he-IL" dirty="0">
                <a:solidFill>
                  <a:schemeClr val="bg1"/>
                </a:solidFill>
                <a:latin typeface="Rubik" pitchFamily="2" charset="-79"/>
                <a:cs typeface="Rubik" pitchFamily="2" charset="-79"/>
              </a:rPr>
              <a:t> לשיפור העבודה היומיומית</a:t>
            </a:r>
            <a:endParaRPr lang="LID4096" dirty="0">
              <a:solidFill>
                <a:schemeClr val="bg1"/>
              </a:solidFill>
              <a:latin typeface="Rubik" pitchFamily="2" charset="-79"/>
              <a:cs typeface="Rubik" pitchFamily="2" charset="-79"/>
            </a:endParaRPr>
          </a:p>
        </p:txBody>
      </p:sp>
      <p:sp>
        <p:nvSpPr>
          <p:cNvPr id="39" name="מלבן: פינות מעוגלות 38">
            <a:extLst>
              <a:ext uri="{FF2B5EF4-FFF2-40B4-BE49-F238E27FC236}">
                <a16:creationId xmlns:a16="http://schemas.microsoft.com/office/drawing/2014/main" id="{CDCDAE5C-CD54-CBC9-97F9-B907E7DC2752}"/>
              </a:ext>
            </a:extLst>
          </p:cNvPr>
          <p:cNvSpPr/>
          <p:nvPr/>
        </p:nvSpPr>
        <p:spPr>
          <a:xfrm>
            <a:off x="480802" y="3196271"/>
            <a:ext cx="2464355" cy="68124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יסודות הרכש</a:t>
            </a:r>
            <a:endParaRPr lang="LID4096" dirty="0">
              <a:solidFill>
                <a:schemeClr val="bg1"/>
              </a:solidFill>
              <a:latin typeface="Rubik" pitchFamily="2" charset="-79"/>
              <a:cs typeface="Rubik" pitchFamily="2" charset="-79"/>
            </a:endParaRPr>
          </a:p>
        </p:txBody>
      </p:sp>
    </p:spTree>
    <p:extLst>
      <p:ext uri="{BB962C8B-B14F-4D97-AF65-F5344CB8AC3E}">
        <p14:creationId xmlns:p14="http://schemas.microsoft.com/office/powerpoint/2010/main" val="187687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תיבת טקסט 23">
            <a:extLst>
              <a:ext uri="{FF2B5EF4-FFF2-40B4-BE49-F238E27FC236}">
                <a16:creationId xmlns:a16="http://schemas.microsoft.com/office/drawing/2014/main" id="{624C53F1-7C30-2424-70A1-34C249CB4AAD}"/>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מודל הניהול והמנהיגות של מאוחדת</a:t>
            </a:r>
          </a:p>
        </p:txBody>
      </p:sp>
      <p:sp>
        <p:nvSpPr>
          <p:cNvPr id="2" name="תיבת טקסט 1">
            <a:extLst>
              <a:ext uri="{FF2B5EF4-FFF2-40B4-BE49-F238E27FC236}">
                <a16:creationId xmlns:a16="http://schemas.microsoft.com/office/drawing/2014/main" id="{E2F3C76D-4A8A-DFFA-ACBC-EC1ED836BABD}"/>
              </a:ext>
            </a:extLst>
          </p:cNvPr>
          <p:cNvSpPr txBox="1"/>
          <p:nvPr/>
        </p:nvSpPr>
        <p:spPr>
          <a:xfrm>
            <a:off x="2406770" y="1288473"/>
            <a:ext cx="9427800" cy="4062651"/>
          </a:xfrm>
          <a:prstGeom prst="rect">
            <a:avLst/>
          </a:prstGeom>
          <a:noFill/>
        </p:spPr>
        <p:txBody>
          <a:bodyPr wrap="square" rtlCol="0">
            <a:spAutoFit/>
          </a:bodyPr>
          <a:lstStyle/>
          <a:p>
            <a:pPr>
              <a:lnSpc>
                <a:spcPct val="150000"/>
              </a:lnSpc>
            </a:pPr>
            <a:r>
              <a:rPr lang="he-IL" sz="2000" b="1" i="0" dirty="0">
                <a:effectLst/>
                <a:latin typeface="Rubik" pitchFamily="2" charset="-79"/>
                <a:cs typeface="Rubik" pitchFamily="2" charset="-79"/>
              </a:rPr>
              <a:t>המודל נבנה על ידי הארגון והוא מגדיר את הציפייה הארגונית ממנהל במאוחדת.</a:t>
            </a:r>
            <a:endParaRPr lang="he-IL" sz="2000" b="0" i="0" dirty="0">
              <a:effectLst/>
              <a:latin typeface="Rubik" pitchFamily="2" charset="-79"/>
              <a:cs typeface="Rubik" pitchFamily="2" charset="-79"/>
            </a:endParaRPr>
          </a:p>
          <a:p>
            <a:pPr>
              <a:lnSpc>
                <a:spcPct val="150000"/>
              </a:lnSpc>
            </a:pPr>
            <a:r>
              <a:rPr lang="he-IL" sz="2000" b="0" i="0" dirty="0">
                <a:effectLst/>
                <a:latin typeface="Rubik" pitchFamily="2" charset="-79"/>
                <a:cs typeface="Rubik" pitchFamily="2" charset="-79"/>
              </a:rPr>
              <a:t>המודל מבוסס על </a:t>
            </a:r>
            <a:r>
              <a:rPr lang="he-IL" sz="2000" b="1" i="0" dirty="0">
                <a:effectLst/>
                <a:latin typeface="Rubik" pitchFamily="2" charset="-79"/>
                <a:cs typeface="Rubik" pitchFamily="2" charset="-79"/>
              </a:rPr>
              <a:t>4 מרכיבים משלימים</a:t>
            </a:r>
            <a:r>
              <a:rPr lang="he-IL" sz="2000" b="0" i="0" dirty="0">
                <a:effectLst/>
                <a:latin typeface="Rubik" pitchFamily="2" charset="-79"/>
                <a:cs typeface="Rubik" pitchFamily="2" charset="-79"/>
              </a:rPr>
              <a:t>, שיחד יוצרים מנהיגות אפקטיבית, מובילה ומחוברת.</a:t>
            </a:r>
          </a:p>
          <a:p>
            <a:pPr>
              <a:lnSpc>
                <a:spcPct val="150000"/>
              </a:lnSpc>
            </a:pPr>
            <a:r>
              <a:rPr lang="he-IL" sz="2000" dirty="0">
                <a:latin typeface="Rubik" pitchFamily="2" charset="-79"/>
                <a:cs typeface="Rubik" pitchFamily="2" charset="-79"/>
              </a:rPr>
              <a:t>כלומר, הניהול במאוחדת נשען על שילוב בין כל המרכיבים — לא על אחד בלבד. כך נבנית מנהיגות משותפת ומצליחה בארגון!</a:t>
            </a:r>
          </a:p>
          <a:p>
            <a:pPr>
              <a:lnSpc>
                <a:spcPct val="150000"/>
              </a:lnSpc>
            </a:pPr>
            <a:endParaRPr lang="he-IL" sz="2000" dirty="0">
              <a:latin typeface="Rubik" pitchFamily="2" charset="-79"/>
              <a:cs typeface="Rubik" pitchFamily="2" charset="-79"/>
            </a:endParaRPr>
          </a:p>
          <a:p>
            <a:r>
              <a:rPr lang="he-IL" sz="2000" dirty="0">
                <a:latin typeface="Rubik" pitchFamily="2" charset="-79"/>
                <a:cs typeface="Rubik" pitchFamily="2" charset="-79"/>
              </a:rPr>
              <a:t>המודל נועד ליצור שפה ניהולית אחידה ולהוות בסיס משותף לאופן שבו אנו מובילים אנשים, תהליכים ותוצאות בארגון. </a:t>
            </a:r>
          </a:p>
          <a:p>
            <a:r>
              <a:rPr lang="he-IL" sz="2000" dirty="0">
                <a:latin typeface="Rubik" pitchFamily="2" charset="-79"/>
                <a:cs typeface="Rubik" pitchFamily="2" charset="-79"/>
              </a:rPr>
              <a:t>המודל מהווה תשתית תומכת למגוון תהליכים בארגון, כמו למשל: תהליכי גיוס ומיון, </a:t>
            </a:r>
            <a:r>
              <a:rPr lang="he-IL" sz="2000" dirty="0" err="1">
                <a:latin typeface="Rubik" pitchFamily="2" charset="-79"/>
                <a:cs typeface="Rubik" pitchFamily="2" charset="-79"/>
              </a:rPr>
              <a:t>תכניות</a:t>
            </a:r>
            <a:r>
              <a:rPr lang="he-IL" sz="2000" dirty="0">
                <a:latin typeface="Rubik" pitchFamily="2" charset="-79"/>
                <a:cs typeface="Rubik" pitchFamily="2" charset="-79"/>
              </a:rPr>
              <a:t> פיתוח מנהלים,  הערכה ועתודה, כמו כן, תוכלו להשתמש במודל גם ככלי לאבחון עצמי.</a:t>
            </a:r>
          </a:p>
          <a:p>
            <a:endParaRPr lang="he-IL" sz="2800" dirty="0">
              <a:latin typeface="Rubik" pitchFamily="2" charset="-79"/>
              <a:cs typeface="Rubik" pitchFamily="2" charset="-79"/>
            </a:endParaRPr>
          </a:p>
        </p:txBody>
      </p:sp>
      <p:sp>
        <p:nvSpPr>
          <p:cNvPr id="3" name="Oval 27">
            <a:extLst>
              <a:ext uri="{FF2B5EF4-FFF2-40B4-BE49-F238E27FC236}">
                <a16:creationId xmlns:a16="http://schemas.microsoft.com/office/drawing/2014/main" id="{4476AF9E-E273-C7C2-99D5-2448641BC178}"/>
              </a:ext>
            </a:extLst>
          </p:cNvPr>
          <p:cNvSpPr/>
          <p:nvPr/>
        </p:nvSpPr>
        <p:spPr>
          <a:xfrm>
            <a:off x="6715252" y="5569527"/>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מלבן: פינות מעוגלות 9">
            <a:extLst>
              <a:ext uri="{FF2B5EF4-FFF2-40B4-BE49-F238E27FC236}">
                <a16:creationId xmlns:a16="http://schemas.microsoft.com/office/drawing/2014/main" id="{7F291695-6C64-9D08-FB49-71D08DC96F9E}"/>
              </a:ext>
            </a:extLst>
          </p:cNvPr>
          <p:cNvSpPr/>
          <p:nvPr/>
        </p:nvSpPr>
        <p:spPr>
          <a:xfrm>
            <a:off x="3977017" y="5784518"/>
            <a:ext cx="3527745"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לחצו לצפייה במודל המנהיגות</a:t>
            </a:r>
            <a:endParaRPr lang="LID4096" dirty="0">
              <a:solidFill>
                <a:schemeClr val="bg1"/>
              </a:solidFill>
              <a:latin typeface="Rubik" pitchFamily="2" charset="-79"/>
              <a:cs typeface="Rubik" pitchFamily="2" charset="-79"/>
            </a:endParaRPr>
          </a:p>
        </p:txBody>
      </p:sp>
    </p:spTree>
    <p:extLst>
      <p:ext uri="{BB962C8B-B14F-4D97-AF65-F5344CB8AC3E}">
        <p14:creationId xmlns:p14="http://schemas.microsoft.com/office/powerpoint/2010/main" val="209330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תמונה 2">
            <a:extLst>
              <a:ext uri="{FF2B5EF4-FFF2-40B4-BE49-F238E27FC236}">
                <a16:creationId xmlns:a16="http://schemas.microsoft.com/office/drawing/2014/main" id="{9278013E-3610-21FD-DA83-508947AA04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175"/>
            <a:ext cx="12192000" cy="6858000"/>
          </a:xfrm>
          <a:prstGeom prst="rect">
            <a:avLst/>
          </a:prstGeom>
        </p:spPr>
      </p:pic>
      <p:pic>
        <p:nvPicPr>
          <p:cNvPr id="30" name="Picture 29">
            <a:extLst>
              <a:ext uri="{FF2B5EF4-FFF2-40B4-BE49-F238E27FC236}">
                <a16:creationId xmlns:a16="http://schemas.microsoft.com/office/drawing/2014/main" id="{4F50E1F6-A7A0-FFF4-3A40-3670E5C910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3661" y="1161906"/>
            <a:ext cx="4235228" cy="4155318"/>
          </a:xfrm>
          <a:prstGeom prst="rect">
            <a:avLst/>
          </a:prstGeom>
          <a:effectLst>
            <a:outerShdw blurRad="50800" dist="50800" dir="5400000" algn="ctr" rotWithShape="0">
              <a:srgbClr val="000000">
                <a:alpha val="13327"/>
              </a:srgbClr>
            </a:outerShdw>
          </a:effectLst>
        </p:spPr>
      </p:pic>
      <p:sp>
        <p:nvSpPr>
          <p:cNvPr id="2" name="תיבת טקסט 51">
            <a:extLst>
              <a:ext uri="{FF2B5EF4-FFF2-40B4-BE49-F238E27FC236}">
                <a16:creationId xmlns:a16="http://schemas.microsoft.com/office/drawing/2014/main" id="{AFA91CE0-C8F0-4714-BF4E-B7C14E5DDFFE}"/>
              </a:ext>
            </a:extLst>
          </p:cNvPr>
          <p:cNvSpPr txBox="1"/>
          <p:nvPr/>
        </p:nvSpPr>
        <p:spPr>
          <a:xfrm>
            <a:off x="6728792" y="320176"/>
            <a:ext cx="5224258" cy="501676"/>
          </a:xfrm>
          <a:prstGeom prst="rect">
            <a:avLst/>
          </a:prstGeom>
          <a:noFill/>
        </p:spPr>
        <p:txBody>
          <a:bodyPr wrap="square">
            <a:spAutoFit/>
          </a:bodyPr>
          <a:lstStyle/>
          <a:p>
            <a:pPr marR="0" lvl="0" indent="0" fontAlgn="auto">
              <a:lnSpc>
                <a:spcPct val="60000"/>
              </a:lnSpc>
              <a:spcBef>
                <a:spcPts val="0"/>
              </a:spcBef>
              <a:spcAft>
                <a:spcPts val="0"/>
              </a:spcAft>
              <a:buClrTx/>
              <a:buSzTx/>
              <a:buFontTx/>
              <a:buNone/>
              <a:tabLst/>
              <a:defRPr/>
            </a:pPr>
            <a:r>
              <a:rPr lang="he-IL" sz="3800" dirty="0">
                <a:solidFill>
                  <a:srgbClr val="223A8C"/>
                </a:solidFill>
                <a:latin typeface="Ploni ML v2 AAA" panose="00000500000000000000" pitchFamily="50" charset="-79"/>
                <a:cs typeface="Ploni ML v2 AAA" panose="00000500000000000000" pitchFamily="50" charset="-79"/>
              </a:rPr>
              <a:t>מודל ניהול</a:t>
            </a:r>
            <a:r>
              <a:rPr lang="en-US" sz="3800" dirty="0">
                <a:solidFill>
                  <a:srgbClr val="223A8C"/>
                </a:solidFill>
                <a:latin typeface="Ploni ML v2 AAA" panose="00000500000000000000" pitchFamily="50" charset="-79"/>
                <a:cs typeface="Ploni ML v2 AAA" panose="00000500000000000000" pitchFamily="50" charset="-79"/>
              </a:rPr>
              <a:t> </a:t>
            </a:r>
            <a:r>
              <a:rPr lang="he-IL" sz="3800" dirty="0">
                <a:solidFill>
                  <a:srgbClr val="223A8C"/>
                </a:solidFill>
                <a:latin typeface="Ploni ML v2 AAA" panose="00000500000000000000" pitchFamily="50" charset="-79"/>
                <a:cs typeface="Ploni ML v2 AAA" panose="00000500000000000000" pitchFamily="50" charset="-79"/>
              </a:rPr>
              <a:t>ומנהיגות</a:t>
            </a:r>
          </a:p>
        </p:txBody>
      </p:sp>
      <p:sp>
        <p:nvSpPr>
          <p:cNvPr id="11" name="תיבת טקסט 60">
            <a:extLst>
              <a:ext uri="{FF2B5EF4-FFF2-40B4-BE49-F238E27FC236}">
                <a16:creationId xmlns:a16="http://schemas.microsoft.com/office/drawing/2014/main" id="{1A39EF06-6BEF-4B3C-B668-5B0A05818578}"/>
              </a:ext>
            </a:extLst>
          </p:cNvPr>
          <p:cNvSpPr txBox="1"/>
          <p:nvPr/>
        </p:nvSpPr>
        <p:spPr>
          <a:xfrm>
            <a:off x="3504527" y="5383744"/>
            <a:ext cx="4127297" cy="866904"/>
          </a:xfrm>
          <a:prstGeom prst="rect">
            <a:avLst/>
          </a:prstGeom>
          <a:noFill/>
        </p:spPr>
        <p:txBody>
          <a:bodyPr wrap="square" rtlCol="1">
            <a:spAutoFit/>
          </a:bodyPr>
          <a:lstStyle/>
          <a:p>
            <a:pPr marL="103187" indent="-285750">
              <a:lnSpc>
                <a:spcPts val="1960"/>
              </a:lnSpc>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דוגמא אישית המבטאת את ערכי הארגון</a:t>
            </a:r>
          </a:p>
          <a:p>
            <a:pPr marL="103187" indent="-285750">
              <a:lnSpc>
                <a:spcPts val="1960"/>
              </a:lnSpc>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מנהיגות מחברת ומחוברת</a:t>
            </a:r>
          </a:p>
          <a:p>
            <a:pPr marL="103187" indent="-285750">
              <a:lnSpc>
                <a:spcPts val="1960"/>
              </a:lnSpc>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בניית חוסן אישי וצוותי</a:t>
            </a:r>
          </a:p>
        </p:txBody>
      </p:sp>
      <p:sp>
        <p:nvSpPr>
          <p:cNvPr id="12" name="תיבת טקסט 61">
            <a:extLst>
              <a:ext uri="{FF2B5EF4-FFF2-40B4-BE49-F238E27FC236}">
                <a16:creationId xmlns:a16="http://schemas.microsoft.com/office/drawing/2014/main" id="{68A8C532-60AF-4B35-9EDA-E67F5037FC78}"/>
              </a:ext>
            </a:extLst>
          </p:cNvPr>
          <p:cNvSpPr txBox="1"/>
          <p:nvPr/>
        </p:nvSpPr>
        <p:spPr>
          <a:xfrm>
            <a:off x="8459268" y="2809380"/>
            <a:ext cx="3830438" cy="923330"/>
          </a:xfrm>
          <a:prstGeom prst="rect">
            <a:avLst/>
          </a:prstGeom>
          <a:noFill/>
        </p:spPr>
        <p:txBody>
          <a:bodyPr wrap="square" rtlCol="1">
            <a:spAutoFit/>
          </a:bodyPr>
          <a:lstStyle/>
          <a:p>
            <a:pPr marL="103187" indent="-285750" algn="l" rtl="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מחויבות לאיכות ומוכוונת לתוצאות</a:t>
            </a:r>
          </a:p>
          <a:p>
            <a:pPr marL="103187" indent="-285750" algn="l" rtl="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מיקוד לקוח (פנימי וחיצוני)</a:t>
            </a:r>
          </a:p>
          <a:p>
            <a:pPr marL="103187" indent="-285750" algn="l" rtl="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ניהול משאבים מושכל</a:t>
            </a:r>
          </a:p>
        </p:txBody>
      </p:sp>
      <p:sp>
        <p:nvSpPr>
          <p:cNvPr id="13" name="תיבת טקסט 62">
            <a:extLst>
              <a:ext uri="{FF2B5EF4-FFF2-40B4-BE49-F238E27FC236}">
                <a16:creationId xmlns:a16="http://schemas.microsoft.com/office/drawing/2014/main" id="{4FF4F35D-2B79-4BCD-8249-F31EBF64E03F}"/>
              </a:ext>
            </a:extLst>
          </p:cNvPr>
          <p:cNvSpPr txBox="1"/>
          <p:nvPr/>
        </p:nvSpPr>
        <p:spPr>
          <a:xfrm>
            <a:off x="4305709" y="216049"/>
            <a:ext cx="3105291" cy="923330"/>
          </a:xfrm>
          <a:prstGeom prst="rect">
            <a:avLst/>
          </a:prstGeom>
          <a:noFill/>
        </p:spPr>
        <p:txBody>
          <a:bodyPr wrap="square" rtlCol="1">
            <a:spAutoFit/>
          </a:bodyPr>
          <a:lstStyle/>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מטרה ארגונית משותפת</a:t>
            </a:r>
          </a:p>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חשיבה ותכנון קדימה </a:t>
            </a:r>
          </a:p>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ניהול שותפויות אפקטיבי</a:t>
            </a:r>
          </a:p>
        </p:txBody>
      </p:sp>
      <p:sp>
        <p:nvSpPr>
          <p:cNvPr id="14" name="תיבת טקסט 63">
            <a:extLst>
              <a:ext uri="{FF2B5EF4-FFF2-40B4-BE49-F238E27FC236}">
                <a16:creationId xmlns:a16="http://schemas.microsoft.com/office/drawing/2014/main" id="{B524C3EF-37F2-4541-80B2-5E382A14A454}"/>
              </a:ext>
            </a:extLst>
          </p:cNvPr>
          <p:cNvSpPr txBox="1"/>
          <p:nvPr/>
        </p:nvSpPr>
        <p:spPr>
          <a:xfrm>
            <a:off x="843202" y="2764709"/>
            <a:ext cx="2875827" cy="923330"/>
          </a:xfrm>
          <a:prstGeom prst="rect">
            <a:avLst/>
          </a:prstGeom>
          <a:noFill/>
        </p:spPr>
        <p:txBody>
          <a:bodyPr wrap="square" rtlCol="1">
            <a:spAutoFit/>
          </a:bodyPr>
          <a:lstStyle/>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פתיחות וסקרנות אישית</a:t>
            </a:r>
          </a:p>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אומץ לשנות ולהשתנות</a:t>
            </a:r>
          </a:p>
          <a:p>
            <a:pPr marL="103187" indent="-285750">
              <a:buClr>
                <a:srgbClr val="EB5D18"/>
              </a:buClr>
              <a:buFont typeface="Wingdings" pitchFamily="2" charset="2"/>
              <a:buChar char="§"/>
            </a:pPr>
            <a:r>
              <a:rPr lang="he-IL" dirty="0">
                <a:solidFill>
                  <a:srgbClr val="223A8C"/>
                </a:solidFill>
                <a:latin typeface="Ploni ML v2 AAA Light" pitchFamily="2" charset="-79"/>
                <a:ea typeface="Ploni ML v2 AAA Light" pitchFamily="2" charset="-79"/>
                <a:cs typeface="Ploni ML v2 AAA Light" pitchFamily="2" charset="-79"/>
              </a:rPr>
              <a:t>פיתוח הדור הבא</a:t>
            </a:r>
          </a:p>
        </p:txBody>
      </p:sp>
      <p:sp>
        <p:nvSpPr>
          <p:cNvPr id="4" name="TextBox 3">
            <a:extLst>
              <a:ext uri="{FF2B5EF4-FFF2-40B4-BE49-F238E27FC236}">
                <a16:creationId xmlns:a16="http://schemas.microsoft.com/office/drawing/2014/main" id="{3AABF8B6-C2D4-E816-CBCA-5DBD9C6025A6}"/>
              </a:ext>
            </a:extLst>
          </p:cNvPr>
          <p:cNvSpPr txBox="1"/>
          <p:nvPr/>
        </p:nvSpPr>
        <p:spPr>
          <a:xfrm>
            <a:off x="4939473" y="1456811"/>
            <a:ext cx="2253159" cy="400110"/>
          </a:xfrm>
          <a:prstGeom prst="rect">
            <a:avLst/>
          </a:prstGeom>
          <a:noFill/>
        </p:spPr>
        <p:txBody>
          <a:bodyPr wrap="square">
            <a:spAutoFit/>
          </a:bodyPr>
          <a:lstStyle/>
          <a:p>
            <a:pPr algn="ctr">
              <a:buClr>
                <a:srgbClr val="EB5D18"/>
              </a:buClr>
            </a:pPr>
            <a:r>
              <a:rPr lang="he-IL" sz="2000" dirty="0">
                <a:solidFill>
                  <a:srgbClr val="223A8C"/>
                </a:solidFill>
                <a:latin typeface="Ploni ML v2 AAA Medium" pitchFamily="2" charset="-79"/>
                <a:ea typeface="Ploni ML v2 AAA Medium" pitchFamily="2" charset="-79"/>
                <a:cs typeface="Ploni ML v2 AAA Medium" pitchFamily="2" charset="-79"/>
              </a:rPr>
              <a:t>התווית כיוון ודרך</a:t>
            </a:r>
          </a:p>
        </p:txBody>
      </p:sp>
      <p:sp>
        <p:nvSpPr>
          <p:cNvPr id="5" name="TextBox 4">
            <a:extLst>
              <a:ext uri="{FF2B5EF4-FFF2-40B4-BE49-F238E27FC236}">
                <a16:creationId xmlns:a16="http://schemas.microsoft.com/office/drawing/2014/main" id="{074CD89E-F1B5-9FE2-5170-731538076422}"/>
              </a:ext>
            </a:extLst>
          </p:cNvPr>
          <p:cNvSpPr txBox="1"/>
          <p:nvPr/>
        </p:nvSpPr>
        <p:spPr>
          <a:xfrm>
            <a:off x="6576977" y="2848044"/>
            <a:ext cx="2253159" cy="692497"/>
          </a:xfrm>
          <a:prstGeom prst="rect">
            <a:avLst/>
          </a:prstGeom>
          <a:noFill/>
        </p:spPr>
        <p:txBody>
          <a:bodyPr wrap="square">
            <a:spAutoFit/>
          </a:bodyPr>
          <a:lstStyle/>
          <a:p>
            <a:pPr algn="ctr">
              <a:buClr>
                <a:srgbClr val="EB5D18"/>
              </a:buClr>
            </a:pPr>
            <a:r>
              <a:rPr lang="he-IL" sz="1950" dirty="0">
                <a:solidFill>
                  <a:srgbClr val="223A8C"/>
                </a:solidFill>
                <a:latin typeface="Ploni ML v2 AAA Medium" pitchFamily="2" charset="-79"/>
                <a:ea typeface="Ploni ML v2 AAA Medium" pitchFamily="2" charset="-79"/>
                <a:cs typeface="Ploni ML v2 AAA Medium" pitchFamily="2" charset="-79"/>
              </a:rPr>
              <a:t>הובלה</a:t>
            </a:r>
          </a:p>
          <a:p>
            <a:pPr algn="ctr">
              <a:buClr>
                <a:srgbClr val="EB5D18"/>
              </a:buClr>
            </a:pPr>
            <a:r>
              <a:rPr lang="he-IL" sz="1950" dirty="0">
                <a:solidFill>
                  <a:srgbClr val="223A8C"/>
                </a:solidFill>
                <a:latin typeface="Ploni ML v2 AAA Medium" pitchFamily="2" charset="-79"/>
                <a:ea typeface="Ploni ML v2 AAA Medium" pitchFamily="2" charset="-79"/>
                <a:cs typeface="Ploni ML v2 AAA Medium" pitchFamily="2" charset="-79"/>
              </a:rPr>
              <a:t>לביצועים</a:t>
            </a:r>
          </a:p>
        </p:txBody>
      </p:sp>
      <p:sp>
        <p:nvSpPr>
          <p:cNvPr id="6" name="TextBox 5">
            <a:extLst>
              <a:ext uri="{FF2B5EF4-FFF2-40B4-BE49-F238E27FC236}">
                <a16:creationId xmlns:a16="http://schemas.microsoft.com/office/drawing/2014/main" id="{29523D50-A526-6C04-CE27-71551E5A3333}"/>
              </a:ext>
            </a:extLst>
          </p:cNvPr>
          <p:cNvSpPr txBox="1"/>
          <p:nvPr/>
        </p:nvSpPr>
        <p:spPr>
          <a:xfrm>
            <a:off x="3347090" y="2691911"/>
            <a:ext cx="2253159" cy="1015663"/>
          </a:xfrm>
          <a:prstGeom prst="rect">
            <a:avLst/>
          </a:prstGeom>
          <a:noFill/>
        </p:spPr>
        <p:txBody>
          <a:bodyPr wrap="square">
            <a:spAutoFit/>
          </a:bodyPr>
          <a:lstStyle/>
          <a:p>
            <a:pPr algn="ctr">
              <a:buClr>
                <a:srgbClr val="EB5D18"/>
              </a:buClr>
            </a:pPr>
            <a:r>
              <a:rPr lang="he-IL" sz="1950" dirty="0">
                <a:solidFill>
                  <a:srgbClr val="223A8C"/>
                </a:solidFill>
                <a:latin typeface="Ploni ML v2 AAA Medium" pitchFamily="2" charset="-79"/>
                <a:ea typeface="Ploni ML v2 AAA Medium" pitchFamily="2" charset="-79"/>
                <a:cs typeface="Ploni ML v2 AAA Medium" pitchFamily="2" charset="-79"/>
              </a:rPr>
              <a:t>פתיחות</a:t>
            </a:r>
          </a:p>
          <a:p>
            <a:pPr algn="ctr">
              <a:buClr>
                <a:srgbClr val="EB5D18"/>
              </a:buClr>
            </a:pPr>
            <a:r>
              <a:rPr lang="he-IL" sz="1950" dirty="0">
                <a:solidFill>
                  <a:srgbClr val="223A8C"/>
                </a:solidFill>
                <a:latin typeface="Ploni ML v2 AAA Medium" pitchFamily="2" charset="-79"/>
                <a:ea typeface="Ploni ML v2 AAA Medium" pitchFamily="2" charset="-79"/>
                <a:cs typeface="Ploni ML v2 AAA Medium" pitchFamily="2" charset="-79"/>
              </a:rPr>
              <a:t>ואומץ</a:t>
            </a:r>
          </a:p>
          <a:p>
            <a:pPr algn="ctr">
              <a:buClr>
                <a:srgbClr val="EB5D18"/>
              </a:buClr>
            </a:pPr>
            <a:r>
              <a:rPr lang="he-IL" sz="1950" dirty="0">
                <a:solidFill>
                  <a:srgbClr val="223A8C"/>
                </a:solidFill>
                <a:latin typeface="Ploni ML v2 AAA Medium" pitchFamily="2" charset="-79"/>
                <a:ea typeface="Ploni ML v2 AAA Medium" pitchFamily="2" charset="-79"/>
                <a:cs typeface="Ploni ML v2 AAA Medium" pitchFamily="2" charset="-79"/>
              </a:rPr>
              <a:t>ניהולי</a:t>
            </a:r>
          </a:p>
        </p:txBody>
      </p:sp>
      <p:sp>
        <p:nvSpPr>
          <p:cNvPr id="7" name="TextBox 6">
            <a:extLst>
              <a:ext uri="{FF2B5EF4-FFF2-40B4-BE49-F238E27FC236}">
                <a16:creationId xmlns:a16="http://schemas.microsoft.com/office/drawing/2014/main" id="{267F0822-1D5F-6D74-BAA2-A5081F0E3633}"/>
              </a:ext>
            </a:extLst>
          </p:cNvPr>
          <p:cNvSpPr txBox="1"/>
          <p:nvPr/>
        </p:nvSpPr>
        <p:spPr>
          <a:xfrm>
            <a:off x="4939472" y="4662430"/>
            <a:ext cx="2253159" cy="400110"/>
          </a:xfrm>
          <a:prstGeom prst="rect">
            <a:avLst/>
          </a:prstGeom>
          <a:noFill/>
        </p:spPr>
        <p:txBody>
          <a:bodyPr wrap="square">
            <a:spAutoFit/>
          </a:bodyPr>
          <a:lstStyle/>
          <a:p>
            <a:pPr algn="ctr">
              <a:buClr>
                <a:srgbClr val="EB5D18"/>
              </a:buClr>
            </a:pPr>
            <a:r>
              <a:rPr lang="he-IL" sz="2000" dirty="0">
                <a:solidFill>
                  <a:srgbClr val="223A8C"/>
                </a:solidFill>
                <a:latin typeface="Ploni ML v2 AAA Medium" pitchFamily="2" charset="-79"/>
                <a:ea typeface="Ploni ML v2 AAA Medium" pitchFamily="2" charset="-79"/>
                <a:cs typeface="Ploni ML v2 AAA Medium" pitchFamily="2" charset="-79"/>
              </a:rPr>
              <a:t>הובלת אנשים</a:t>
            </a:r>
          </a:p>
        </p:txBody>
      </p:sp>
    </p:spTree>
    <p:extLst>
      <p:ext uri="{BB962C8B-B14F-4D97-AF65-F5344CB8AC3E}">
        <p14:creationId xmlns:p14="http://schemas.microsoft.com/office/powerpoint/2010/main" val="1226866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EF7C7-92B7-10A0-BDB3-F3809686D62E}"/>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09DA95DC-44B4-5EFD-756C-AA2B1C8B60A0}"/>
              </a:ext>
            </a:extLst>
          </p:cNvPr>
          <p:cNvSpPr txBox="1"/>
          <p:nvPr/>
        </p:nvSpPr>
        <p:spPr>
          <a:xfrm>
            <a:off x="2034456" y="489395"/>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מודל הניהול והמנהיגות של מאוחדת </a:t>
            </a:r>
          </a:p>
        </p:txBody>
      </p:sp>
      <p:sp>
        <p:nvSpPr>
          <p:cNvPr id="4" name="Oval 27">
            <a:extLst>
              <a:ext uri="{FF2B5EF4-FFF2-40B4-BE49-F238E27FC236}">
                <a16:creationId xmlns:a16="http://schemas.microsoft.com/office/drawing/2014/main" id="{3505D5EB-20CB-EDE5-3F19-F4E688D378A2}"/>
              </a:ext>
            </a:extLst>
          </p:cNvPr>
          <p:cNvSpPr/>
          <p:nvPr/>
        </p:nvSpPr>
        <p:spPr>
          <a:xfrm>
            <a:off x="10787111" y="3805963"/>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מלבן: פינות מעוגלות 4">
            <a:extLst>
              <a:ext uri="{FF2B5EF4-FFF2-40B4-BE49-F238E27FC236}">
                <a16:creationId xmlns:a16="http://schemas.microsoft.com/office/drawing/2014/main" id="{2D7FCBEA-5677-6A1D-E149-5ACD748D32FE}"/>
              </a:ext>
            </a:extLst>
          </p:cNvPr>
          <p:cNvSpPr/>
          <p:nvPr/>
        </p:nvSpPr>
        <p:spPr>
          <a:xfrm>
            <a:off x="8737531" y="4020954"/>
            <a:ext cx="2839090"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לחצו למילוי השאלון האישי</a:t>
            </a:r>
            <a:endParaRPr lang="LID4096" dirty="0">
              <a:solidFill>
                <a:schemeClr val="bg1"/>
              </a:solidFill>
              <a:latin typeface="Rubik" pitchFamily="2" charset="-79"/>
              <a:cs typeface="Rubik" pitchFamily="2" charset="-79"/>
            </a:endParaRPr>
          </a:p>
        </p:txBody>
      </p:sp>
      <p:sp>
        <p:nvSpPr>
          <p:cNvPr id="3" name="תיבת טקסט 2">
            <a:extLst>
              <a:ext uri="{FF2B5EF4-FFF2-40B4-BE49-F238E27FC236}">
                <a16:creationId xmlns:a16="http://schemas.microsoft.com/office/drawing/2014/main" id="{8AE9E46E-C689-D3B5-131D-3716573EA9D0}"/>
              </a:ext>
            </a:extLst>
          </p:cNvPr>
          <p:cNvSpPr txBox="1"/>
          <p:nvPr/>
        </p:nvSpPr>
        <p:spPr>
          <a:xfrm>
            <a:off x="4998719" y="1813512"/>
            <a:ext cx="6757733" cy="1815882"/>
          </a:xfrm>
          <a:prstGeom prst="rect">
            <a:avLst/>
          </a:prstGeom>
          <a:noFill/>
        </p:spPr>
        <p:txBody>
          <a:bodyPr wrap="square" rtlCol="0">
            <a:spAutoFit/>
          </a:bodyPr>
          <a:lstStyle/>
          <a:p>
            <a:endParaRPr lang="he-IL" sz="1600" dirty="0"/>
          </a:p>
          <a:p>
            <a:endParaRPr lang="he-IL" sz="1600" dirty="0"/>
          </a:p>
          <a:p>
            <a:endParaRPr lang="he-IL" sz="1600" dirty="0"/>
          </a:p>
          <a:p>
            <a:endParaRPr lang="he-IL" sz="1600" dirty="0"/>
          </a:p>
          <a:p>
            <a:endParaRPr lang="he-IL" sz="1600" dirty="0"/>
          </a:p>
          <a:p>
            <a:endParaRPr lang="he-IL" sz="1600" b="0" i="0" dirty="0">
              <a:solidFill>
                <a:srgbClr val="000000"/>
              </a:solidFill>
              <a:effectLst/>
              <a:latin typeface="Rubik" pitchFamily="2" charset="-79"/>
              <a:cs typeface="Rubik" pitchFamily="2" charset="-79"/>
            </a:endParaRPr>
          </a:p>
          <a:p>
            <a:endParaRPr lang="he-IL" sz="1600" dirty="0">
              <a:solidFill>
                <a:srgbClr val="000000"/>
              </a:solidFill>
              <a:latin typeface="Rubik" pitchFamily="2" charset="-79"/>
              <a:cs typeface="Rubik" pitchFamily="2" charset="-79"/>
            </a:endParaRPr>
          </a:p>
        </p:txBody>
      </p:sp>
      <p:sp>
        <p:nvSpPr>
          <p:cNvPr id="6" name="תיבת טקסט 5">
            <a:extLst>
              <a:ext uri="{FF2B5EF4-FFF2-40B4-BE49-F238E27FC236}">
                <a16:creationId xmlns:a16="http://schemas.microsoft.com/office/drawing/2014/main" id="{640752EF-3EBC-BE07-FAFE-2385DC54F914}"/>
              </a:ext>
            </a:extLst>
          </p:cNvPr>
          <p:cNvSpPr txBox="1"/>
          <p:nvPr/>
        </p:nvSpPr>
        <p:spPr>
          <a:xfrm>
            <a:off x="1381677" y="1083736"/>
            <a:ext cx="10374775" cy="2092881"/>
          </a:xfrm>
          <a:prstGeom prst="rect">
            <a:avLst/>
          </a:prstGeom>
          <a:noFill/>
        </p:spPr>
        <p:txBody>
          <a:bodyPr wrap="square" rtlCol="1">
            <a:spAutoFit/>
          </a:bodyPr>
          <a:lstStyle/>
          <a:p>
            <a:endParaRPr lang="he-IL" sz="2000" dirty="0">
              <a:latin typeface="Rubik" pitchFamily="2" charset="-79"/>
              <a:cs typeface="Rubik" pitchFamily="2" charset="-79"/>
            </a:endParaRPr>
          </a:p>
          <a:p>
            <a:r>
              <a:rPr lang="he-IL" dirty="0">
                <a:latin typeface="Rubik" pitchFamily="2" charset="-79"/>
                <a:cs typeface="Rubik" pitchFamily="2" charset="-79"/>
              </a:rPr>
              <a:t>ניתן להשתמש במודל גם </a:t>
            </a:r>
            <a:r>
              <a:rPr lang="he-IL" b="1" dirty="0">
                <a:latin typeface="Rubik" pitchFamily="2" charset="-79"/>
                <a:cs typeface="Rubik" pitchFamily="2" charset="-79"/>
              </a:rPr>
              <a:t>ככלי לאבחון עצמי:</a:t>
            </a:r>
            <a:r>
              <a:rPr lang="he-IL" dirty="0">
                <a:latin typeface="Rubik" pitchFamily="2" charset="-79"/>
                <a:cs typeface="Rubik" pitchFamily="2" charset="-79"/>
              </a:rPr>
              <a:t> </a:t>
            </a:r>
          </a:p>
          <a:p>
            <a:r>
              <a:rPr lang="he-IL" dirty="0">
                <a:latin typeface="Rubik" pitchFamily="2" charset="-79"/>
                <a:cs typeface="Rubik" pitchFamily="2" charset="-79"/>
              </a:rPr>
              <a:t>לעצור לרגע, לבחון היכן אנו נמצאים ביחס לממדים השונים של המודל, ולזהות נקודות לחיזוק ולהתפתחות. </a:t>
            </a:r>
          </a:p>
          <a:p>
            <a:endParaRPr lang="he-IL" dirty="0">
              <a:latin typeface="Rubik" pitchFamily="2" charset="-79"/>
              <a:cs typeface="Rubik" pitchFamily="2" charset="-79"/>
            </a:endParaRPr>
          </a:p>
          <a:p>
            <a:r>
              <a:rPr lang="he-IL" dirty="0">
                <a:solidFill>
                  <a:srgbClr val="F47221"/>
                </a:solidFill>
                <a:latin typeface="Rubik" pitchFamily="2" charset="-79"/>
                <a:cs typeface="Rubik" pitchFamily="2" charset="-79"/>
              </a:rPr>
              <a:t>לצורך כך, עומד לרשותכם </a:t>
            </a:r>
            <a:r>
              <a:rPr lang="he-IL" b="1" dirty="0">
                <a:solidFill>
                  <a:srgbClr val="F47221"/>
                </a:solidFill>
                <a:latin typeface="Rubik" pitchFamily="2" charset="-79"/>
                <a:cs typeface="Rubik" pitchFamily="2" charset="-79"/>
              </a:rPr>
              <a:t>שאלון אישי </a:t>
            </a:r>
            <a:r>
              <a:rPr lang="he-IL" dirty="0">
                <a:solidFill>
                  <a:srgbClr val="F47221"/>
                </a:solidFill>
                <a:latin typeface="Rubik" pitchFamily="2" charset="-79"/>
                <a:cs typeface="Rubik" pitchFamily="2" charset="-79"/>
              </a:rPr>
              <a:t>המסייע לתרגם את עקרונות המודל להתבוננות מעשית על סגנון הניהול האישי שלכם– ולהגדיר צעדים להתקדמות.</a:t>
            </a:r>
          </a:p>
          <a:p>
            <a:endParaRPr lang="he-IL" sz="2000" dirty="0">
              <a:latin typeface="Rubik" pitchFamily="2" charset="-79"/>
              <a:cs typeface="Rubik" pitchFamily="2" charset="-79"/>
            </a:endParaRPr>
          </a:p>
        </p:txBody>
      </p:sp>
    </p:spTree>
    <p:extLst>
      <p:ext uri="{BB962C8B-B14F-4D97-AF65-F5344CB8AC3E}">
        <p14:creationId xmlns:p14="http://schemas.microsoft.com/office/powerpoint/2010/main" val="1246182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15E7-2163-9DB0-05FE-54098C593693}"/>
            </a:ext>
          </a:extLst>
        </p:cNvPr>
        <p:cNvGrpSpPr/>
        <p:nvPr/>
      </p:nvGrpSpPr>
      <p:grpSpPr>
        <a:xfrm>
          <a:off x="0" y="0"/>
          <a:ext cx="0" cy="0"/>
          <a:chOff x="0" y="0"/>
          <a:chExt cx="0" cy="0"/>
        </a:xfrm>
      </p:grpSpPr>
      <p:sp>
        <p:nvSpPr>
          <p:cNvPr id="5" name="מלבן: פינות מעוגלות 4">
            <a:extLst>
              <a:ext uri="{FF2B5EF4-FFF2-40B4-BE49-F238E27FC236}">
                <a16:creationId xmlns:a16="http://schemas.microsoft.com/office/drawing/2014/main" id="{F5A3D511-903A-2657-64A0-612F97564457}"/>
              </a:ext>
            </a:extLst>
          </p:cNvPr>
          <p:cNvSpPr/>
          <p:nvPr/>
        </p:nvSpPr>
        <p:spPr>
          <a:xfrm>
            <a:off x="7155528" y="3378200"/>
            <a:ext cx="2839090" cy="511277"/>
          </a:xfrm>
          <a:prstGeom prst="roundRect">
            <a:avLst>
              <a:gd name="adj" fmla="val 45742"/>
            </a:avLst>
          </a:prstGeom>
          <a:solidFill>
            <a:srgbClr val="FAA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solidFill>
                <a:schemeClr val="bg1"/>
              </a:solidFill>
              <a:latin typeface="Rubik" pitchFamily="2" charset="-79"/>
              <a:cs typeface="Rubik" pitchFamily="2" charset="-79"/>
            </a:endParaRPr>
          </a:p>
        </p:txBody>
      </p:sp>
      <p:sp>
        <p:nvSpPr>
          <p:cNvPr id="10" name="מלבן: פינות מעוגלות 9">
            <a:extLst>
              <a:ext uri="{FF2B5EF4-FFF2-40B4-BE49-F238E27FC236}">
                <a16:creationId xmlns:a16="http://schemas.microsoft.com/office/drawing/2014/main" id="{E76FAFA5-65BF-2BC9-FED2-C986F41DF216}"/>
              </a:ext>
            </a:extLst>
          </p:cNvPr>
          <p:cNvSpPr/>
          <p:nvPr/>
        </p:nvSpPr>
        <p:spPr>
          <a:xfrm>
            <a:off x="7155528" y="3938499"/>
            <a:ext cx="2839090" cy="511277"/>
          </a:xfrm>
          <a:prstGeom prst="roundRect">
            <a:avLst>
              <a:gd name="adj" fmla="val 45742"/>
            </a:avLst>
          </a:prstGeom>
          <a:solidFill>
            <a:srgbClr val="FAA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solidFill>
                <a:schemeClr val="bg1"/>
              </a:solidFill>
              <a:latin typeface="Rubik" pitchFamily="2" charset="-79"/>
              <a:cs typeface="Rubik" pitchFamily="2" charset="-79"/>
            </a:endParaRPr>
          </a:p>
        </p:txBody>
      </p:sp>
      <p:sp>
        <p:nvSpPr>
          <p:cNvPr id="24" name="תיבת טקסט 23">
            <a:extLst>
              <a:ext uri="{FF2B5EF4-FFF2-40B4-BE49-F238E27FC236}">
                <a16:creationId xmlns:a16="http://schemas.microsoft.com/office/drawing/2014/main" id="{1BAAF860-05DE-8681-692D-F10D5EC4CC9C}"/>
              </a:ext>
            </a:extLst>
          </p:cNvPr>
          <p:cNvSpPr txBox="1"/>
          <p:nvPr/>
        </p:nvSpPr>
        <p:spPr>
          <a:xfrm>
            <a:off x="2034456" y="489395"/>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מודל הניהול והמנהיגות של מאוחדת </a:t>
            </a:r>
          </a:p>
        </p:txBody>
      </p:sp>
      <p:sp>
        <p:nvSpPr>
          <p:cNvPr id="3" name="תיבת טקסט 2">
            <a:extLst>
              <a:ext uri="{FF2B5EF4-FFF2-40B4-BE49-F238E27FC236}">
                <a16:creationId xmlns:a16="http://schemas.microsoft.com/office/drawing/2014/main" id="{F79E45B7-AB68-68E3-0624-D2A519F22A7A}"/>
              </a:ext>
            </a:extLst>
          </p:cNvPr>
          <p:cNvSpPr txBox="1"/>
          <p:nvPr/>
        </p:nvSpPr>
        <p:spPr>
          <a:xfrm>
            <a:off x="4998719" y="1813512"/>
            <a:ext cx="6757733" cy="584775"/>
          </a:xfrm>
          <a:prstGeom prst="rect">
            <a:avLst/>
          </a:prstGeom>
          <a:noFill/>
        </p:spPr>
        <p:txBody>
          <a:bodyPr wrap="square" rtlCol="0">
            <a:spAutoFit/>
          </a:bodyPr>
          <a:lstStyle/>
          <a:p>
            <a:endParaRPr lang="he-IL" sz="1600" b="0" i="0" dirty="0">
              <a:solidFill>
                <a:srgbClr val="000000"/>
              </a:solidFill>
              <a:effectLst/>
              <a:latin typeface="Rubik" pitchFamily="2" charset="-79"/>
              <a:cs typeface="Rubik" pitchFamily="2" charset="-79"/>
            </a:endParaRPr>
          </a:p>
          <a:p>
            <a:endParaRPr lang="he-IL" sz="1600" dirty="0">
              <a:solidFill>
                <a:srgbClr val="000000"/>
              </a:solidFill>
              <a:latin typeface="Rubik" pitchFamily="2" charset="-79"/>
              <a:cs typeface="Rubik" pitchFamily="2" charset="-79"/>
            </a:endParaRPr>
          </a:p>
        </p:txBody>
      </p:sp>
      <p:sp>
        <p:nvSpPr>
          <p:cNvPr id="2" name="תיבת טקסט 1">
            <a:extLst>
              <a:ext uri="{FF2B5EF4-FFF2-40B4-BE49-F238E27FC236}">
                <a16:creationId xmlns:a16="http://schemas.microsoft.com/office/drawing/2014/main" id="{A2FC7EFA-CBE1-9F84-41E6-F934BB917FD1}"/>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שאלה למחשבה</a:t>
            </a:r>
          </a:p>
        </p:txBody>
      </p:sp>
      <p:sp>
        <p:nvSpPr>
          <p:cNvPr id="7" name="תיבת טקסט 6">
            <a:extLst>
              <a:ext uri="{FF2B5EF4-FFF2-40B4-BE49-F238E27FC236}">
                <a16:creationId xmlns:a16="http://schemas.microsoft.com/office/drawing/2014/main" id="{12E76AB2-4B93-BD09-612A-9689666973ED}"/>
              </a:ext>
            </a:extLst>
          </p:cNvPr>
          <p:cNvSpPr txBox="1"/>
          <p:nvPr/>
        </p:nvSpPr>
        <p:spPr>
          <a:xfrm>
            <a:off x="5190494" y="1899758"/>
            <a:ext cx="6565958" cy="400110"/>
          </a:xfrm>
          <a:prstGeom prst="rect">
            <a:avLst/>
          </a:prstGeom>
          <a:noFill/>
        </p:spPr>
        <p:txBody>
          <a:bodyPr wrap="square" rtlCol="0">
            <a:spAutoFit/>
          </a:bodyPr>
          <a:lstStyle/>
          <a:p>
            <a:r>
              <a:rPr lang="he-IL" sz="2000" b="1" i="0" dirty="0">
                <a:solidFill>
                  <a:srgbClr val="000000"/>
                </a:solidFill>
                <a:effectLst/>
                <a:latin typeface="Rubik" pitchFamily="2" charset="-79"/>
                <a:cs typeface="Rubik" pitchFamily="2" charset="-79"/>
              </a:rPr>
              <a:t>איפה אתם ביחס למודל? </a:t>
            </a:r>
          </a:p>
        </p:txBody>
      </p:sp>
      <p:sp>
        <p:nvSpPr>
          <p:cNvPr id="9" name="תיבת טקסט 8">
            <a:extLst>
              <a:ext uri="{FF2B5EF4-FFF2-40B4-BE49-F238E27FC236}">
                <a16:creationId xmlns:a16="http://schemas.microsoft.com/office/drawing/2014/main" id="{54B8B9F5-9E3A-2E46-86A4-6AB998D9D584}"/>
              </a:ext>
            </a:extLst>
          </p:cNvPr>
          <p:cNvSpPr txBox="1"/>
          <p:nvPr/>
        </p:nvSpPr>
        <p:spPr>
          <a:xfrm>
            <a:off x="4215813" y="3310040"/>
            <a:ext cx="6096000" cy="1139736"/>
          </a:xfrm>
          <a:prstGeom prst="rect">
            <a:avLst/>
          </a:prstGeom>
          <a:noFill/>
        </p:spPr>
        <p:txBody>
          <a:bodyPr wrap="square">
            <a:spAutoFit/>
          </a:bodyPr>
          <a:lstStyle/>
          <a:p>
            <a:pPr lvl="1">
              <a:lnSpc>
                <a:spcPct val="150000"/>
              </a:lnSpc>
            </a:pPr>
            <a:r>
              <a:rPr lang="he-IL" sz="2400" b="0" i="0" dirty="0">
                <a:solidFill>
                  <a:schemeClr val="bg1"/>
                </a:solidFill>
                <a:effectLst/>
                <a:latin typeface="Rubik" pitchFamily="2" charset="-79"/>
                <a:cs typeface="Rubik" pitchFamily="2" charset="-79"/>
              </a:rPr>
              <a:t>מה חזק אצלכם? </a:t>
            </a:r>
          </a:p>
          <a:p>
            <a:pPr lvl="1">
              <a:lnSpc>
                <a:spcPct val="150000"/>
              </a:lnSpc>
            </a:pPr>
            <a:r>
              <a:rPr lang="he-IL" sz="2400" b="0" i="0" dirty="0">
                <a:solidFill>
                  <a:schemeClr val="bg1"/>
                </a:solidFill>
                <a:effectLst/>
                <a:latin typeface="Rubik" pitchFamily="2" charset="-79"/>
                <a:cs typeface="Rubik" pitchFamily="2" charset="-79"/>
              </a:rPr>
              <a:t>מה דורש חיזוק?</a:t>
            </a:r>
          </a:p>
        </p:txBody>
      </p:sp>
    </p:spTree>
    <p:extLst>
      <p:ext uri="{BB962C8B-B14F-4D97-AF65-F5344CB8AC3E}">
        <p14:creationId xmlns:p14="http://schemas.microsoft.com/office/powerpoint/2010/main" val="1392617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C842-75A7-8E87-3CC9-A192893E987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0CDDA903-F808-DEBC-2F6C-22033D6107A0}"/>
              </a:ext>
            </a:extLst>
          </p:cNvPr>
          <p:cNvSpPr txBox="1"/>
          <p:nvPr/>
        </p:nvSpPr>
        <p:spPr>
          <a:xfrm>
            <a:off x="2034456" y="549959"/>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25" name="תיבת טקסט 24">
            <a:extLst>
              <a:ext uri="{FF2B5EF4-FFF2-40B4-BE49-F238E27FC236}">
                <a16:creationId xmlns:a16="http://schemas.microsoft.com/office/drawing/2014/main" id="{198491FC-A753-E196-EB41-093258B94589}"/>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למה חשוב שתכירו את האסטרטגיה הארגונית?	</a:t>
            </a:r>
            <a:endParaRPr lang="he-IL" sz="2800" i="0" dirty="0">
              <a:solidFill>
                <a:srgbClr val="000000"/>
              </a:solidFill>
              <a:effectLst/>
              <a:latin typeface="Rubik" pitchFamily="2" charset="-79"/>
              <a:cs typeface="Rubik" pitchFamily="2" charset="-79"/>
            </a:endParaRPr>
          </a:p>
        </p:txBody>
      </p:sp>
      <p:sp>
        <p:nvSpPr>
          <p:cNvPr id="2" name="תיבת טקסט 1">
            <a:extLst>
              <a:ext uri="{FF2B5EF4-FFF2-40B4-BE49-F238E27FC236}">
                <a16:creationId xmlns:a16="http://schemas.microsoft.com/office/drawing/2014/main" id="{02F167D4-B871-6B19-DC33-D6E848A8E3E2}"/>
              </a:ext>
            </a:extLst>
          </p:cNvPr>
          <p:cNvSpPr txBox="1"/>
          <p:nvPr/>
        </p:nvSpPr>
        <p:spPr>
          <a:xfrm>
            <a:off x="626148" y="1445902"/>
            <a:ext cx="11175349" cy="3273525"/>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he-IL" sz="2000" dirty="0">
                <a:latin typeface="Rubik" pitchFamily="2" charset="-79"/>
                <a:cs typeface="Rubik" pitchFamily="2" charset="-79"/>
              </a:rPr>
              <a:t>למאוחדת </a:t>
            </a:r>
            <a:r>
              <a:rPr lang="he-IL" sz="2000" b="1" dirty="0">
                <a:latin typeface="Rubik" pitchFamily="2" charset="-79"/>
                <a:cs typeface="Rubik" pitchFamily="2" charset="-79"/>
              </a:rPr>
              <a:t>תכנית אסטרטגית רב־שנתית </a:t>
            </a:r>
            <a:r>
              <a:rPr lang="he-IL" sz="2000" dirty="0">
                <a:latin typeface="Rubik" pitchFamily="2" charset="-79"/>
                <a:cs typeface="Rubik" pitchFamily="2" charset="-79"/>
              </a:rPr>
              <a:t>(5 שנים 2023-2028 )</a:t>
            </a:r>
            <a:endParaRPr lang="he-IL" sz="2000" b="0" i="0" dirty="0">
              <a:effectLst/>
              <a:latin typeface="Rubik" pitchFamily="2" charset="-79"/>
              <a:cs typeface="Rubik" pitchFamily="2" charset="-79"/>
            </a:endParaRPr>
          </a:p>
          <a:p>
            <a:pPr marL="742950" lvl="1" indent="-285750">
              <a:lnSpc>
                <a:spcPct val="150000"/>
              </a:lnSpc>
              <a:buFont typeface="Arial" panose="020B0604020202020204" pitchFamily="34" charset="0"/>
              <a:buChar char="•"/>
            </a:pPr>
            <a:r>
              <a:rPr lang="he-IL" sz="2000" b="0" i="0" dirty="0">
                <a:effectLst/>
                <a:latin typeface="Rubik" pitchFamily="2" charset="-79"/>
                <a:cs typeface="Rubik" pitchFamily="2" charset="-79"/>
              </a:rPr>
              <a:t>האסטרטגיה הארגונית במאוחדת מגדירה את </a:t>
            </a:r>
            <a:r>
              <a:rPr lang="he-IL" sz="2000" b="1" i="0" dirty="0">
                <a:effectLst/>
                <a:latin typeface="Rubik" pitchFamily="2" charset="-79"/>
                <a:cs typeface="Rubik" pitchFamily="2" charset="-79"/>
              </a:rPr>
              <a:t>הכיוון, סדרי העדיפויות והמטרות של הארגון </a:t>
            </a:r>
            <a:br>
              <a:rPr lang="en-US" sz="2000" b="1" i="0" dirty="0">
                <a:effectLst/>
                <a:latin typeface="Rubik" pitchFamily="2" charset="-79"/>
                <a:cs typeface="Rubik" pitchFamily="2" charset="-79"/>
              </a:rPr>
            </a:br>
            <a:r>
              <a:rPr lang="he-IL" sz="2000" b="0" i="0" dirty="0">
                <a:effectLst/>
                <a:latin typeface="Rubik" pitchFamily="2" charset="-79"/>
                <a:cs typeface="Rubik" pitchFamily="2" charset="-79"/>
              </a:rPr>
              <a:t>לטווח הרחוק, ומהווה </a:t>
            </a:r>
            <a:r>
              <a:rPr lang="he-IL" sz="2000" b="1" i="0" dirty="0">
                <a:effectLst/>
                <a:latin typeface="Rubik" pitchFamily="2" charset="-79"/>
                <a:cs typeface="Rubik" pitchFamily="2" charset="-79"/>
              </a:rPr>
              <a:t>מצפן משותף לכלל העשייה</a:t>
            </a:r>
          </a:p>
          <a:p>
            <a:pPr marL="742950" lvl="1" indent="-285750">
              <a:lnSpc>
                <a:spcPct val="150000"/>
              </a:lnSpc>
              <a:buFont typeface="Arial" panose="020B0604020202020204" pitchFamily="34" charset="0"/>
              <a:buChar char="•"/>
            </a:pPr>
            <a:r>
              <a:rPr lang="he-IL" sz="2000" b="0" i="0" dirty="0">
                <a:effectLst/>
                <a:latin typeface="Rubik" pitchFamily="2" charset="-79"/>
                <a:cs typeface="Rubik" pitchFamily="2" charset="-79"/>
              </a:rPr>
              <a:t>בכל שנה מושם דגש על </a:t>
            </a:r>
            <a:r>
              <a:rPr lang="he-IL" sz="2000" b="1" i="0" dirty="0">
                <a:effectLst/>
                <a:latin typeface="Rubik" pitchFamily="2" charset="-79"/>
                <a:cs typeface="Rubik" pitchFamily="2" charset="-79"/>
              </a:rPr>
              <a:t>מיקודים מרכזיים </a:t>
            </a:r>
            <a:r>
              <a:rPr lang="he-IL" sz="2000" b="0" i="0" dirty="0">
                <a:effectLst/>
                <a:latin typeface="Rubik" pitchFamily="2" charset="-79"/>
                <a:cs typeface="Rubik" pitchFamily="2" charset="-79"/>
              </a:rPr>
              <a:t>מתוך </a:t>
            </a:r>
            <a:r>
              <a:rPr lang="he-IL" sz="2000" b="0" i="0" dirty="0" err="1">
                <a:effectLst/>
                <a:latin typeface="Rubik" pitchFamily="2" charset="-79"/>
                <a:cs typeface="Rubik" pitchFamily="2" charset="-79"/>
              </a:rPr>
              <a:t>התכנית</a:t>
            </a:r>
            <a:r>
              <a:rPr lang="he-IL" sz="2000" b="0" i="0" dirty="0">
                <a:effectLst/>
                <a:latin typeface="Rubik" pitchFamily="2" charset="-79"/>
                <a:cs typeface="Rubik" pitchFamily="2" charset="-79"/>
              </a:rPr>
              <a:t> </a:t>
            </a:r>
          </a:p>
          <a:p>
            <a:pPr lvl="1">
              <a:lnSpc>
                <a:spcPct val="150000"/>
              </a:lnSpc>
            </a:pPr>
            <a:endParaRPr lang="he-IL" sz="2000" b="0" i="0" dirty="0">
              <a:effectLst/>
              <a:latin typeface="Rubik" pitchFamily="2" charset="-79"/>
              <a:cs typeface="Rubik" pitchFamily="2" charset="-79"/>
            </a:endParaRPr>
          </a:p>
          <a:p>
            <a:pPr lvl="1">
              <a:lnSpc>
                <a:spcPct val="150000"/>
              </a:lnSpc>
            </a:pPr>
            <a:r>
              <a:rPr lang="he-IL" sz="2000" b="1" i="0" dirty="0">
                <a:solidFill>
                  <a:srgbClr val="009CE1"/>
                </a:solidFill>
                <a:effectLst/>
                <a:latin typeface="Rubik" pitchFamily="2" charset="-79"/>
                <a:cs typeface="Rubik" pitchFamily="2" charset="-79"/>
              </a:rPr>
              <a:t>עבור מנהלים, היכרות עם האסטרטגיה היא כלי עבודה חיוני </a:t>
            </a:r>
            <a:r>
              <a:rPr lang="he-IL" sz="2000" b="0" i="0" dirty="0">
                <a:effectLst/>
                <a:latin typeface="Rubik" pitchFamily="2" charset="-79"/>
                <a:cs typeface="Rubik" pitchFamily="2" charset="-79"/>
              </a:rPr>
              <a:t>שמאפשר להבין את ההקשר הרחב של הפעילות, לקבל החלטות מושכלות ולכוון את הצוות לעבר המטרות </a:t>
            </a:r>
            <a:r>
              <a:rPr lang="he-IL" sz="2000" dirty="0">
                <a:latin typeface="Rubik" pitchFamily="2" charset="-79"/>
                <a:cs typeface="Rubik" pitchFamily="2" charset="-79"/>
              </a:rPr>
              <a:t>הארגוניות ולמשמעות רחבה יותר.</a:t>
            </a:r>
            <a:endParaRPr lang="he-IL" sz="2000" b="0" i="0" dirty="0">
              <a:effectLst/>
              <a:latin typeface="Rubik" pitchFamily="2" charset="-79"/>
              <a:cs typeface="Rubik" pitchFamily="2" charset="-79"/>
            </a:endParaRPr>
          </a:p>
        </p:txBody>
      </p:sp>
      <p:sp>
        <p:nvSpPr>
          <p:cNvPr id="4" name="Oval 27">
            <a:extLst>
              <a:ext uri="{FF2B5EF4-FFF2-40B4-BE49-F238E27FC236}">
                <a16:creationId xmlns:a16="http://schemas.microsoft.com/office/drawing/2014/main" id="{7E0EC656-4E1B-CF16-7174-4BEB6BA0416C}"/>
              </a:ext>
            </a:extLst>
          </p:cNvPr>
          <p:cNvSpPr/>
          <p:nvPr/>
        </p:nvSpPr>
        <p:spPr>
          <a:xfrm>
            <a:off x="10210236" y="5255728"/>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מלבן: פינות מעוגלות 4">
            <a:extLst>
              <a:ext uri="{FF2B5EF4-FFF2-40B4-BE49-F238E27FC236}">
                <a16:creationId xmlns:a16="http://schemas.microsoft.com/office/drawing/2014/main" id="{1F143792-EC80-882E-7AC6-5587422242E6}"/>
              </a:ext>
            </a:extLst>
          </p:cNvPr>
          <p:cNvSpPr/>
          <p:nvPr/>
        </p:nvSpPr>
        <p:spPr>
          <a:xfrm>
            <a:off x="7631252" y="5525970"/>
            <a:ext cx="3234122"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להורדת מצגת אסטרטגיית מאוחדת</a:t>
            </a:r>
            <a:endParaRPr lang="LID4096" sz="1400" dirty="0">
              <a:solidFill>
                <a:schemeClr val="bg1"/>
              </a:solidFill>
              <a:latin typeface="Rubik" pitchFamily="2" charset="-79"/>
              <a:cs typeface="Rubik" pitchFamily="2" charset="-79"/>
            </a:endParaRPr>
          </a:p>
        </p:txBody>
      </p:sp>
      <p:sp>
        <p:nvSpPr>
          <p:cNvPr id="3" name="Oval 27">
            <a:extLst>
              <a:ext uri="{FF2B5EF4-FFF2-40B4-BE49-F238E27FC236}">
                <a16:creationId xmlns:a16="http://schemas.microsoft.com/office/drawing/2014/main" id="{B364ACD3-8228-A963-8075-1CED6564466C}"/>
              </a:ext>
            </a:extLst>
          </p:cNvPr>
          <p:cNvSpPr/>
          <p:nvPr/>
        </p:nvSpPr>
        <p:spPr>
          <a:xfrm>
            <a:off x="4000983" y="5255729"/>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9" name="תיבת טקסט 18">
            <a:extLst>
              <a:ext uri="{FF2B5EF4-FFF2-40B4-BE49-F238E27FC236}">
                <a16:creationId xmlns:a16="http://schemas.microsoft.com/office/drawing/2014/main" id="{D6A02311-5725-FD77-DB56-15E4B3E49028}"/>
              </a:ext>
            </a:extLst>
          </p:cNvPr>
          <p:cNvSpPr txBox="1"/>
          <p:nvPr/>
        </p:nvSpPr>
        <p:spPr>
          <a:xfrm>
            <a:off x="142952" y="5646488"/>
            <a:ext cx="3968699" cy="646331"/>
          </a:xfrm>
          <a:prstGeom prst="rect">
            <a:avLst/>
          </a:prstGeom>
          <a:noFill/>
        </p:spPr>
        <p:txBody>
          <a:bodyPr wrap="square" rtlCol="0">
            <a:spAutoFit/>
          </a:bodyPr>
          <a:lstStyle/>
          <a:p>
            <a:r>
              <a:rPr lang="he-IL" b="1" i="0" dirty="0">
                <a:effectLst/>
                <a:latin typeface="Rubik" pitchFamily="2" charset="-79"/>
                <a:cs typeface="Rubik" pitchFamily="2" charset="-79"/>
              </a:rPr>
              <a:t>המשיכ</a:t>
            </a:r>
            <a:r>
              <a:rPr lang="he-IL" b="1" dirty="0">
                <a:latin typeface="Rubik" pitchFamily="2" charset="-79"/>
                <a:cs typeface="Rubik" pitchFamily="2" charset="-79"/>
              </a:rPr>
              <a:t>ו לשקף הבא להרחבה על האסטרטגיה במאוחדת</a:t>
            </a:r>
            <a:endParaRPr lang="he-IL" sz="2400" b="1" i="0" dirty="0">
              <a:effectLst/>
              <a:latin typeface="Rubik" pitchFamily="2" charset="-79"/>
              <a:cs typeface="Rubik" pitchFamily="2" charset="-79"/>
            </a:endParaRPr>
          </a:p>
        </p:txBody>
      </p:sp>
    </p:spTree>
    <p:extLst>
      <p:ext uri="{BB962C8B-B14F-4D97-AF65-F5344CB8AC3E}">
        <p14:creationId xmlns:p14="http://schemas.microsoft.com/office/powerpoint/2010/main" val="3538893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98A2-651F-4E52-EF1E-BBF6C59051C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FEF8DA45-F587-C1E3-B288-568415A7FEBD}"/>
              </a:ext>
            </a:extLst>
          </p:cNvPr>
          <p:cNvSpPr txBox="1"/>
          <p:nvPr/>
        </p:nvSpPr>
        <p:spPr>
          <a:xfrm>
            <a:off x="2034456" y="549959"/>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25" name="תיבת טקסט 24">
            <a:extLst>
              <a:ext uri="{FF2B5EF4-FFF2-40B4-BE49-F238E27FC236}">
                <a16:creationId xmlns:a16="http://schemas.microsoft.com/office/drawing/2014/main" id="{9119F056-AF9C-F8B5-5081-FEE96B5FDEBA}"/>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למה חשוב שתכירו את האסטרטגיה הארגונית?	</a:t>
            </a:r>
            <a:endParaRPr lang="he-IL" sz="2800" i="0" dirty="0">
              <a:solidFill>
                <a:srgbClr val="000000"/>
              </a:solidFill>
              <a:effectLst/>
              <a:latin typeface="Rubik" pitchFamily="2" charset="-79"/>
              <a:cs typeface="Rubik" pitchFamily="2" charset="-79"/>
            </a:endParaRPr>
          </a:p>
        </p:txBody>
      </p:sp>
      <p:sp>
        <p:nvSpPr>
          <p:cNvPr id="6" name="תיבת טקסט 5">
            <a:extLst>
              <a:ext uri="{FF2B5EF4-FFF2-40B4-BE49-F238E27FC236}">
                <a16:creationId xmlns:a16="http://schemas.microsoft.com/office/drawing/2014/main" id="{8CD8FB33-7EFB-D087-BC73-8062A6EEFAF6}"/>
              </a:ext>
            </a:extLst>
          </p:cNvPr>
          <p:cNvSpPr txBox="1"/>
          <p:nvPr/>
        </p:nvSpPr>
        <p:spPr>
          <a:xfrm>
            <a:off x="7263813" y="2395115"/>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A8386810-FC71-DCE1-FB16-C53F7F3F0A8A}"/>
              </a:ext>
            </a:extLst>
          </p:cNvPr>
          <p:cNvGrpSpPr/>
          <p:nvPr/>
        </p:nvGrpSpPr>
        <p:grpSpPr>
          <a:xfrm>
            <a:off x="11232512" y="2291167"/>
            <a:ext cx="528644" cy="528644"/>
            <a:chOff x="11238905" y="4653366"/>
            <a:chExt cx="657179" cy="657179"/>
          </a:xfrm>
        </p:grpSpPr>
        <p:sp>
          <p:nvSpPr>
            <p:cNvPr id="8" name="אליפסה 7">
              <a:extLst>
                <a:ext uri="{FF2B5EF4-FFF2-40B4-BE49-F238E27FC236}">
                  <a16:creationId xmlns:a16="http://schemas.microsoft.com/office/drawing/2014/main" id="{C64BFFC1-AC7D-BF49-B87F-5B83A6868F2C}"/>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9B7CA059-D3E3-9B53-D23B-0521CE86C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10" name="תיבת טקסט 9">
            <a:extLst>
              <a:ext uri="{FF2B5EF4-FFF2-40B4-BE49-F238E27FC236}">
                <a16:creationId xmlns:a16="http://schemas.microsoft.com/office/drawing/2014/main" id="{02411132-8CC6-3111-5AFD-726D3685906B}"/>
              </a:ext>
            </a:extLst>
          </p:cNvPr>
          <p:cNvSpPr txBox="1"/>
          <p:nvPr/>
        </p:nvSpPr>
        <p:spPr>
          <a:xfrm>
            <a:off x="2567169" y="1740432"/>
            <a:ext cx="7057663" cy="338554"/>
          </a:xfrm>
          <a:prstGeom prst="rect">
            <a:avLst/>
          </a:prstGeom>
          <a:noFill/>
        </p:spPr>
        <p:txBody>
          <a:bodyPr wrap="square">
            <a:spAutoFit/>
          </a:bodyPr>
          <a:lstStyle/>
          <a:p>
            <a:pPr algn="ctr">
              <a:buNone/>
            </a:pPr>
            <a:r>
              <a:rPr lang="he-IL" sz="1600" dirty="0">
                <a:latin typeface="Rubik" pitchFamily="2" charset="-79"/>
                <a:cs typeface="Rubik" pitchFamily="2" charset="-79"/>
              </a:rPr>
              <a:t>לחצו להרחבה.</a:t>
            </a:r>
          </a:p>
        </p:txBody>
      </p:sp>
      <p:sp>
        <p:nvSpPr>
          <p:cNvPr id="11" name="תיבת טקסט 10">
            <a:extLst>
              <a:ext uri="{FF2B5EF4-FFF2-40B4-BE49-F238E27FC236}">
                <a16:creationId xmlns:a16="http://schemas.microsoft.com/office/drawing/2014/main" id="{2F6AF840-21FA-8761-C162-4B701CCEFC1A}"/>
              </a:ext>
            </a:extLst>
          </p:cNvPr>
          <p:cNvSpPr txBox="1"/>
          <p:nvPr/>
        </p:nvSpPr>
        <p:spPr>
          <a:xfrm>
            <a:off x="6213823" y="4570608"/>
            <a:ext cx="501868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איפה זה פוגש אותנו כמנהלים? נקודות למחשבה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FF7FC3E8-4C0C-A278-2B16-9B25EA516A3F}"/>
              </a:ext>
            </a:extLst>
          </p:cNvPr>
          <p:cNvGrpSpPr/>
          <p:nvPr/>
        </p:nvGrpSpPr>
        <p:grpSpPr>
          <a:xfrm>
            <a:off x="11232512" y="4466660"/>
            <a:ext cx="528644" cy="528644"/>
            <a:chOff x="11238905" y="4653366"/>
            <a:chExt cx="657179" cy="657179"/>
          </a:xfrm>
        </p:grpSpPr>
        <p:sp>
          <p:nvSpPr>
            <p:cNvPr id="13" name="אליפסה 12">
              <a:extLst>
                <a:ext uri="{FF2B5EF4-FFF2-40B4-BE49-F238E27FC236}">
                  <a16:creationId xmlns:a16="http://schemas.microsoft.com/office/drawing/2014/main" id="{8E5FC905-DE3B-E73F-1418-77712D7D62C2}"/>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92AA4E9D-D63D-3B8A-F8D5-F99AB7716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15" name="תיבת טקסט 14">
            <a:extLst>
              <a:ext uri="{FF2B5EF4-FFF2-40B4-BE49-F238E27FC236}">
                <a16:creationId xmlns:a16="http://schemas.microsoft.com/office/drawing/2014/main" id="{C7CDB87E-35E3-F156-BE49-202FFA76B8BA}"/>
              </a:ext>
            </a:extLst>
          </p:cNvPr>
          <p:cNvSpPr txBox="1"/>
          <p:nvPr/>
        </p:nvSpPr>
        <p:spPr>
          <a:xfrm>
            <a:off x="6213823" y="3499328"/>
            <a:ext cx="5018689" cy="369332"/>
          </a:xfrm>
          <a:prstGeom prst="rect">
            <a:avLst/>
          </a:prstGeom>
          <a:noFill/>
        </p:spPr>
        <p:txBody>
          <a:bodyPr wrap="square" rtlCol="0">
            <a:spAutoFit/>
          </a:bodyPr>
          <a:lstStyle/>
          <a:p>
            <a:r>
              <a:rPr lang="he-IL" dirty="0">
                <a:solidFill>
                  <a:srgbClr val="009CE1"/>
                </a:solidFill>
                <a:latin typeface="Rubik" pitchFamily="2" charset="-79"/>
                <a:cs typeface="Rubik" pitchFamily="2" charset="-79"/>
              </a:rPr>
              <a:t>דוגמה </a:t>
            </a:r>
            <a:r>
              <a:rPr lang="he-IL" dirty="0" err="1">
                <a:solidFill>
                  <a:srgbClr val="009CE1"/>
                </a:solidFill>
                <a:latin typeface="Rubik" pitchFamily="2" charset="-79"/>
                <a:cs typeface="Rubik" pitchFamily="2" charset="-79"/>
              </a:rPr>
              <a:t>לאיך</a:t>
            </a:r>
            <a:r>
              <a:rPr lang="he-IL" dirty="0">
                <a:solidFill>
                  <a:srgbClr val="009CE1"/>
                </a:solidFill>
                <a:latin typeface="Rubik" pitchFamily="2" charset="-79"/>
                <a:cs typeface="Rubik" pitchFamily="2" charset="-79"/>
              </a:rPr>
              <a:t> אסטרטגיה מתורגמת לעשייה</a:t>
            </a:r>
            <a:endParaRPr lang="he-IL" sz="2400" dirty="0">
              <a:solidFill>
                <a:srgbClr val="009CE1"/>
              </a:solidFill>
              <a:latin typeface="Rubik" pitchFamily="2" charset="-79"/>
              <a:cs typeface="Rubik" pitchFamily="2" charset="-79"/>
            </a:endParaRPr>
          </a:p>
        </p:txBody>
      </p:sp>
      <p:grpSp>
        <p:nvGrpSpPr>
          <p:cNvPr id="16" name="קבוצה 15">
            <a:extLst>
              <a:ext uri="{FF2B5EF4-FFF2-40B4-BE49-F238E27FC236}">
                <a16:creationId xmlns:a16="http://schemas.microsoft.com/office/drawing/2014/main" id="{69FB266F-76EA-F99D-FE30-971E7531B77F}"/>
              </a:ext>
            </a:extLst>
          </p:cNvPr>
          <p:cNvGrpSpPr/>
          <p:nvPr/>
        </p:nvGrpSpPr>
        <p:grpSpPr>
          <a:xfrm>
            <a:off x="11232512" y="3395380"/>
            <a:ext cx="528644" cy="528644"/>
            <a:chOff x="11238905" y="4653366"/>
            <a:chExt cx="657179" cy="657179"/>
          </a:xfrm>
        </p:grpSpPr>
        <p:sp>
          <p:nvSpPr>
            <p:cNvPr id="17" name="אליפסה 16">
              <a:extLst>
                <a:ext uri="{FF2B5EF4-FFF2-40B4-BE49-F238E27FC236}">
                  <a16:creationId xmlns:a16="http://schemas.microsoft.com/office/drawing/2014/main" id="{AC86E298-0350-B729-FEF6-247E81692DB8}"/>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8" name="תמונה 17" descr="תמונה שמכילה עיגול, סמל, גרפיקה, לבן&#10;&#10;התיאור נוצר באופן אוטומטי">
              <a:extLst>
                <a:ext uri="{FF2B5EF4-FFF2-40B4-BE49-F238E27FC236}">
                  <a16:creationId xmlns:a16="http://schemas.microsoft.com/office/drawing/2014/main" id="{2667A4DF-1615-412E-205D-BCB081147A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Tree>
    <p:extLst>
      <p:ext uri="{BB962C8B-B14F-4D97-AF65-F5344CB8AC3E}">
        <p14:creationId xmlns:p14="http://schemas.microsoft.com/office/powerpoint/2010/main" val="3517545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1E869-2227-F562-8BFC-993D0DE87EC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8121FDE5-1999-1A05-E1AA-4B390E3DA456}"/>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54AFD846-1E20-592C-2710-71AB9CE394B2}"/>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2BA4F5F1-79CE-99D7-170E-83C5C9DB95C3}"/>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DCA36056-E2A1-8A2F-44B6-7DA9B3B7F8B1}"/>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669704FE-0D73-7A9D-7F7C-AE80251574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55BD466F-8932-35E1-8990-EDC48BDEAB57}"/>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Oval 1">
            <a:extLst>
              <a:ext uri="{FF2B5EF4-FFF2-40B4-BE49-F238E27FC236}">
                <a16:creationId xmlns:a16="http://schemas.microsoft.com/office/drawing/2014/main" id="{62E728CC-EFF9-05AE-001D-79B23E27BA43}"/>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7" name="אליפסה 16">
            <a:extLst>
              <a:ext uri="{FF2B5EF4-FFF2-40B4-BE49-F238E27FC236}">
                <a16:creationId xmlns:a16="http://schemas.microsoft.com/office/drawing/2014/main" id="{F75B99DD-8518-BFF2-C35E-8FC0D8D7EE97}"/>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200" dirty="0">
                <a:latin typeface="Rubik" pitchFamily="2" charset="-79"/>
                <a:cs typeface="Rubik" pitchFamily="2" charset="-79"/>
              </a:rPr>
              <a:t>01</a:t>
            </a:r>
            <a:endParaRPr lang="LID4096" sz="1200" dirty="0">
              <a:latin typeface="Rubik" pitchFamily="2" charset="-79"/>
              <a:cs typeface="Rubik" pitchFamily="2" charset="-79"/>
            </a:endParaRPr>
          </a:p>
        </p:txBody>
      </p:sp>
      <p:sp>
        <p:nvSpPr>
          <p:cNvPr id="19" name="תיבת טקסט 18">
            <a:extLst>
              <a:ext uri="{FF2B5EF4-FFF2-40B4-BE49-F238E27FC236}">
                <a16:creationId xmlns:a16="http://schemas.microsoft.com/office/drawing/2014/main" id="{36A68630-BDD2-0881-B343-80F4F15335A1}"/>
              </a:ext>
            </a:extLst>
          </p:cNvPr>
          <p:cNvSpPr txBox="1"/>
          <p:nvPr/>
        </p:nvSpPr>
        <p:spPr>
          <a:xfrm>
            <a:off x="4696599" y="2306620"/>
            <a:ext cx="3968699" cy="369332"/>
          </a:xfrm>
          <a:prstGeom prst="rect">
            <a:avLst/>
          </a:prstGeom>
          <a:noFill/>
        </p:spPr>
        <p:txBody>
          <a:bodyPr wrap="square" rtlCol="0">
            <a:spAutoFit/>
          </a:bodyPr>
          <a:lstStyle/>
          <a:p>
            <a:r>
              <a:rPr lang="he-IL" b="0" i="0" dirty="0">
                <a:effectLst/>
                <a:latin typeface="Rubik Black" pitchFamily="2" charset="-79"/>
                <a:cs typeface="Rubik Black" pitchFamily="2" charset="-79"/>
              </a:rPr>
              <a:t>הקופה האטרקטיבית ביותר לילדים</a:t>
            </a:r>
            <a:endParaRPr lang="he-IL" sz="2400" i="0" dirty="0">
              <a:effectLst/>
              <a:latin typeface="Rubik Black" pitchFamily="2" charset="-79"/>
              <a:cs typeface="Rubik Black" pitchFamily="2" charset="-79"/>
            </a:endParaRPr>
          </a:p>
        </p:txBody>
      </p:sp>
      <p:sp>
        <p:nvSpPr>
          <p:cNvPr id="2" name="תיבת טקסט 1">
            <a:extLst>
              <a:ext uri="{FF2B5EF4-FFF2-40B4-BE49-F238E27FC236}">
                <a16:creationId xmlns:a16="http://schemas.microsoft.com/office/drawing/2014/main" id="{16F97489-2A9B-4A8D-550C-81AE02BF7AB2}"/>
              </a:ext>
            </a:extLst>
          </p:cNvPr>
          <p:cNvSpPr txBox="1"/>
          <p:nvPr/>
        </p:nvSpPr>
        <p:spPr>
          <a:xfrm>
            <a:off x="2957628" y="2985769"/>
            <a:ext cx="6290534" cy="2523768"/>
          </a:xfrm>
          <a:prstGeom prst="rect">
            <a:avLst/>
          </a:prstGeom>
          <a:noFill/>
        </p:spPr>
        <p:txBody>
          <a:bodyPr wrap="square">
            <a:spAutoFit/>
          </a:bodyPr>
          <a:lstStyle/>
          <a:p>
            <a:r>
              <a:rPr lang="he-IL" sz="1400" b="1" dirty="0">
                <a:latin typeface="Rubik" pitchFamily="2" charset="-79"/>
                <a:cs typeface="Rubik" pitchFamily="2" charset="-79"/>
              </a:rPr>
              <a:t>מאוחדת פועלת ליצירת בידול משמעותי בשירותים לילדים, באמצעות חיזוק תחום קופות הבחירה, הרחבת שירותים ייחודיים ופיתוח חוויית שירות מותאמת למשפחות.</a:t>
            </a:r>
          </a:p>
          <a:p>
            <a:endParaRPr lang="he-IL" sz="1400" dirty="0">
              <a:latin typeface="Rubik Light" pitchFamily="2" charset="-79"/>
              <a:cs typeface="Rubik Light"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הרחבת והנגשת שירותי רפואה ייעודיים לילדים</a:t>
            </a:r>
          </a:p>
          <a:p>
            <a:pPr marL="285750" indent="-285750">
              <a:buFont typeface="Arial" panose="020B0604020202020204" pitchFamily="34" charset="0"/>
              <a:buChar char="•"/>
            </a:pPr>
            <a:r>
              <a:rPr lang="he-IL" sz="1400" dirty="0">
                <a:latin typeface="Rubik Light" pitchFamily="2" charset="-79"/>
                <a:cs typeface="Rubik Light" pitchFamily="2" charset="-79"/>
              </a:rPr>
              <a:t>פיתוח </a:t>
            </a:r>
            <a:r>
              <a:rPr lang="he-IL" sz="1400" dirty="0" err="1">
                <a:latin typeface="Rubik Light" pitchFamily="2" charset="-79"/>
                <a:cs typeface="Rubik Light" pitchFamily="2" charset="-79"/>
              </a:rPr>
              <a:t>תכניות</a:t>
            </a:r>
            <a:r>
              <a:rPr lang="he-IL" sz="1400" dirty="0">
                <a:latin typeface="Rubik Light" pitchFamily="2" charset="-79"/>
                <a:cs typeface="Rubik Light" pitchFamily="2" charset="-79"/>
              </a:rPr>
              <a:t> ושירותים חדשניים</a:t>
            </a:r>
          </a:p>
          <a:p>
            <a:pPr marL="285750" indent="-285750">
              <a:buFont typeface="Arial" panose="020B0604020202020204" pitchFamily="34" charset="0"/>
              <a:buChar char="•"/>
            </a:pPr>
            <a:r>
              <a:rPr lang="he-IL" sz="1400" dirty="0">
                <a:latin typeface="Rubik Light" pitchFamily="2" charset="-79"/>
                <a:cs typeface="Rubik Light" pitchFamily="2" charset="-79"/>
              </a:rPr>
              <a:t>שיתופי פעולה </a:t>
            </a:r>
            <a:r>
              <a:rPr lang="he-IL" sz="1400" dirty="0" err="1">
                <a:latin typeface="Rubik Light" pitchFamily="2" charset="-79"/>
                <a:cs typeface="Rubik Light" pitchFamily="2" charset="-79"/>
              </a:rPr>
              <a:t>ותכניות</a:t>
            </a:r>
            <a:r>
              <a:rPr lang="he-IL" sz="1400" dirty="0">
                <a:latin typeface="Rubik Light" pitchFamily="2" charset="-79"/>
                <a:cs typeface="Rubik Light" pitchFamily="2" charset="-79"/>
              </a:rPr>
              <a:t> מניעה ייעודיות</a:t>
            </a:r>
          </a:p>
          <a:p>
            <a:pPr marL="285750" indent="-285750">
              <a:buFont typeface="Arial" panose="020B0604020202020204" pitchFamily="34" charset="0"/>
              <a:buChar char="•"/>
            </a:pPr>
            <a:r>
              <a:rPr lang="he-IL" sz="1400" dirty="0">
                <a:latin typeface="Rubik Light" pitchFamily="2" charset="-79"/>
                <a:cs typeface="Rubik Light" pitchFamily="2" charset="-79"/>
              </a:rPr>
              <a:t>חוויית שירות מותאמת למשפחה</a:t>
            </a:r>
          </a:p>
          <a:p>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להוביל את תחום בריאות הילדים ולהיות הבחירה המועדפת למשפחות בישראל.</a:t>
            </a:r>
          </a:p>
        </p:txBody>
      </p:sp>
      <p:sp>
        <p:nvSpPr>
          <p:cNvPr id="4" name="תיבת טקסט 3">
            <a:extLst>
              <a:ext uri="{FF2B5EF4-FFF2-40B4-BE49-F238E27FC236}">
                <a16:creationId xmlns:a16="http://schemas.microsoft.com/office/drawing/2014/main" id="{69C3128A-1BFB-634A-A39F-2ABD8B43CD23}"/>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2386394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6E6FB-34F8-3692-DD60-E6D1BA22E57E}"/>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F671EEE4-D516-03BC-79C3-9F873CB5A607}"/>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4EBE618E-AC29-7369-B789-EF859D558CD5}"/>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A3939FA2-9940-BD72-9933-D1E15AD74AE6}"/>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4859A156-D9D7-9E0A-7E75-BE9BBD8E6CEC}"/>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F7B175F7-A979-486A-3BEE-34765CBE3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26587106-F1DF-EE49-93E2-B529CA9B2513}"/>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560A749B-DE59-CC7C-3489-14D963244F1E}"/>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171F1896-102C-AC0B-6192-FBB957F6D8B7}"/>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2F2F2C78-7FFA-2112-4B02-A1D4E1739CBA}"/>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200" dirty="0">
                <a:latin typeface="Rubik" pitchFamily="2" charset="-79"/>
                <a:cs typeface="Rubik" pitchFamily="2" charset="-79"/>
              </a:rPr>
              <a:t>02</a:t>
            </a:r>
            <a:endParaRPr lang="LID4096" sz="12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F2A38100-C707-027A-DFCE-CDF4EEC90F40}"/>
              </a:ext>
            </a:extLst>
          </p:cNvPr>
          <p:cNvSpPr txBox="1"/>
          <p:nvPr/>
        </p:nvSpPr>
        <p:spPr>
          <a:xfrm>
            <a:off x="4696599" y="2306620"/>
            <a:ext cx="3968699" cy="369332"/>
          </a:xfrm>
          <a:prstGeom prst="rect">
            <a:avLst/>
          </a:prstGeom>
          <a:noFill/>
        </p:spPr>
        <p:txBody>
          <a:bodyPr wrap="square" rtlCol="0">
            <a:spAutoFit/>
          </a:bodyPr>
          <a:lstStyle/>
          <a:p>
            <a:r>
              <a:rPr lang="he-IL" b="0" i="0" dirty="0">
                <a:effectLst/>
                <a:latin typeface="Rubik Black" pitchFamily="2" charset="-79"/>
                <a:cs typeface="Rubik Black" pitchFamily="2" charset="-79"/>
              </a:rPr>
              <a:t>רפואה ראשונית מצוינת</a:t>
            </a:r>
            <a:endParaRPr lang="he-IL" sz="2400" i="0" dirty="0">
              <a:effectLst/>
              <a:latin typeface="Rubik Black" pitchFamily="2" charset="-79"/>
              <a:cs typeface="Rubik Black" pitchFamily="2" charset="-79"/>
            </a:endParaRPr>
          </a:p>
        </p:txBody>
      </p:sp>
      <p:sp>
        <p:nvSpPr>
          <p:cNvPr id="12" name="תיבת טקסט 11">
            <a:extLst>
              <a:ext uri="{FF2B5EF4-FFF2-40B4-BE49-F238E27FC236}">
                <a16:creationId xmlns:a16="http://schemas.microsoft.com/office/drawing/2014/main" id="{0A121F0C-2097-E9A9-E30C-D38008C6511B}"/>
              </a:ext>
            </a:extLst>
          </p:cNvPr>
          <p:cNvSpPr txBox="1"/>
          <p:nvPr/>
        </p:nvSpPr>
        <p:spPr>
          <a:xfrm>
            <a:off x="2773680" y="2853689"/>
            <a:ext cx="6474482" cy="2739211"/>
          </a:xfrm>
          <a:prstGeom prst="rect">
            <a:avLst/>
          </a:prstGeom>
          <a:noFill/>
        </p:spPr>
        <p:txBody>
          <a:bodyPr wrap="square">
            <a:spAutoFit/>
          </a:bodyPr>
          <a:lstStyle/>
          <a:p>
            <a:r>
              <a:rPr lang="he-IL" sz="1400" b="1" dirty="0">
                <a:latin typeface="Rubik" pitchFamily="2" charset="-79"/>
                <a:cs typeface="Rubik" pitchFamily="2" charset="-79"/>
              </a:rPr>
              <a:t>הרפואה הראשונית היא הבסיס לפעילות הרפואית במאוחדת ונקודת המפגש המרכזית עם הלקוח.</a:t>
            </a:r>
          </a:p>
          <a:p>
            <a:endParaRPr lang="he-IL" sz="1400" dirty="0">
              <a:latin typeface="Rubik Light" pitchFamily="2" charset="-79"/>
              <a:cs typeface="Rubik Light" pitchFamily="2" charset="-79"/>
            </a:endParaRPr>
          </a:p>
          <a:p>
            <a:r>
              <a:rPr lang="he-IL" sz="1400" b="1" dirty="0">
                <a:latin typeface="Rubik" pitchFamily="2" charset="-79"/>
                <a:cs typeface="Rubik" pitchFamily="2" charset="-79"/>
              </a:rPr>
              <a:t>מאוחדת מחויבת להוביל ברפואה ראשונית איכותית, זמינה ומבוססת אמון - באמצעות:</a:t>
            </a:r>
          </a:p>
          <a:p>
            <a:pPr marL="285750" indent="-285750">
              <a:buFont typeface="Arial" panose="020B0604020202020204" pitchFamily="34" charset="0"/>
              <a:buChar char="•"/>
            </a:pPr>
            <a:r>
              <a:rPr lang="he-IL" sz="1400" dirty="0">
                <a:latin typeface="Rubik Light" pitchFamily="2" charset="-79"/>
                <a:cs typeface="Rubik Light" pitchFamily="2" charset="-79"/>
              </a:rPr>
              <a:t>זמינות גבוהה של רופאי משפחה לילדים, נשים ומבוגרים</a:t>
            </a:r>
          </a:p>
          <a:p>
            <a:pPr marL="285750" indent="-285750">
              <a:buFont typeface="Arial" panose="020B0604020202020204" pitchFamily="34" charset="0"/>
              <a:buChar char="•"/>
            </a:pPr>
            <a:r>
              <a:rPr lang="he-IL" sz="1400" dirty="0">
                <a:latin typeface="Rubik Light" pitchFamily="2" charset="-79"/>
                <a:cs typeface="Rubik Light" pitchFamily="2" charset="-79"/>
              </a:rPr>
              <a:t>שיעור גבוה של רופאים ואחיות מומחים</a:t>
            </a:r>
          </a:p>
          <a:p>
            <a:pPr marL="285750" indent="-285750">
              <a:buFont typeface="Arial" panose="020B0604020202020204" pitchFamily="34" charset="0"/>
              <a:buChar char="•"/>
            </a:pPr>
            <a:r>
              <a:rPr lang="he-IL" sz="1400" dirty="0">
                <a:latin typeface="Rubik Light" pitchFamily="2" charset="-79"/>
                <a:cs typeface="Rubik Light" pitchFamily="2" charset="-79"/>
              </a:rPr>
              <a:t>חוויית טיפול איכותית ושביעות רצון גבוהה</a:t>
            </a:r>
          </a:p>
          <a:p>
            <a:pPr marL="285750" indent="-285750">
              <a:buFont typeface="Arial" panose="020B0604020202020204" pitchFamily="34" charset="0"/>
              <a:buChar char="•"/>
            </a:pPr>
            <a:r>
              <a:rPr lang="he-IL" sz="1400" dirty="0">
                <a:latin typeface="Rubik Light" pitchFamily="2" charset="-79"/>
                <a:cs typeface="Rubik Light" pitchFamily="2" charset="-79"/>
              </a:rPr>
              <a:t>חיזוק האמון בין המטופל לרופא</a:t>
            </a:r>
          </a:p>
          <a:p>
            <a:pPr marL="285750" indent="-285750">
              <a:buFont typeface="Arial" panose="020B0604020202020204" pitchFamily="34" charset="0"/>
              <a:buChar char="•"/>
            </a:pPr>
            <a:r>
              <a:rPr lang="he-IL" sz="1400" dirty="0">
                <a:latin typeface="Rubik Light" pitchFamily="2" charset="-79"/>
                <a:cs typeface="Rubik Light" pitchFamily="2" charset="-79"/>
              </a:rPr>
              <a:t>שימוש בכלים טכנולוגיים תומכי החלטה לשיפור תהליכים רפואיים</a:t>
            </a:r>
          </a:p>
          <a:p>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להבטיח רפואה מקצועית, נגישה ואפקטיבית - שמייצרת ערך אמיתי ללקוחות.</a:t>
            </a:r>
          </a:p>
        </p:txBody>
      </p:sp>
      <p:sp>
        <p:nvSpPr>
          <p:cNvPr id="5" name="תיבת טקסט 4">
            <a:extLst>
              <a:ext uri="{FF2B5EF4-FFF2-40B4-BE49-F238E27FC236}">
                <a16:creationId xmlns:a16="http://schemas.microsoft.com/office/drawing/2014/main" id="{7716A933-9B48-816E-A1E2-0DB60F2BADB4}"/>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2222910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7395C-DE1D-C623-D29C-B17D198EA3D0}"/>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6B88ECFD-AA94-B71E-C1E1-4DC7334B1288}"/>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F8E1C5D0-1C31-13CD-D293-76A2EEC498BE}"/>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BFB9B64B-B7DF-BF3C-DF23-5C244C338A30}"/>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2D51F7F3-A458-68E1-0F52-7CA69971FB79}"/>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0E436575-1CCA-1EC6-0E00-85515441E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493ED637-3A08-696C-914E-CF0EE41C5756}"/>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B6FCD9C0-B896-DF50-3845-051B99EE73FD}"/>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71A31619-BD40-1E2E-ABAA-CCCD0F77075B}"/>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9DAACFDA-D9A6-63EA-95FF-4256FA3D7473}"/>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200" dirty="0">
                <a:latin typeface="Rubik" pitchFamily="2" charset="-79"/>
                <a:cs typeface="Rubik" pitchFamily="2" charset="-79"/>
              </a:rPr>
              <a:t>03</a:t>
            </a:r>
            <a:endParaRPr lang="LID4096" sz="12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21F21164-1CC0-A77E-9997-B488469AA531}"/>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שירות אכפתי, פרואקטיבי ומותאם לקהל היעד</a:t>
            </a:r>
            <a:endParaRPr lang="he-IL" sz="24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8F59B980-B702-32CC-7485-94BE961E5373}"/>
              </a:ext>
            </a:extLst>
          </p:cNvPr>
          <p:cNvSpPr txBox="1"/>
          <p:nvPr/>
        </p:nvSpPr>
        <p:spPr>
          <a:xfrm>
            <a:off x="2773680" y="2853689"/>
            <a:ext cx="6474482" cy="2739211"/>
          </a:xfrm>
          <a:prstGeom prst="rect">
            <a:avLst/>
          </a:prstGeom>
          <a:noFill/>
        </p:spPr>
        <p:txBody>
          <a:bodyPr wrap="square">
            <a:spAutoFit/>
          </a:bodyPr>
          <a:lstStyle/>
          <a:p>
            <a:r>
              <a:rPr lang="he-IL" sz="1400" b="1" dirty="0">
                <a:latin typeface="Rubik" pitchFamily="2" charset="-79"/>
                <a:cs typeface="Rubik" pitchFamily="2" charset="-79"/>
              </a:rPr>
              <a:t>מאוחדת מטמיעה תפיסת שירות שמזהה את הצרכים הייחודיים של קהלים שונים ופועלת באופן יזום כדי לתת להם מענה מותאם.</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תהליכי שירות מסונכרנים ומותאמים למאפייני הלקוחות</a:t>
            </a:r>
          </a:p>
          <a:p>
            <a:pPr marL="285750" indent="-285750">
              <a:buFont typeface="Arial" panose="020B0604020202020204" pitchFamily="34" charset="0"/>
              <a:buChar char="•"/>
            </a:pPr>
            <a:r>
              <a:rPr lang="he-IL" sz="1400" dirty="0">
                <a:latin typeface="Rubik Light" pitchFamily="2" charset="-79"/>
                <a:cs typeface="Rubik Light" pitchFamily="2" charset="-79"/>
              </a:rPr>
              <a:t>פיתוח שירותים יזומים ופרואקטיביים</a:t>
            </a:r>
          </a:p>
          <a:p>
            <a:pPr marL="285750" indent="-285750">
              <a:buFont typeface="Arial" panose="020B0604020202020204" pitchFamily="34" charset="0"/>
              <a:buChar char="•"/>
            </a:pPr>
            <a:r>
              <a:rPr lang="he-IL" sz="1400" dirty="0">
                <a:latin typeface="Rubik Light" pitchFamily="2" charset="-79"/>
                <a:cs typeface="Rubik Light" pitchFamily="2" charset="-79"/>
              </a:rPr>
              <a:t>עיצוב ושיפור מתמיד של תשתיות השירות</a:t>
            </a:r>
          </a:p>
          <a:p>
            <a:pPr marL="285750" indent="-285750">
              <a:buFont typeface="Arial" panose="020B0604020202020204" pitchFamily="34" charset="0"/>
              <a:buChar char="•"/>
            </a:pPr>
            <a:r>
              <a:rPr lang="he-IL" sz="1400" dirty="0">
                <a:latin typeface="Rubik Light" pitchFamily="2" charset="-79"/>
                <a:cs typeface="Rubik Light" pitchFamily="2" charset="-79"/>
              </a:rPr>
              <a:t>חיזוק הממשק עם הלקוח והממשקים הפנימיים</a:t>
            </a:r>
          </a:p>
          <a:p>
            <a:pPr marL="285750" indent="-285750">
              <a:buFont typeface="Arial" panose="020B0604020202020204" pitchFamily="34" charset="0"/>
              <a:buChar char="•"/>
            </a:pPr>
            <a:r>
              <a:rPr lang="he-IL" sz="1400" dirty="0">
                <a:latin typeface="Rubik Light" pitchFamily="2" charset="-79"/>
                <a:cs typeface="Rubik Light" pitchFamily="2" charset="-79"/>
              </a:rPr>
              <a:t>יצירת שביעות רצון והמלצה גבוהה דרך יחס אישי והתאמה תרבותית</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לעבור משירות תגובתי לשירות יוזם, מדויק ומותאם - שמייצר חוויית לקוח משמעותית.</a:t>
            </a:r>
          </a:p>
        </p:txBody>
      </p:sp>
      <p:sp>
        <p:nvSpPr>
          <p:cNvPr id="12" name="תיבת טקסט 11">
            <a:extLst>
              <a:ext uri="{FF2B5EF4-FFF2-40B4-BE49-F238E27FC236}">
                <a16:creationId xmlns:a16="http://schemas.microsoft.com/office/drawing/2014/main" id="{F24D4803-6B02-F1BD-3083-BC7C7AFD67FE}"/>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3762431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F435-424A-D2D2-128A-1C6A1301480E}"/>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9BC4072E-B01E-5EC5-475E-EAA6EF8888AD}"/>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9B9DD5D1-9B93-77C6-77F4-C37A822CD306}"/>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06F5C71C-267E-2E8C-8414-8C55EE78783B}"/>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33505F69-C9F4-E534-888A-C2C8B0AC682B}"/>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E8992056-9E4E-EBC4-98CF-A2CC051D6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6E877D1B-7306-ED32-D429-5DA3BA22B37E}"/>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B7D1CE04-1608-B525-5324-95BA295FF670}"/>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05D9BE71-9FD5-43C4-AFE9-7F0CFD715849}"/>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C8254E09-3199-A73E-AE10-9BD69A839957}"/>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04</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88E8A4DA-AB60-E6E8-1843-3998787A59DF}"/>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הקופה המועדפת לצוותים רפואיים</a:t>
            </a:r>
            <a:endParaRPr lang="he-IL" sz="2400" i="0" dirty="0">
              <a:effectLst/>
              <a:latin typeface="Rubik Black" pitchFamily="2" charset="-79"/>
              <a:cs typeface="Rubik Black" pitchFamily="2" charset="-79"/>
            </a:endParaRPr>
          </a:p>
        </p:txBody>
      </p:sp>
      <p:sp>
        <p:nvSpPr>
          <p:cNvPr id="12" name="תיבת טקסט 11">
            <a:extLst>
              <a:ext uri="{FF2B5EF4-FFF2-40B4-BE49-F238E27FC236}">
                <a16:creationId xmlns:a16="http://schemas.microsoft.com/office/drawing/2014/main" id="{96B06D3E-00D0-DD67-65F6-3FF034E3F92A}"/>
              </a:ext>
            </a:extLst>
          </p:cNvPr>
          <p:cNvSpPr txBox="1"/>
          <p:nvPr/>
        </p:nvSpPr>
        <p:spPr>
          <a:xfrm>
            <a:off x="2773680" y="2853689"/>
            <a:ext cx="6474482" cy="2523768"/>
          </a:xfrm>
          <a:prstGeom prst="rect">
            <a:avLst/>
          </a:prstGeom>
          <a:noFill/>
        </p:spPr>
        <p:txBody>
          <a:bodyPr wrap="square">
            <a:spAutoFit/>
          </a:bodyPr>
          <a:lstStyle/>
          <a:p>
            <a:r>
              <a:rPr lang="he-IL" sz="1400" b="1" dirty="0">
                <a:latin typeface="Rubik" pitchFamily="2" charset="-79"/>
                <a:cs typeface="Rubik" pitchFamily="2" charset="-79"/>
              </a:rPr>
              <a:t>מאוחדת שואפת להיות הארגון שבו הצוותים הרפואיים בוחרים לעבוד - ולהישאר.</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תנאי העסקה תחרותיים והשקעה בפיתוח מקצועי ואישי</a:t>
            </a:r>
          </a:p>
          <a:p>
            <a:pPr marL="285750" indent="-285750">
              <a:buFont typeface="Arial" panose="020B0604020202020204" pitchFamily="34" charset="0"/>
              <a:buChar char="•"/>
            </a:pPr>
            <a:r>
              <a:rPr lang="he-IL" sz="1400" dirty="0">
                <a:latin typeface="Rubik Light" pitchFamily="2" charset="-79"/>
                <a:cs typeface="Rubik Light" pitchFamily="2" charset="-79"/>
              </a:rPr>
              <a:t>תהליכי קליטה איכותיים ותומכים</a:t>
            </a:r>
          </a:p>
          <a:p>
            <a:pPr marL="285750" indent="-285750">
              <a:buFont typeface="Arial" panose="020B0604020202020204" pitchFamily="34" charset="0"/>
              <a:buChar char="•"/>
            </a:pPr>
            <a:r>
              <a:rPr lang="he-IL" sz="1400" dirty="0">
                <a:latin typeface="Rubik Light" pitchFamily="2" charset="-79"/>
                <a:cs typeface="Rubik Light" pitchFamily="2" charset="-79"/>
              </a:rPr>
              <a:t>חיזוק תחושת השייכות והחיבור לארגון</a:t>
            </a:r>
          </a:p>
          <a:p>
            <a:pPr marL="285750" indent="-285750">
              <a:buFont typeface="Arial" panose="020B0604020202020204" pitchFamily="34" charset="0"/>
              <a:buChar char="•"/>
            </a:pPr>
            <a:r>
              <a:rPr lang="he-IL" sz="1400" dirty="0">
                <a:latin typeface="Rubik Light" pitchFamily="2" charset="-79"/>
                <a:cs typeface="Rubik Light" pitchFamily="2" charset="-79"/>
              </a:rPr>
              <a:t>שיפור שביעות רצון ואיזון עבודה-חיים</a:t>
            </a:r>
          </a:p>
          <a:p>
            <a:pPr marL="285750" indent="-285750">
              <a:buFont typeface="Arial" panose="020B0604020202020204" pitchFamily="34" charset="0"/>
              <a:buChar char="•"/>
            </a:pPr>
            <a:r>
              <a:rPr lang="he-IL" sz="1400" dirty="0">
                <a:latin typeface="Rubik Light" pitchFamily="2" charset="-79"/>
                <a:cs typeface="Rubik Light" pitchFamily="2" charset="-79"/>
              </a:rPr>
              <a:t>יצירת סביבת עבודה מקצועית, מכבדת ומקדמת</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לחזק את המחויבות, המקצועיות והגאווה הארגונית - כבסיס למצוינות רפואית.</a:t>
            </a:r>
          </a:p>
        </p:txBody>
      </p:sp>
      <p:sp>
        <p:nvSpPr>
          <p:cNvPr id="13" name="תיבת טקסט 12">
            <a:extLst>
              <a:ext uri="{FF2B5EF4-FFF2-40B4-BE49-F238E27FC236}">
                <a16:creationId xmlns:a16="http://schemas.microsoft.com/office/drawing/2014/main" id="{43C652F9-675F-8544-95A3-DCC4AF72DE84}"/>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
        <p:nvSpPr>
          <p:cNvPr id="14" name="Oval 27">
            <a:extLst>
              <a:ext uri="{FF2B5EF4-FFF2-40B4-BE49-F238E27FC236}">
                <a16:creationId xmlns:a16="http://schemas.microsoft.com/office/drawing/2014/main" id="{E00E0CCC-4712-B0C8-0F4A-86A75D0C9C99}"/>
              </a:ext>
            </a:extLst>
          </p:cNvPr>
          <p:cNvSpPr/>
          <p:nvPr/>
        </p:nvSpPr>
        <p:spPr>
          <a:xfrm>
            <a:off x="4405361" y="5435565"/>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5" name="מלבן: פינות מעוגלות 14">
            <a:extLst>
              <a:ext uri="{FF2B5EF4-FFF2-40B4-BE49-F238E27FC236}">
                <a16:creationId xmlns:a16="http://schemas.microsoft.com/office/drawing/2014/main" id="{35BBEE0A-CFAA-8D20-8FAE-3ECBE56FA80E}"/>
              </a:ext>
            </a:extLst>
          </p:cNvPr>
          <p:cNvSpPr/>
          <p:nvPr/>
        </p:nvSpPr>
        <p:spPr>
          <a:xfrm>
            <a:off x="1200151" y="5650556"/>
            <a:ext cx="3994720"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לצפייה בסקר המחוברות לרופאים בשנת 2025</a:t>
            </a:r>
            <a:endParaRPr lang="LID4096" sz="1400" dirty="0">
              <a:solidFill>
                <a:schemeClr val="bg1"/>
              </a:solidFill>
              <a:latin typeface="Rubik" pitchFamily="2" charset="-79"/>
              <a:cs typeface="Rubik" pitchFamily="2" charset="-79"/>
            </a:endParaRPr>
          </a:p>
        </p:txBody>
      </p:sp>
    </p:spTree>
    <p:extLst>
      <p:ext uri="{BB962C8B-B14F-4D97-AF65-F5344CB8AC3E}">
        <p14:creationId xmlns:p14="http://schemas.microsoft.com/office/powerpoint/2010/main" val="2601664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247BE78C-C9EA-56F2-BF74-0A3F710BCCF5}"/>
            </a:ext>
          </a:extLst>
        </p:cNvPr>
        <p:cNvGrpSpPr/>
        <p:nvPr/>
      </p:nvGrpSpPr>
      <p:grpSpPr>
        <a:xfrm>
          <a:off x="0" y="0"/>
          <a:ext cx="0" cy="0"/>
          <a:chOff x="0" y="0"/>
          <a:chExt cx="0" cy="0"/>
        </a:xfrm>
      </p:grpSpPr>
      <p:sp>
        <p:nvSpPr>
          <p:cNvPr id="3" name="מלבן 2">
            <a:extLst>
              <a:ext uri="{FF2B5EF4-FFF2-40B4-BE49-F238E27FC236}">
                <a16:creationId xmlns:a16="http://schemas.microsoft.com/office/drawing/2014/main" id="{E7B01309-3115-DA1C-DED0-B4432DDC5808}"/>
              </a:ext>
            </a:extLst>
          </p:cNvPr>
          <p:cNvSpPr/>
          <p:nvPr/>
        </p:nvSpPr>
        <p:spPr>
          <a:xfrm>
            <a:off x="12055150" y="317241"/>
            <a:ext cx="136849" cy="970383"/>
          </a:xfrm>
          <a:prstGeom prst="rect">
            <a:avLst/>
          </a:prstGeom>
          <a:solidFill>
            <a:srgbClr val="FFB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5" name="תמונה 4">
            <a:extLst>
              <a:ext uri="{FF2B5EF4-FFF2-40B4-BE49-F238E27FC236}">
                <a16:creationId xmlns:a16="http://schemas.microsoft.com/office/drawing/2014/main" id="{3C71CC49-9A74-1119-BD26-D60B8897124F}"/>
              </a:ext>
            </a:extLst>
          </p:cNvPr>
          <p:cNvPicPr>
            <a:picLocks noChangeAspect="1"/>
          </p:cNvPicPr>
          <p:nvPr/>
        </p:nvPicPr>
        <p:blipFill>
          <a:blip r:embed="rId2"/>
          <a:stretch>
            <a:fillRect/>
          </a:stretch>
        </p:blipFill>
        <p:spPr>
          <a:xfrm>
            <a:off x="19051" y="20008"/>
            <a:ext cx="1809750" cy="626324"/>
          </a:xfrm>
          <a:prstGeom prst="rect">
            <a:avLst/>
          </a:prstGeom>
          <a:solidFill>
            <a:srgbClr val="FAFAFA"/>
          </a:solidFill>
        </p:spPr>
      </p:pic>
      <p:sp>
        <p:nvSpPr>
          <p:cNvPr id="4" name="TextBox 6">
            <a:extLst>
              <a:ext uri="{FF2B5EF4-FFF2-40B4-BE49-F238E27FC236}">
                <a16:creationId xmlns:a16="http://schemas.microsoft.com/office/drawing/2014/main" id="{B7A752DC-ACF3-2E06-CC5C-39FC5EDC87C4}"/>
              </a:ext>
            </a:extLst>
          </p:cNvPr>
          <p:cNvSpPr txBox="1"/>
          <p:nvPr/>
        </p:nvSpPr>
        <p:spPr>
          <a:xfrm>
            <a:off x="1677403" y="69118"/>
            <a:ext cx="10078029" cy="646331"/>
          </a:xfrm>
          <a:prstGeom prst="rect">
            <a:avLst/>
          </a:prstGeom>
          <a:noFill/>
        </p:spPr>
        <p:txBody>
          <a:bodyPr wrap="square" rtlCol="1">
            <a:spAutoFit/>
          </a:bodyPr>
          <a:lstStyle/>
          <a:p>
            <a:pPr marL="0" marR="0" lvl="0" indent="0" algn="r" defTabSz="914400" rtl="1" eaLnBrk="1" fontAlgn="auto" latinLnBrk="0" hangingPunct="1">
              <a:lnSpc>
                <a:spcPct val="90000"/>
              </a:lnSpc>
              <a:spcBef>
                <a:spcPts val="64"/>
              </a:spcBef>
              <a:spcAft>
                <a:spcPts val="0"/>
              </a:spcAft>
              <a:buClrTx/>
              <a:buSzTx/>
              <a:buFontTx/>
              <a:buNone/>
              <a:tabLst/>
              <a:defRPr/>
            </a:pPr>
            <a:r>
              <a:rPr kumimoji="0" lang="he-IL" sz="4000" b="1" i="0" u="none" strike="noStrike" kern="1200" cap="none" spc="-134" normalizeH="0" baseline="0" noProof="0" dirty="0">
                <a:ln>
                  <a:noFill/>
                </a:ln>
                <a:solidFill>
                  <a:prstClr val="black">
                    <a:lumMod val="85000"/>
                    <a:lumOff val="15000"/>
                  </a:prstClr>
                </a:solidFill>
                <a:effectLst/>
                <a:uLnTx/>
                <a:uFillTx/>
                <a:latin typeface="Calibri"/>
                <a:ea typeface="+mn-ea"/>
                <a:cs typeface="Calibri"/>
              </a:rPr>
              <a:t>הקופה המועדפת על צוותים רפואיים</a:t>
            </a:r>
            <a:endParaRPr kumimoji="0" lang="he-IL" sz="4000" b="1" i="0" u="none" strike="noStrike" kern="1200" cap="none" spc="-134" normalizeH="0" baseline="0" noProof="0" dirty="0">
              <a:ln>
                <a:noFill/>
              </a:ln>
              <a:solidFill>
                <a:srgbClr val="F8991A"/>
              </a:solidFill>
              <a:effectLst/>
              <a:uLnTx/>
              <a:uFillTx/>
              <a:latin typeface="Calibri"/>
              <a:ea typeface="+mn-ea"/>
              <a:cs typeface="Calibri"/>
            </a:endParaRPr>
          </a:p>
        </p:txBody>
      </p:sp>
      <p:grpSp>
        <p:nvGrpSpPr>
          <p:cNvPr id="22" name="קבוצה 21">
            <a:extLst>
              <a:ext uri="{FF2B5EF4-FFF2-40B4-BE49-F238E27FC236}">
                <a16:creationId xmlns:a16="http://schemas.microsoft.com/office/drawing/2014/main" id="{A2A7EACB-FE69-680E-DE5F-08FD534D812D}"/>
              </a:ext>
            </a:extLst>
          </p:cNvPr>
          <p:cNvGrpSpPr/>
          <p:nvPr/>
        </p:nvGrpSpPr>
        <p:grpSpPr>
          <a:xfrm>
            <a:off x="1056985" y="1155272"/>
            <a:ext cx="10078029" cy="4242112"/>
            <a:chOff x="1056985" y="1287624"/>
            <a:chExt cx="10078029" cy="4242112"/>
          </a:xfrm>
        </p:grpSpPr>
        <p:graphicFrame>
          <p:nvGraphicFramePr>
            <p:cNvPr id="6" name="תרשים 5">
              <a:extLst>
                <a:ext uri="{FF2B5EF4-FFF2-40B4-BE49-F238E27FC236}">
                  <a16:creationId xmlns:a16="http://schemas.microsoft.com/office/drawing/2014/main" id="{E9545B76-98C9-5ED7-AD96-6B84ABF7A1DA}"/>
                </a:ext>
              </a:extLst>
            </p:cNvPr>
            <p:cNvGraphicFramePr>
              <a:graphicFrameLocks/>
            </p:cNvGraphicFramePr>
            <p:nvPr/>
          </p:nvGraphicFramePr>
          <p:xfrm>
            <a:off x="1056985" y="1287624"/>
            <a:ext cx="10078029" cy="4188616"/>
          </p:xfrm>
          <a:graphic>
            <a:graphicData uri="http://schemas.openxmlformats.org/drawingml/2006/chart">
              <c:chart xmlns:c="http://schemas.openxmlformats.org/drawingml/2006/chart" xmlns:r="http://schemas.openxmlformats.org/officeDocument/2006/relationships" r:id="rId3"/>
            </a:graphicData>
          </a:graphic>
        </p:graphicFrame>
        <p:pic>
          <p:nvPicPr>
            <p:cNvPr id="7" name="תמונה 6">
              <a:extLst>
                <a:ext uri="{FF2B5EF4-FFF2-40B4-BE49-F238E27FC236}">
                  <a16:creationId xmlns:a16="http://schemas.microsoft.com/office/drawing/2014/main" id="{09F44E6D-6DAC-08D9-BC4E-AAFB4C1232CD}"/>
                </a:ext>
              </a:extLst>
            </p:cNvPr>
            <p:cNvPicPr>
              <a:picLocks noChangeAspect="1"/>
            </p:cNvPicPr>
            <p:nvPr/>
          </p:nvPicPr>
          <p:blipFill>
            <a:blip r:embed="rId4"/>
            <a:stretch>
              <a:fillRect/>
            </a:stretch>
          </p:blipFill>
          <p:spPr>
            <a:xfrm>
              <a:off x="3086670" y="5166026"/>
              <a:ext cx="944880" cy="338481"/>
            </a:xfrm>
            <a:prstGeom prst="rect">
              <a:avLst/>
            </a:prstGeom>
            <a:solidFill>
              <a:srgbClr val="00699D"/>
            </a:solidFill>
          </p:spPr>
        </p:pic>
        <p:pic>
          <p:nvPicPr>
            <p:cNvPr id="8" name="תמונה 7">
              <a:extLst>
                <a:ext uri="{FF2B5EF4-FFF2-40B4-BE49-F238E27FC236}">
                  <a16:creationId xmlns:a16="http://schemas.microsoft.com/office/drawing/2014/main" id="{78EB9458-D38F-1E15-12AC-41D8B1EF70D4}"/>
                </a:ext>
              </a:extLst>
            </p:cNvPr>
            <p:cNvPicPr>
              <a:picLocks noChangeAspect="1"/>
            </p:cNvPicPr>
            <p:nvPr/>
          </p:nvPicPr>
          <p:blipFill>
            <a:blip r:embed="rId2"/>
            <a:stretch>
              <a:fillRect/>
            </a:stretch>
          </p:blipFill>
          <p:spPr>
            <a:xfrm>
              <a:off x="1828801" y="5191255"/>
              <a:ext cx="873760" cy="338481"/>
            </a:xfrm>
            <a:prstGeom prst="rect">
              <a:avLst/>
            </a:prstGeom>
            <a:solidFill>
              <a:srgbClr val="FAFAFA"/>
            </a:solidFill>
          </p:spPr>
        </p:pic>
        <p:pic>
          <p:nvPicPr>
            <p:cNvPr id="9" name="תמונה 8">
              <a:extLst>
                <a:ext uri="{FF2B5EF4-FFF2-40B4-BE49-F238E27FC236}">
                  <a16:creationId xmlns:a16="http://schemas.microsoft.com/office/drawing/2014/main" id="{30ED55BF-010F-2FCE-1EB4-678DAF32B275}"/>
                </a:ext>
              </a:extLst>
            </p:cNvPr>
            <p:cNvPicPr>
              <a:picLocks noChangeAspect="1"/>
            </p:cNvPicPr>
            <p:nvPr/>
          </p:nvPicPr>
          <p:blipFill>
            <a:blip r:embed="rId5"/>
            <a:stretch>
              <a:fillRect/>
            </a:stretch>
          </p:blipFill>
          <p:spPr>
            <a:xfrm>
              <a:off x="4469744" y="5233654"/>
              <a:ext cx="944880" cy="253682"/>
            </a:xfrm>
            <a:prstGeom prst="rect">
              <a:avLst/>
            </a:prstGeom>
          </p:spPr>
        </p:pic>
        <p:cxnSp>
          <p:nvCxnSpPr>
            <p:cNvPr id="18" name="מחבר ישר 17">
              <a:extLst>
                <a:ext uri="{FF2B5EF4-FFF2-40B4-BE49-F238E27FC236}">
                  <a16:creationId xmlns:a16="http://schemas.microsoft.com/office/drawing/2014/main" id="{A73F24ED-BF10-7F51-9317-C268C1EFF272}"/>
                </a:ext>
              </a:extLst>
            </p:cNvPr>
            <p:cNvCxnSpPr>
              <a:cxnSpLocks/>
            </p:cNvCxnSpPr>
            <p:nvPr/>
          </p:nvCxnSpPr>
          <p:spPr>
            <a:xfrm flipV="1">
              <a:off x="7528560" y="2236849"/>
              <a:ext cx="0" cy="2412617"/>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תמונה 19">
              <a:extLst>
                <a:ext uri="{FF2B5EF4-FFF2-40B4-BE49-F238E27FC236}">
                  <a16:creationId xmlns:a16="http://schemas.microsoft.com/office/drawing/2014/main" id="{86145115-D0A6-0AEB-9C28-5D8359C7596B}"/>
                </a:ext>
              </a:extLst>
            </p:cNvPr>
            <p:cNvPicPr>
              <a:picLocks noChangeAspect="1"/>
            </p:cNvPicPr>
            <p:nvPr/>
          </p:nvPicPr>
          <p:blipFill>
            <a:blip r:embed="rId6"/>
            <a:stretch>
              <a:fillRect/>
            </a:stretch>
          </p:blipFill>
          <p:spPr>
            <a:xfrm>
              <a:off x="5852818" y="5194294"/>
              <a:ext cx="863600" cy="267814"/>
            </a:xfrm>
            <a:prstGeom prst="rect">
              <a:avLst/>
            </a:prstGeom>
          </p:spPr>
        </p:pic>
      </p:grpSp>
      <p:sp>
        <p:nvSpPr>
          <p:cNvPr id="23" name="חץ: למעלה 22">
            <a:extLst>
              <a:ext uri="{FF2B5EF4-FFF2-40B4-BE49-F238E27FC236}">
                <a16:creationId xmlns:a16="http://schemas.microsoft.com/office/drawing/2014/main" id="{1B5AB678-8599-D72A-7E7C-967238A1C0EB}"/>
              </a:ext>
            </a:extLst>
          </p:cNvPr>
          <p:cNvSpPr/>
          <p:nvPr/>
        </p:nvSpPr>
        <p:spPr>
          <a:xfrm>
            <a:off x="1876308" y="1732674"/>
            <a:ext cx="274315" cy="434857"/>
          </a:xfrm>
          <a:prstGeom prst="upArrow">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4" name="חץ: למעלה 23">
            <a:extLst>
              <a:ext uri="{FF2B5EF4-FFF2-40B4-BE49-F238E27FC236}">
                <a16:creationId xmlns:a16="http://schemas.microsoft.com/office/drawing/2014/main" id="{3E62E4CF-DE27-2A70-C03E-CFAE4CA52B92}"/>
              </a:ext>
            </a:extLst>
          </p:cNvPr>
          <p:cNvSpPr/>
          <p:nvPr/>
        </p:nvSpPr>
        <p:spPr>
          <a:xfrm rot="10800000">
            <a:off x="3754630" y="1732674"/>
            <a:ext cx="274315" cy="434857"/>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5" name="תיבת טקסט 24">
            <a:extLst>
              <a:ext uri="{FF2B5EF4-FFF2-40B4-BE49-F238E27FC236}">
                <a16:creationId xmlns:a16="http://schemas.microsoft.com/office/drawing/2014/main" id="{A4A7217E-75FB-4F72-96A7-CD7D20394AD3}"/>
              </a:ext>
            </a:extLst>
          </p:cNvPr>
          <p:cNvSpPr txBox="1"/>
          <p:nvPr/>
        </p:nvSpPr>
        <p:spPr>
          <a:xfrm rot="16200000">
            <a:off x="1327667" y="4325383"/>
            <a:ext cx="1371600" cy="36933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8.24</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6" name="תיבת טקסט 25">
            <a:extLst>
              <a:ext uri="{FF2B5EF4-FFF2-40B4-BE49-F238E27FC236}">
                <a16:creationId xmlns:a16="http://schemas.microsoft.com/office/drawing/2014/main" id="{64DCAE87-7F0D-47E4-43C5-968755E7B18F}"/>
              </a:ext>
            </a:extLst>
          </p:cNvPr>
          <p:cNvSpPr txBox="1"/>
          <p:nvPr/>
        </p:nvSpPr>
        <p:spPr>
          <a:xfrm rot="16200000">
            <a:off x="2656834" y="4332448"/>
            <a:ext cx="1371600" cy="36933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8.24</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7" name="תיבת טקסט 26">
            <a:extLst>
              <a:ext uri="{FF2B5EF4-FFF2-40B4-BE49-F238E27FC236}">
                <a16:creationId xmlns:a16="http://schemas.microsoft.com/office/drawing/2014/main" id="{F7743F35-9BB4-290A-4995-D9C6690B8E89}"/>
              </a:ext>
            </a:extLst>
          </p:cNvPr>
          <p:cNvSpPr txBox="1"/>
          <p:nvPr/>
        </p:nvSpPr>
        <p:spPr>
          <a:xfrm rot="16200000">
            <a:off x="3127394" y="4311409"/>
            <a:ext cx="1371600" cy="36933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11.25</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8" name="תיבת טקסט 27">
            <a:extLst>
              <a:ext uri="{FF2B5EF4-FFF2-40B4-BE49-F238E27FC236}">
                <a16:creationId xmlns:a16="http://schemas.microsoft.com/office/drawing/2014/main" id="{DC6E89B3-7984-522E-4447-F393DF0433B7}"/>
              </a:ext>
            </a:extLst>
          </p:cNvPr>
          <p:cNvSpPr txBox="1"/>
          <p:nvPr/>
        </p:nvSpPr>
        <p:spPr>
          <a:xfrm rot="16200000">
            <a:off x="1787735" y="4311409"/>
            <a:ext cx="1371600" cy="36933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11.25</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0" name="Rectangle 33">
            <a:extLst>
              <a:ext uri="{FF2B5EF4-FFF2-40B4-BE49-F238E27FC236}">
                <a16:creationId xmlns:a16="http://schemas.microsoft.com/office/drawing/2014/main" id="{5FD2295C-BD44-6115-4692-E2AD668AD91B}"/>
              </a:ext>
            </a:extLst>
          </p:cNvPr>
          <p:cNvSpPr/>
          <p:nvPr/>
        </p:nvSpPr>
        <p:spPr>
          <a:xfrm>
            <a:off x="-68425" y="5851826"/>
            <a:ext cx="12260425" cy="826141"/>
          </a:xfrm>
          <a:prstGeom prst="rect">
            <a:avLst/>
          </a:prstGeom>
          <a:solidFill>
            <a:srgbClr val="03495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1828343" rtl="1" eaLnBrk="1" fontAlgn="auto" latinLnBrk="0" hangingPunct="1">
              <a:lnSpc>
                <a:spcPct val="100000"/>
              </a:lnSpc>
              <a:spcBef>
                <a:spcPts val="0"/>
              </a:spcBef>
              <a:spcAft>
                <a:spcPts val="0"/>
              </a:spcAft>
              <a:buClrTx/>
              <a:buSzTx/>
              <a:buFontTx/>
              <a:buNone/>
              <a:tabLst/>
              <a:defRPr/>
            </a:pPr>
            <a:r>
              <a:rPr kumimoji="0" lang="he-IL" sz="6000" b="1" i="0" u="none" strike="noStrike" kern="0" cap="none" spc="0" normalizeH="0" baseline="0" noProof="0" dirty="0">
                <a:ln>
                  <a:noFill/>
                </a:ln>
                <a:solidFill>
                  <a:prstClr val="white"/>
                </a:solidFill>
                <a:effectLst/>
                <a:uLnTx/>
                <a:uFillTx/>
                <a:latin typeface="Calibri"/>
                <a:ea typeface="+mn-ea"/>
                <a:cs typeface="Calibri" panose="020F0502020204030204" pitchFamily="34" charset="0"/>
              </a:rPr>
              <a:t>מ ה פ ך</a:t>
            </a:r>
          </a:p>
        </p:txBody>
      </p:sp>
      <p:sp>
        <p:nvSpPr>
          <p:cNvPr id="2" name="מלבן 1">
            <a:extLst>
              <a:ext uri="{FF2B5EF4-FFF2-40B4-BE49-F238E27FC236}">
                <a16:creationId xmlns:a16="http://schemas.microsoft.com/office/drawing/2014/main" id="{B44E6BB2-2FE4-A4AB-A440-094192E4E071}"/>
              </a:ext>
            </a:extLst>
          </p:cNvPr>
          <p:cNvSpPr/>
          <p:nvPr/>
        </p:nvSpPr>
        <p:spPr>
          <a:xfrm>
            <a:off x="-68425" y="646331"/>
            <a:ext cx="2770986" cy="11527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הוראות הפקה: מגיעים לשקף הזה בלחיצה על הרחבה בשקף הקודם, לעצב מחדש, לא להשאיר כמו שזה </a:t>
            </a:r>
            <a:r>
              <a:rPr lang="he-IL" dirty="0">
                <a:sym typeface="Wingdings" panose="05000000000000000000" pitchFamily="2" charset="2"/>
              </a:rPr>
              <a:t></a:t>
            </a:r>
            <a:endParaRPr lang="he-IL" dirty="0"/>
          </a:p>
        </p:txBody>
      </p:sp>
      <p:sp>
        <p:nvSpPr>
          <p:cNvPr id="10" name="מלבן: פינות מעוגלות 9">
            <a:extLst>
              <a:ext uri="{FF2B5EF4-FFF2-40B4-BE49-F238E27FC236}">
                <a16:creationId xmlns:a16="http://schemas.microsoft.com/office/drawing/2014/main" id="{89C9ECDC-6C6D-7D01-D15B-1646D2598353}"/>
              </a:ext>
            </a:extLst>
          </p:cNvPr>
          <p:cNvSpPr/>
          <p:nvPr/>
        </p:nvSpPr>
        <p:spPr>
          <a:xfrm>
            <a:off x="7528560" y="956652"/>
            <a:ext cx="4376731" cy="776022"/>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בשנת 2025 ערכנו סקר בקרב רופאים, בו הם העידו כי </a:t>
            </a:r>
            <a:r>
              <a:rPr lang="he-IL" sz="1400" b="1" dirty="0">
                <a:solidFill>
                  <a:schemeClr val="bg1"/>
                </a:solidFill>
                <a:latin typeface="Rubik" pitchFamily="2" charset="-79"/>
                <a:cs typeface="Rubik" pitchFamily="2" charset="-79"/>
              </a:rPr>
              <a:t>מאוחדת היא אכן הקופה המועדת על פני הקופות האחרות! </a:t>
            </a:r>
            <a:endParaRPr lang="LID4096" sz="1400" b="1" dirty="0">
              <a:solidFill>
                <a:schemeClr val="bg1"/>
              </a:solidFill>
              <a:latin typeface="Rubik" pitchFamily="2" charset="-79"/>
              <a:cs typeface="Rubik" pitchFamily="2" charset="-79"/>
            </a:endParaRPr>
          </a:p>
        </p:txBody>
      </p:sp>
    </p:spTree>
    <p:extLst>
      <p:ext uri="{BB962C8B-B14F-4D97-AF65-F5344CB8AC3E}">
        <p14:creationId xmlns:p14="http://schemas.microsoft.com/office/powerpoint/2010/main" val="176868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932F5-6CD4-D1F0-5A8E-8898141A937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0A8FC02F-5A9E-700C-F226-BA0CBD704C38}"/>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5D02870F-E8D8-1ECC-B655-FD733D7C6046}"/>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701905AD-7706-0C29-11EA-4E7A1F1D2D4E}"/>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0DA0B237-6CE0-FB99-5E41-BD004878A13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E2FF9A80-9547-04C6-D5B3-B9FA89A9E6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59D1D5B9-1C13-26CC-5A6E-D16FBB194E39}"/>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79B11293-8F64-E4CA-DDB6-35BAF172CC6F}"/>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9F5269F1-054E-72B5-8A24-D0C06F5EBDE2}"/>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BDD398A3-E982-7698-8691-7C52EA4D0F08}"/>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05</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5C4A04F4-D716-6110-C123-06F6E8BF3DD8}"/>
              </a:ext>
            </a:extLst>
          </p:cNvPr>
          <p:cNvSpPr txBox="1"/>
          <p:nvPr/>
        </p:nvSpPr>
        <p:spPr>
          <a:xfrm>
            <a:off x="3113591" y="2306620"/>
            <a:ext cx="5551708" cy="646331"/>
          </a:xfrm>
          <a:prstGeom prst="rect">
            <a:avLst/>
          </a:prstGeom>
          <a:noFill/>
        </p:spPr>
        <p:txBody>
          <a:bodyPr wrap="square" rtlCol="0">
            <a:spAutoFit/>
          </a:bodyPr>
          <a:lstStyle/>
          <a:p>
            <a:r>
              <a:rPr lang="he-IL" b="0" i="0" dirty="0">
                <a:effectLst/>
                <a:latin typeface="Rubik Black" pitchFamily="2" charset="-79"/>
                <a:cs typeface="Rubik Black" pitchFamily="2" charset="-79"/>
              </a:rPr>
              <a:t>מיקוד וחיזוק הפריסה והשירותים בקהילות ובאזורים גיאוגרפיים בהם אנו חזקים</a:t>
            </a:r>
            <a:endParaRPr lang="he-IL" sz="24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385876B7-B12A-3C6E-0A13-85614E9603C8}"/>
              </a:ext>
            </a:extLst>
          </p:cNvPr>
          <p:cNvSpPr txBox="1"/>
          <p:nvPr/>
        </p:nvSpPr>
        <p:spPr>
          <a:xfrm>
            <a:off x="2773680" y="3077209"/>
            <a:ext cx="6474482" cy="2523768"/>
          </a:xfrm>
          <a:prstGeom prst="rect">
            <a:avLst/>
          </a:prstGeom>
          <a:noFill/>
        </p:spPr>
        <p:txBody>
          <a:bodyPr wrap="square">
            <a:spAutoFit/>
          </a:bodyPr>
          <a:lstStyle/>
          <a:p>
            <a:r>
              <a:rPr lang="he-IL" sz="1400" b="1" dirty="0">
                <a:latin typeface="Rubik" pitchFamily="2" charset="-79"/>
                <a:cs typeface="Rubik" pitchFamily="2" charset="-79"/>
              </a:rPr>
              <a:t>מאוחדת ממקדת משאבים ומאמץ באזורים ובקהילות שבהם יש לה יתרון יחסי, במטרה להעמיק נוכחות ולהוביל בצמיחה.</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מיקוד ניהולי והקצאת משאבים מדויקת</a:t>
            </a:r>
          </a:p>
          <a:p>
            <a:pPr marL="285750" indent="-285750">
              <a:buFont typeface="Arial" panose="020B0604020202020204" pitchFamily="34" charset="0"/>
              <a:buChar char="•"/>
            </a:pPr>
            <a:r>
              <a:rPr lang="he-IL" sz="1400" dirty="0">
                <a:latin typeface="Rubik Light" pitchFamily="2" charset="-79"/>
                <a:cs typeface="Rubik Light" pitchFamily="2" charset="-79"/>
              </a:rPr>
              <a:t>חיזוק וזמינות שירותי הרפואה בקהילה</a:t>
            </a:r>
          </a:p>
          <a:p>
            <a:pPr marL="285750" indent="-285750">
              <a:buFont typeface="Arial" panose="020B0604020202020204" pitchFamily="34" charset="0"/>
              <a:buChar char="•"/>
            </a:pPr>
            <a:r>
              <a:rPr lang="he-IL" sz="1400" dirty="0">
                <a:latin typeface="Rubik Light" pitchFamily="2" charset="-79"/>
                <a:cs typeface="Rubik Light" pitchFamily="2" charset="-79"/>
              </a:rPr>
              <a:t>הרחבת פריסת מרכזי בריאות ומכונים</a:t>
            </a:r>
          </a:p>
          <a:p>
            <a:pPr marL="285750" indent="-285750">
              <a:buFont typeface="Arial" panose="020B0604020202020204" pitchFamily="34" charset="0"/>
              <a:buChar char="•"/>
            </a:pPr>
            <a:r>
              <a:rPr lang="he-IL" sz="1400" dirty="0">
                <a:latin typeface="Rubik Light" pitchFamily="2" charset="-79"/>
                <a:cs typeface="Rubik Light" pitchFamily="2" charset="-79"/>
              </a:rPr>
              <a:t>פיתוח מענים רפואיים גם מעבר לשעות הפעילות</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להעמיק אחיזה באזורים חזקים, להגדיל נתח שוק ולבסס מובילות מקומית.</a:t>
            </a:r>
          </a:p>
        </p:txBody>
      </p:sp>
      <p:sp>
        <p:nvSpPr>
          <p:cNvPr id="12" name="תיבת טקסט 11">
            <a:extLst>
              <a:ext uri="{FF2B5EF4-FFF2-40B4-BE49-F238E27FC236}">
                <a16:creationId xmlns:a16="http://schemas.microsoft.com/office/drawing/2014/main" id="{D5AB232D-164F-6B3E-3DEE-4E8A6C0E3A7E}"/>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1029471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C65F-C54A-79AA-43FB-725B2BDBEC3D}"/>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98786053-5D90-1451-4729-A092C43F8821}"/>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7F571EF9-6CCA-F5B9-8316-C3FAEFEBE9BE}"/>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76323181-F0BE-B465-4C9D-AEF75FDEBEBB}"/>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7D669CF9-992D-4CAD-5459-000345687CC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C0716B87-6140-EC73-CDAC-657569A27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2AACC15B-1391-0FFC-930E-7545187BB35B}"/>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81B0ECEB-D34D-F996-F7CA-7F9FC66C2E99}"/>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A01F5A67-BB59-6DC5-74ED-B71292487EE3}"/>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AC8AE2C1-4240-66A3-73E7-D5432BFD1DC0}"/>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06</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A96ACAAC-72C9-DECC-FC6B-451320E633A9}"/>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להיו</a:t>
            </a:r>
            <a:r>
              <a:rPr lang="he-IL" dirty="0">
                <a:latin typeface="Rubik Black" pitchFamily="2" charset="-79"/>
                <a:cs typeface="Rubik Black" pitchFamily="2" charset="-79"/>
              </a:rPr>
              <a:t>ת הבחירה הראשונה לעולים חדשים</a:t>
            </a:r>
            <a:endParaRPr lang="he-IL" sz="24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0DFEE076-FAE7-54A3-7A67-9C825CD06B09}"/>
              </a:ext>
            </a:extLst>
          </p:cNvPr>
          <p:cNvSpPr txBox="1"/>
          <p:nvPr/>
        </p:nvSpPr>
        <p:spPr>
          <a:xfrm>
            <a:off x="2773680" y="3077209"/>
            <a:ext cx="6474482" cy="2523768"/>
          </a:xfrm>
          <a:prstGeom prst="rect">
            <a:avLst/>
          </a:prstGeom>
          <a:noFill/>
        </p:spPr>
        <p:txBody>
          <a:bodyPr wrap="square">
            <a:spAutoFit/>
          </a:bodyPr>
          <a:lstStyle/>
          <a:p>
            <a:r>
              <a:rPr lang="he-IL" sz="1400" b="1" dirty="0">
                <a:latin typeface="Rubik" pitchFamily="2" charset="-79"/>
                <a:cs typeface="Rubik" pitchFamily="2" charset="-79"/>
              </a:rPr>
              <a:t>מאוחדת פועלת לבסס את מעמדה כקופה המועדפת על עולים חדשים, באמצעות שירותים מותאמים ותהליכי קליטה מדויקים.</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הצעת שירותים אטרקטיביים ומותאמים לעולים</a:t>
            </a:r>
          </a:p>
          <a:p>
            <a:pPr marL="285750" indent="-285750">
              <a:buFont typeface="Arial" panose="020B0604020202020204" pitchFamily="34" charset="0"/>
              <a:buChar char="•"/>
            </a:pPr>
            <a:r>
              <a:rPr lang="he-IL" sz="1400" dirty="0">
                <a:latin typeface="Rubik Light" pitchFamily="2" charset="-79"/>
                <a:cs typeface="Rubik Light" pitchFamily="2" charset="-79"/>
              </a:rPr>
              <a:t>תהליכי גיוס וקליטה ייעודיים</a:t>
            </a:r>
          </a:p>
          <a:p>
            <a:pPr marL="285750" indent="-285750">
              <a:buFont typeface="Arial" panose="020B0604020202020204" pitchFamily="34" charset="0"/>
              <a:buChar char="•"/>
            </a:pPr>
            <a:r>
              <a:rPr lang="he-IL" sz="1400" dirty="0">
                <a:latin typeface="Rubik Light" pitchFamily="2" charset="-79"/>
                <a:cs typeface="Rubik Light" pitchFamily="2" charset="-79"/>
              </a:rPr>
              <a:t>חיזוק שביעות רצון והמלצה בקהל זה</a:t>
            </a:r>
          </a:p>
          <a:p>
            <a:pPr marL="285750" indent="-285750">
              <a:buFont typeface="Arial" panose="020B0604020202020204" pitchFamily="34" charset="0"/>
              <a:buChar char="•"/>
            </a:pPr>
            <a:r>
              <a:rPr lang="he-IL" sz="1400" dirty="0">
                <a:latin typeface="Rubik Light" pitchFamily="2" charset="-79"/>
                <a:cs typeface="Rubik Light" pitchFamily="2" charset="-79"/>
              </a:rPr>
              <a:t>יצירת קשר מוקדם ומשמעותי עם העולה כבר בשלבי ההגעה</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להעמיק אחיזה באזורים חזקים, להגדיל נתח שוק ולבסס מובילות מקומית.</a:t>
            </a:r>
          </a:p>
        </p:txBody>
      </p:sp>
      <p:sp>
        <p:nvSpPr>
          <p:cNvPr id="12" name="תיבת טקסט 11">
            <a:extLst>
              <a:ext uri="{FF2B5EF4-FFF2-40B4-BE49-F238E27FC236}">
                <a16:creationId xmlns:a16="http://schemas.microsoft.com/office/drawing/2014/main" id="{F1E96B38-EB8B-A32A-1B04-5A1C79E60D9D}"/>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9582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91F1-8DE3-2643-84EA-8965D59CB2E1}"/>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4BD1DF05-026E-19C3-7C07-EB56A8E25668}"/>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C402B2F7-3BD0-98A3-2D12-939A16FFA753}"/>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5BB7A56B-B26F-79F3-5294-608A92AEF71F}"/>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32147BDC-9145-0141-F12E-01835545A50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45ADF509-5988-B178-3DC6-B7F1FD011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51A4E828-50D9-7FD8-664F-7E11C733B3C7}"/>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5727FBBC-67DA-D64B-7D97-99B1BFAFB463}"/>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B29B0EAB-7528-4389-41DD-8DCC11E2965C}"/>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17D33D24-B7CA-C1BF-D62D-42E45A2DBB22}"/>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07</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1E561101-25F4-0ED8-FB1E-821AEC325D74}"/>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שיפור </a:t>
            </a:r>
            <a:r>
              <a:rPr lang="he-IL" b="0" i="0" dirty="0" err="1">
                <a:effectLst/>
                <a:latin typeface="Rubik Black" pitchFamily="2" charset="-79"/>
                <a:cs typeface="Rubik Black" pitchFamily="2" charset="-79"/>
              </a:rPr>
              <a:t>השב"ן</a:t>
            </a:r>
            <a:r>
              <a:rPr lang="he-IL" b="0" i="0" dirty="0">
                <a:effectLst/>
                <a:latin typeface="Rubik Black" pitchFamily="2" charset="-79"/>
                <a:cs typeface="Rubik Black" pitchFamily="2" charset="-79"/>
              </a:rPr>
              <a:t> והתאמתו לקהלי היעד של הקופה</a:t>
            </a:r>
            <a:endParaRPr lang="he-IL" sz="2400" i="0" dirty="0">
              <a:effectLst/>
              <a:latin typeface="Rubik Black" pitchFamily="2" charset="-79"/>
              <a:cs typeface="Rubik Black" pitchFamily="2" charset="-79"/>
            </a:endParaRPr>
          </a:p>
        </p:txBody>
      </p:sp>
      <p:sp>
        <p:nvSpPr>
          <p:cNvPr id="12" name="תיבת טקסט 11">
            <a:extLst>
              <a:ext uri="{FF2B5EF4-FFF2-40B4-BE49-F238E27FC236}">
                <a16:creationId xmlns:a16="http://schemas.microsoft.com/office/drawing/2014/main" id="{91AA5483-F16F-265F-4A61-401DE62B171E}"/>
              </a:ext>
            </a:extLst>
          </p:cNvPr>
          <p:cNvSpPr txBox="1"/>
          <p:nvPr/>
        </p:nvSpPr>
        <p:spPr>
          <a:xfrm>
            <a:off x="2773680" y="3077209"/>
            <a:ext cx="6474482" cy="2523768"/>
          </a:xfrm>
          <a:prstGeom prst="rect">
            <a:avLst/>
          </a:prstGeom>
          <a:noFill/>
        </p:spPr>
        <p:txBody>
          <a:bodyPr wrap="square">
            <a:spAutoFit/>
          </a:bodyPr>
          <a:lstStyle/>
          <a:p>
            <a:r>
              <a:rPr lang="he-IL" sz="1400" b="1" dirty="0">
                <a:latin typeface="Rubik" pitchFamily="2" charset="-79"/>
                <a:cs typeface="Rubik" pitchFamily="2" charset="-79"/>
              </a:rPr>
              <a:t>מאוחדת פועלת לחזק את האטרקטיביות של </a:t>
            </a:r>
            <a:r>
              <a:rPr lang="he-IL" sz="1400" b="1" dirty="0" err="1">
                <a:latin typeface="Rubik" pitchFamily="2" charset="-79"/>
                <a:cs typeface="Rubik" pitchFamily="2" charset="-79"/>
              </a:rPr>
              <a:t>השב"ן</a:t>
            </a:r>
            <a:r>
              <a:rPr lang="he-IL" sz="1400" b="1" dirty="0">
                <a:latin typeface="Rubik" pitchFamily="2" charset="-79"/>
                <a:cs typeface="Rubik" pitchFamily="2" charset="-79"/>
              </a:rPr>
              <a:t> ולהפוך אותו למנוע שימור וצמיחה מרכזי.</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חיזוק תחושת התמורה ושביעות הרצון </a:t>
            </a:r>
            <a:r>
              <a:rPr lang="he-IL" sz="1400" dirty="0" err="1">
                <a:latin typeface="Rubik Light" pitchFamily="2" charset="-79"/>
                <a:cs typeface="Rubik Light" pitchFamily="2" charset="-79"/>
              </a:rPr>
              <a:t>מהשב"ן</a:t>
            </a:r>
            <a:endParaRPr lang="he-IL" sz="1400" dirty="0">
              <a:latin typeface="Rubik Light" pitchFamily="2" charset="-79"/>
              <a:cs typeface="Rubik Light" pitchFamily="2" charset="-79"/>
            </a:endParaRPr>
          </a:p>
          <a:p>
            <a:pPr marL="285750" indent="-285750">
              <a:buFont typeface="Arial" panose="020B0604020202020204" pitchFamily="34" charset="0"/>
              <a:buChar char="•"/>
            </a:pPr>
            <a:r>
              <a:rPr lang="he-IL" sz="1400" dirty="0">
                <a:latin typeface="Rubik Light" pitchFamily="2" charset="-79"/>
                <a:cs typeface="Rubik Light" pitchFamily="2" charset="-79"/>
              </a:rPr>
              <a:t>הרחבת שיעור ההצטרפות בכל הרבדים</a:t>
            </a:r>
          </a:p>
          <a:p>
            <a:pPr marL="285750" indent="-285750">
              <a:buFont typeface="Arial" panose="020B0604020202020204" pitchFamily="34" charset="0"/>
              <a:buChar char="•"/>
            </a:pPr>
            <a:r>
              <a:rPr lang="he-IL" sz="1400" dirty="0">
                <a:latin typeface="Rubik Light" pitchFamily="2" charset="-79"/>
                <a:cs typeface="Rubik Light" pitchFamily="2" charset="-79"/>
              </a:rPr>
              <a:t>הובלה בשירותים ייעודיים לילדים</a:t>
            </a:r>
          </a:p>
          <a:p>
            <a:pPr marL="285750" indent="-285750">
              <a:buFont typeface="Arial" panose="020B0604020202020204" pitchFamily="34" charset="0"/>
              <a:buChar char="•"/>
            </a:pPr>
            <a:r>
              <a:rPr lang="he-IL" sz="1400" dirty="0">
                <a:latin typeface="Rubik Light" pitchFamily="2" charset="-79"/>
                <a:cs typeface="Rubik Light" pitchFamily="2" charset="-79"/>
              </a:rPr>
              <a:t>התאמת שיווק והנגשה לחברה הערבית</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למצב את </a:t>
            </a:r>
            <a:r>
              <a:rPr lang="he-IL" sz="1600" dirty="0" err="1">
                <a:solidFill>
                  <a:srgbClr val="F47221"/>
                </a:solidFill>
                <a:latin typeface="Rubik Light" pitchFamily="2" charset="-79"/>
                <a:cs typeface="Rubik Light" pitchFamily="2" charset="-79"/>
              </a:rPr>
              <a:t>השב"ן</a:t>
            </a:r>
            <a:r>
              <a:rPr lang="he-IL" sz="1600" dirty="0">
                <a:solidFill>
                  <a:srgbClr val="F47221"/>
                </a:solidFill>
                <a:latin typeface="Rubik Light" pitchFamily="2" charset="-79"/>
                <a:cs typeface="Rubik Light" pitchFamily="2" charset="-79"/>
              </a:rPr>
              <a:t> ככלי ערך מרכזי עבור הלקוחות וכמנוע נאמנות לקופה.</a:t>
            </a:r>
          </a:p>
        </p:txBody>
      </p:sp>
      <p:sp>
        <p:nvSpPr>
          <p:cNvPr id="5" name="תיבת טקסט 4">
            <a:extLst>
              <a:ext uri="{FF2B5EF4-FFF2-40B4-BE49-F238E27FC236}">
                <a16:creationId xmlns:a16="http://schemas.microsoft.com/office/drawing/2014/main" id="{D64C597B-AD3F-03AA-C4E5-9761964879D6}"/>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1215587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EB1F6-E01F-5993-2137-1A38EAD4414D}"/>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9DF81D2D-F777-76CA-C756-14C642C61F80}"/>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E1E34E7F-EEE4-4DD4-7770-EC5E5E054CD8}"/>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14B4D8AB-FD26-A836-3F54-C9BC34071FCD}"/>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F4FEE3D9-7BB9-A75D-BB49-D9FAAE569D9F}"/>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7222C702-6FAF-0CA2-B4A0-87DF8B9834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19F5E347-760C-0EA1-6B71-F2D221A20D80}"/>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5EABE32C-906F-B4B6-9EAB-CB0047B48082}"/>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90B5E65A-0D80-123D-A198-EDFCC2ACB127}"/>
              </a:ext>
            </a:extLst>
          </p:cNvPr>
          <p:cNvSpPr/>
          <p:nvPr/>
        </p:nvSpPr>
        <p:spPr>
          <a:xfrm rot="6356543">
            <a:off x="1343582"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07D79AAF-7A14-5BBE-17D9-8380B1439FC4}"/>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08</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C0A14578-8B9A-3914-CFBC-43BB664B1CE1}"/>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קידום בריאות פרואקטיבי ואורח חיים בריא</a:t>
            </a:r>
            <a:endParaRPr lang="he-IL" sz="24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31E2B12F-EF5B-F5A1-666E-0D19FA5464A2}"/>
              </a:ext>
            </a:extLst>
          </p:cNvPr>
          <p:cNvSpPr txBox="1"/>
          <p:nvPr/>
        </p:nvSpPr>
        <p:spPr>
          <a:xfrm>
            <a:off x="2773680" y="2924809"/>
            <a:ext cx="6474482" cy="2739211"/>
          </a:xfrm>
          <a:prstGeom prst="rect">
            <a:avLst/>
          </a:prstGeom>
          <a:noFill/>
        </p:spPr>
        <p:txBody>
          <a:bodyPr wrap="square">
            <a:spAutoFit/>
          </a:bodyPr>
          <a:lstStyle/>
          <a:p>
            <a:r>
              <a:rPr lang="he-IL" sz="1400" b="1" dirty="0">
                <a:latin typeface="Rubik" pitchFamily="2" charset="-79"/>
                <a:cs typeface="Rubik" pitchFamily="2" charset="-79"/>
              </a:rPr>
              <a:t>מאוחדת פועלת לעבור מגישה תגובתית לגישה יוזמת — לקדם בריאות עוד לפני הופעת מחלה.</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פעילות יזומה לשמירה על אורח חיים בריא</a:t>
            </a:r>
          </a:p>
          <a:p>
            <a:pPr marL="285750" indent="-285750">
              <a:buFont typeface="Arial" panose="020B0604020202020204" pitchFamily="34" charset="0"/>
              <a:buChar char="•"/>
            </a:pPr>
            <a:r>
              <a:rPr lang="he-IL" sz="1400" dirty="0">
                <a:latin typeface="Rubik Light" pitchFamily="2" charset="-79"/>
                <a:cs typeface="Rubik Light" pitchFamily="2" charset="-79"/>
              </a:rPr>
              <a:t>מסעות לקוח מותאמים להתמודדות ומניעה</a:t>
            </a:r>
          </a:p>
          <a:p>
            <a:pPr marL="285750" indent="-285750">
              <a:buFont typeface="Arial" panose="020B0604020202020204" pitchFamily="34" charset="0"/>
              <a:buChar char="•"/>
            </a:pPr>
            <a:r>
              <a:rPr lang="he-IL" sz="1400" dirty="0">
                <a:latin typeface="Rubik Light" pitchFamily="2" charset="-79"/>
                <a:cs typeface="Rubik Light" pitchFamily="2" charset="-79"/>
              </a:rPr>
              <a:t>תהליכים דיגיטליים פשוטים ונגישים</a:t>
            </a:r>
          </a:p>
          <a:p>
            <a:pPr marL="285750" indent="-285750">
              <a:buFont typeface="Arial" panose="020B0604020202020204" pitchFamily="34" charset="0"/>
              <a:buChar char="•"/>
            </a:pPr>
            <a:r>
              <a:rPr lang="he-IL" sz="1400" dirty="0">
                <a:latin typeface="Rubik Light" pitchFamily="2" charset="-79"/>
                <a:cs typeface="Rubik Light" pitchFamily="2" charset="-79"/>
              </a:rPr>
              <a:t>שיפור מדדי רפואה מונעת</a:t>
            </a:r>
          </a:p>
          <a:p>
            <a:pPr marL="285750" indent="-285750">
              <a:buFont typeface="Arial" panose="020B0604020202020204" pitchFamily="34" charset="0"/>
              <a:buChar char="•"/>
            </a:pPr>
            <a:r>
              <a:rPr lang="he-IL" sz="1400" dirty="0">
                <a:latin typeface="Rubik Light" pitchFamily="2" charset="-79"/>
                <a:cs typeface="Rubik Light" pitchFamily="2" charset="-79"/>
              </a:rPr>
              <a:t>מתן כלים ומידע מעשי ללקוחות</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להוביל תפיסה של רפואה מונעת ולחזק את בריאות הלקוחות לאורך זמן.</a:t>
            </a:r>
          </a:p>
        </p:txBody>
      </p:sp>
      <p:sp>
        <p:nvSpPr>
          <p:cNvPr id="12" name="תיבת טקסט 11">
            <a:extLst>
              <a:ext uri="{FF2B5EF4-FFF2-40B4-BE49-F238E27FC236}">
                <a16:creationId xmlns:a16="http://schemas.microsoft.com/office/drawing/2014/main" id="{52E91A2E-B312-BA1B-77F4-FC0A4D67295F}"/>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3504858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CF10F-B066-4352-1620-3460F93417C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D464A3FE-78C5-CFA1-4BBB-1FBAE635FA3E}"/>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AE813C12-521B-318D-237D-918993BE25A1}"/>
              </a:ext>
            </a:extLst>
          </p:cNvPr>
          <p:cNvSpPr txBox="1"/>
          <p:nvPr/>
        </p:nvSpPr>
        <p:spPr>
          <a:xfrm>
            <a:off x="7263813" y="123861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הכירו את 9 הכיוונים האסטרטגיים </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BDE258F3-93EA-8AF8-39D4-75591B494C7E}"/>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DFEB7BD4-0C35-D03A-9DB8-1F68D0C6AE81}"/>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CB5E14CC-9280-28EE-9ED2-4E9EACF0B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3" name="מלבן: פינות מעוגלות 2">
            <a:extLst>
              <a:ext uri="{FF2B5EF4-FFF2-40B4-BE49-F238E27FC236}">
                <a16:creationId xmlns:a16="http://schemas.microsoft.com/office/drawing/2014/main" id="{69AAC8A8-39E8-4E56-C814-8E97E1B14598}"/>
              </a:ext>
            </a:extLst>
          </p:cNvPr>
          <p:cNvSpPr/>
          <p:nvPr/>
        </p:nvSpPr>
        <p:spPr>
          <a:xfrm>
            <a:off x="2540643" y="1952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6245A184-5060-2753-AE4F-07ED9B55E6DE}"/>
              </a:ext>
            </a:extLst>
          </p:cNvPr>
          <p:cNvSpPr/>
          <p:nvPr/>
        </p:nvSpPr>
        <p:spPr>
          <a:xfrm rot="15243457" flipH="1">
            <a:off x="9849273" y="3433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 name="אליפסה 1">
            <a:extLst>
              <a:ext uri="{FF2B5EF4-FFF2-40B4-BE49-F238E27FC236}">
                <a16:creationId xmlns:a16="http://schemas.microsoft.com/office/drawing/2014/main" id="{05EE997C-5995-A2A7-418C-0AA091D6370F}"/>
              </a:ext>
            </a:extLst>
          </p:cNvPr>
          <p:cNvSpPr/>
          <p:nvPr/>
        </p:nvSpPr>
        <p:spPr>
          <a:xfrm>
            <a:off x="8721019" y="2220203"/>
            <a:ext cx="528644" cy="528644"/>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100" dirty="0">
                <a:latin typeface="Rubik" pitchFamily="2" charset="-79"/>
                <a:cs typeface="Rubik" pitchFamily="2" charset="-79"/>
              </a:rPr>
              <a:t>09</a:t>
            </a:r>
            <a:endParaRPr lang="LID4096" sz="11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8EC89ACC-330D-C179-38F3-2D3CD7A71E20}"/>
              </a:ext>
            </a:extLst>
          </p:cNvPr>
          <p:cNvSpPr txBox="1"/>
          <p:nvPr/>
        </p:nvSpPr>
        <p:spPr>
          <a:xfrm>
            <a:off x="3113591" y="2306620"/>
            <a:ext cx="5551708" cy="369332"/>
          </a:xfrm>
          <a:prstGeom prst="rect">
            <a:avLst/>
          </a:prstGeom>
          <a:noFill/>
        </p:spPr>
        <p:txBody>
          <a:bodyPr wrap="square" rtlCol="0">
            <a:spAutoFit/>
          </a:bodyPr>
          <a:lstStyle/>
          <a:p>
            <a:r>
              <a:rPr lang="he-IL" b="0" i="0" dirty="0">
                <a:effectLst/>
                <a:latin typeface="Rubik Black" pitchFamily="2" charset="-79"/>
                <a:cs typeface="Rubik Black" pitchFamily="2" charset="-79"/>
              </a:rPr>
              <a:t>מהפכה בשירות ברפואת השיניים</a:t>
            </a:r>
            <a:endParaRPr lang="he-IL" sz="24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94F9CE7D-62AA-CCE4-C885-BB4DE05B2F66}"/>
              </a:ext>
            </a:extLst>
          </p:cNvPr>
          <p:cNvSpPr txBox="1"/>
          <p:nvPr/>
        </p:nvSpPr>
        <p:spPr>
          <a:xfrm>
            <a:off x="2773680" y="2924809"/>
            <a:ext cx="6474482" cy="2739211"/>
          </a:xfrm>
          <a:prstGeom prst="rect">
            <a:avLst/>
          </a:prstGeom>
          <a:noFill/>
        </p:spPr>
        <p:txBody>
          <a:bodyPr wrap="square">
            <a:spAutoFit/>
          </a:bodyPr>
          <a:lstStyle/>
          <a:p>
            <a:r>
              <a:rPr lang="he-IL" sz="1400" b="1" dirty="0">
                <a:latin typeface="Rubik" pitchFamily="2" charset="-79"/>
                <a:cs typeface="Rubik" pitchFamily="2" charset="-79"/>
              </a:rPr>
              <a:t>מאוחדת פועלת לשדרג את חוויית השירות ברפואת השיניים ולהפוך אותה לחלק </a:t>
            </a:r>
          </a:p>
          <a:p>
            <a:r>
              <a:rPr lang="he-IL" sz="1400" b="1" dirty="0">
                <a:latin typeface="Rubik" pitchFamily="2" charset="-79"/>
                <a:cs typeface="Rubik" pitchFamily="2" charset="-79"/>
              </a:rPr>
              <a:t>אינטגרלי ומשמעותי במסע הלקוח.</a:t>
            </a:r>
          </a:p>
          <a:p>
            <a:endParaRPr lang="he-IL" sz="1400" b="1" dirty="0">
              <a:latin typeface="Rubik" pitchFamily="2" charset="-79"/>
              <a:cs typeface="Rubik" pitchFamily="2" charset="-79"/>
            </a:endParaRPr>
          </a:p>
          <a:p>
            <a:r>
              <a:rPr lang="he-IL" sz="1400" b="1" dirty="0">
                <a:latin typeface="Rubik" pitchFamily="2" charset="-79"/>
                <a:cs typeface="Rubik" pitchFamily="2" charset="-79"/>
              </a:rPr>
              <a:t>המהלך כולל:</a:t>
            </a:r>
          </a:p>
          <a:p>
            <a:pPr marL="285750" indent="-285750">
              <a:buFont typeface="Arial" panose="020B0604020202020204" pitchFamily="34" charset="0"/>
              <a:buChar char="•"/>
            </a:pPr>
            <a:r>
              <a:rPr lang="he-IL" sz="1400" dirty="0">
                <a:latin typeface="Rubik Light" pitchFamily="2" charset="-79"/>
                <a:cs typeface="Rubik Light" pitchFamily="2" charset="-79"/>
              </a:rPr>
              <a:t>שדרוג תשתיות ותהליכי עבודה דיגיטליים</a:t>
            </a:r>
          </a:p>
          <a:p>
            <a:pPr marL="285750" indent="-285750">
              <a:buFont typeface="Arial" panose="020B0604020202020204" pitchFamily="34" charset="0"/>
              <a:buChar char="•"/>
            </a:pPr>
            <a:r>
              <a:rPr lang="he-IL" sz="1400" dirty="0">
                <a:latin typeface="Rubik Light" pitchFamily="2" charset="-79"/>
                <a:cs typeface="Rubik Light" pitchFamily="2" charset="-79"/>
              </a:rPr>
              <a:t>הטמעת סטנדרט שירות אחיד וגבוה</a:t>
            </a:r>
          </a:p>
          <a:p>
            <a:pPr marL="285750" indent="-285750">
              <a:buFont typeface="Arial" panose="020B0604020202020204" pitchFamily="34" charset="0"/>
              <a:buChar char="•"/>
            </a:pPr>
            <a:r>
              <a:rPr lang="he-IL" sz="1400" dirty="0">
                <a:latin typeface="Rubik Light" pitchFamily="2" charset="-79"/>
                <a:cs typeface="Rubik Light" pitchFamily="2" charset="-79"/>
              </a:rPr>
              <a:t>שיפור זמינות ונראות השירות</a:t>
            </a:r>
          </a:p>
          <a:p>
            <a:pPr marL="285750" indent="-285750">
              <a:buFont typeface="Arial" panose="020B0604020202020204" pitchFamily="34" charset="0"/>
              <a:buChar char="•"/>
            </a:pPr>
            <a:r>
              <a:rPr lang="he-IL" sz="1400" dirty="0">
                <a:latin typeface="Rubik Light" pitchFamily="2" charset="-79"/>
                <a:cs typeface="Rubik Light" pitchFamily="2" charset="-79"/>
              </a:rPr>
              <a:t>הובלה במדדי זמני המתנה לילדים</a:t>
            </a:r>
          </a:p>
          <a:p>
            <a:pPr marL="285750" indent="-285750">
              <a:buFont typeface="Arial" panose="020B0604020202020204" pitchFamily="34" charset="0"/>
              <a:buChar char="•"/>
            </a:pPr>
            <a:r>
              <a:rPr lang="he-IL" sz="1400" dirty="0">
                <a:latin typeface="Rubik Light" pitchFamily="2" charset="-79"/>
                <a:cs typeface="Rubik Light" pitchFamily="2" charset="-79"/>
              </a:rPr>
              <a:t>חיזוק החיבור בין מרפאות השיניים למרפאת האם</a:t>
            </a:r>
          </a:p>
          <a:p>
            <a:pPr marL="285750" indent="-285750">
              <a:buFont typeface="Arial" panose="020B0604020202020204" pitchFamily="34" charset="0"/>
              <a:buChar char="•"/>
            </a:pPr>
            <a:endParaRPr lang="he-IL" sz="1400" dirty="0">
              <a:latin typeface="Rubik Light" pitchFamily="2" charset="-79"/>
              <a:cs typeface="Rubik Light" pitchFamily="2" charset="-79"/>
            </a:endParaRPr>
          </a:p>
          <a:p>
            <a:r>
              <a:rPr lang="he-IL" sz="1600" b="1" dirty="0">
                <a:solidFill>
                  <a:srgbClr val="F47221"/>
                </a:solidFill>
                <a:latin typeface="Rubik" pitchFamily="2" charset="-79"/>
                <a:cs typeface="Rubik" pitchFamily="2" charset="-79"/>
              </a:rPr>
              <a:t>המטרה: </a:t>
            </a:r>
            <a:r>
              <a:rPr lang="he-IL" sz="1600" dirty="0">
                <a:solidFill>
                  <a:srgbClr val="F47221"/>
                </a:solidFill>
                <a:latin typeface="Rubik Light" pitchFamily="2" charset="-79"/>
                <a:cs typeface="Rubik Light" pitchFamily="2" charset="-79"/>
              </a:rPr>
              <a:t>להפוך את רפואת השיניים למנוע צמיחה ולחזק את שביעות הרצון והנאמנות של הלקוחות.</a:t>
            </a:r>
          </a:p>
        </p:txBody>
      </p:sp>
      <p:sp>
        <p:nvSpPr>
          <p:cNvPr id="11" name="תיבת טקסט 10">
            <a:extLst>
              <a:ext uri="{FF2B5EF4-FFF2-40B4-BE49-F238E27FC236}">
                <a16:creationId xmlns:a16="http://schemas.microsoft.com/office/drawing/2014/main" id="{E5450030-7D8B-978C-0A03-F23C69DF0D68}"/>
              </a:ext>
            </a:extLst>
          </p:cNvPr>
          <p:cNvSpPr txBox="1"/>
          <p:nvPr/>
        </p:nvSpPr>
        <p:spPr>
          <a:xfrm>
            <a:off x="7263813" y="1607889"/>
            <a:ext cx="3968699"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1393463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20EB5-66DC-81D8-7566-5655769CD655}"/>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A2471045-9228-5038-EBC7-8903FD32546C}"/>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DD7F6479-84EC-FC14-459D-64A87EF54422}"/>
              </a:ext>
            </a:extLst>
          </p:cNvPr>
          <p:cNvSpPr txBox="1"/>
          <p:nvPr/>
        </p:nvSpPr>
        <p:spPr>
          <a:xfrm>
            <a:off x="6204031" y="1238612"/>
            <a:ext cx="5028482" cy="369332"/>
          </a:xfrm>
          <a:prstGeom prst="rect">
            <a:avLst/>
          </a:prstGeom>
          <a:noFill/>
        </p:spPr>
        <p:txBody>
          <a:bodyPr wrap="square" rtlCol="0">
            <a:spAutoFit/>
          </a:bodyPr>
          <a:lstStyle/>
          <a:p>
            <a:r>
              <a:rPr lang="he-IL" dirty="0">
                <a:solidFill>
                  <a:srgbClr val="FF0000"/>
                </a:solidFill>
                <a:latin typeface="Rubik" pitchFamily="2" charset="-79"/>
                <a:cs typeface="Rubik" pitchFamily="2" charset="-79"/>
              </a:rPr>
              <a:t>מה זה אומר עבורי כמנהל? </a:t>
            </a:r>
            <a:r>
              <a:rPr lang="he-IL" dirty="0">
                <a:solidFill>
                  <a:srgbClr val="009CE1"/>
                </a:solidFill>
                <a:latin typeface="Rubik" pitchFamily="2" charset="-79"/>
                <a:cs typeface="Rubik" pitchFamily="2" charset="-79"/>
              </a:rPr>
              <a:t>נקודות למחשבה</a:t>
            </a:r>
            <a:endParaRPr lang="he-IL" sz="2400" dirty="0">
              <a:solidFill>
                <a:srgbClr val="009CE1"/>
              </a:solidFill>
              <a:latin typeface="Rubik" pitchFamily="2" charset="-79"/>
              <a:cs typeface="Rubik" pitchFamily="2" charset="-79"/>
            </a:endParaRPr>
          </a:p>
        </p:txBody>
      </p:sp>
      <p:grpSp>
        <p:nvGrpSpPr>
          <p:cNvPr id="7" name="קבוצה 6">
            <a:extLst>
              <a:ext uri="{FF2B5EF4-FFF2-40B4-BE49-F238E27FC236}">
                <a16:creationId xmlns:a16="http://schemas.microsoft.com/office/drawing/2014/main" id="{3A0B6D51-F56E-3955-CC68-B95EE446294F}"/>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E947293A-07A2-6F0A-C971-1C1A2BFE6031}"/>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5B04A471-51E8-FA89-4072-14A17593A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2" name="תיבת טקסט 1">
            <a:extLst>
              <a:ext uri="{FF2B5EF4-FFF2-40B4-BE49-F238E27FC236}">
                <a16:creationId xmlns:a16="http://schemas.microsoft.com/office/drawing/2014/main" id="{90A0D0F1-1F07-BFDB-2017-CDAF7282810E}"/>
              </a:ext>
            </a:extLst>
          </p:cNvPr>
          <p:cNvSpPr txBox="1"/>
          <p:nvPr/>
        </p:nvSpPr>
        <p:spPr>
          <a:xfrm>
            <a:off x="1612899" y="1899758"/>
            <a:ext cx="10143553" cy="1547283"/>
          </a:xfrm>
          <a:prstGeom prst="rect">
            <a:avLst/>
          </a:prstGeom>
          <a:noFill/>
        </p:spPr>
        <p:txBody>
          <a:bodyPr wrap="square" rtlCol="0">
            <a:spAutoFit/>
          </a:bodyPr>
          <a:lstStyle/>
          <a:p>
            <a:pPr>
              <a:lnSpc>
                <a:spcPct val="150000"/>
              </a:lnSpc>
            </a:pPr>
            <a:r>
              <a:rPr lang="he-IL" b="1" i="0" dirty="0">
                <a:solidFill>
                  <a:srgbClr val="000000"/>
                </a:solidFill>
                <a:effectLst/>
                <a:latin typeface="Rubik" pitchFamily="2" charset="-79"/>
                <a:cs typeface="Rubik" pitchFamily="2" charset="-79"/>
              </a:rPr>
              <a:t>יישום האסטרטגיה מתחיל בנו! </a:t>
            </a:r>
          </a:p>
          <a:p>
            <a:pPr>
              <a:lnSpc>
                <a:spcPct val="150000"/>
              </a:lnSpc>
            </a:pPr>
            <a:r>
              <a:rPr lang="he-IL" dirty="0">
                <a:solidFill>
                  <a:srgbClr val="000000"/>
                </a:solidFill>
                <a:latin typeface="Rubik" pitchFamily="2" charset="-79"/>
                <a:cs typeface="Rubik" pitchFamily="2" charset="-79"/>
              </a:rPr>
              <a:t>לכל אחד מאיתנו בתחומו, מנהלים ועובדים, יש יכולת לתרום ולהשפיע על הצלחת הקופה.</a:t>
            </a:r>
          </a:p>
          <a:p>
            <a:pPr>
              <a:lnSpc>
                <a:spcPct val="150000"/>
              </a:lnSpc>
            </a:pPr>
            <a:endParaRPr lang="he-IL" sz="1050" b="0" i="0" dirty="0">
              <a:solidFill>
                <a:srgbClr val="000000"/>
              </a:solidFill>
              <a:effectLst/>
              <a:latin typeface="Rubik" pitchFamily="2" charset="-79"/>
              <a:cs typeface="Rubik" pitchFamily="2" charset="-79"/>
            </a:endParaRPr>
          </a:p>
          <a:p>
            <a:pPr>
              <a:lnSpc>
                <a:spcPct val="150000"/>
              </a:lnSpc>
            </a:pPr>
            <a:r>
              <a:rPr lang="he-IL" b="1" dirty="0">
                <a:solidFill>
                  <a:srgbClr val="009CE1"/>
                </a:solidFill>
                <a:latin typeface="Rubik" pitchFamily="2" charset="-79"/>
                <a:cs typeface="Rubik" pitchFamily="2" charset="-79"/>
              </a:rPr>
              <a:t>מאיפה מתחילים? </a:t>
            </a:r>
            <a:r>
              <a:rPr lang="he-IL" dirty="0">
                <a:solidFill>
                  <a:srgbClr val="000000"/>
                </a:solidFill>
                <a:latin typeface="Rubik" pitchFamily="2" charset="-79"/>
                <a:cs typeface="Rubik" pitchFamily="2" charset="-79"/>
              </a:rPr>
              <a:t>העזרו בנקודות למחשבה:</a:t>
            </a:r>
            <a:endParaRPr lang="he-IL" b="0" i="0" dirty="0">
              <a:solidFill>
                <a:srgbClr val="000000"/>
              </a:solidFill>
              <a:effectLst/>
              <a:latin typeface="Rubik" pitchFamily="2" charset="-79"/>
              <a:cs typeface="Rubik" pitchFamily="2" charset="-79"/>
            </a:endParaRPr>
          </a:p>
        </p:txBody>
      </p:sp>
      <p:grpSp>
        <p:nvGrpSpPr>
          <p:cNvPr id="13" name="קבוצה 12">
            <a:extLst>
              <a:ext uri="{FF2B5EF4-FFF2-40B4-BE49-F238E27FC236}">
                <a16:creationId xmlns:a16="http://schemas.microsoft.com/office/drawing/2014/main" id="{87451135-3BEA-3DBC-9920-02B5CDB729C3}"/>
              </a:ext>
            </a:extLst>
          </p:cNvPr>
          <p:cNvGrpSpPr/>
          <p:nvPr/>
        </p:nvGrpSpPr>
        <p:grpSpPr>
          <a:xfrm>
            <a:off x="10737846" y="3591461"/>
            <a:ext cx="989331" cy="700031"/>
            <a:chOff x="10399881" y="3730358"/>
            <a:chExt cx="989331" cy="700031"/>
          </a:xfrm>
        </p:grpSpPr>
        <p:sp>
          <p:nvSpPr>
            <p:cNvPr id="3" name="Oval 1">
              <a:extLst>
                <a:ext uri="{FF2B5EF4-FFF2-40B4-BE49-F238E27FC236}">
                  <a16:creationId xmlns:a16="http://schemas.microsoft.com/office/drawing/2014/main" id="{78C4D351-2125-DDC5-B61E-75B1419C9421}"/>
                </a:ext>
              </a:extLst>
            </p:cNvPr>
            <p:cNvSpPr/>
            <p:nvPr/>
          </p:nvSpPr>
          <p:spPr>
            <a:xfrm rot="10800000" flipH="1">
              <a:off x="10399881" y="3730359"/>
              <a:ext cx="989331" cy="70003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תיבת טקסט 4">
              <a:extLst>
                <a:ext uri="{FF2B5EF4-FFF2-40B4-BE49-F238E27FC236}">
                  <a16:creationId xmlns:a16="http://schemas.microsoft.com/office/drawing/2014/main" id="{CDFE30DE-B6E3-273D-8FC1-6AE1E27D6433}"/>
                </a:ext>
              </a:extLst>
            </p:cNvPr>
            <p:cNvSpPr txBox="1"/>
            <p:nvPr/>
          </p:nvSpPr>
          <p:spPr>
            <a:xfrm>
              <a:off x="10648708" y="3730358"/>
              <a:ext cx="500145" cy="523220"/>
            </a:xfrm>
            <a:prstGeom prst="rect">
              <a:avLst/>
            </a:prstGeom>
            <a:noFill/>
          </p:spPr>
          <p:txBody>
            <a:bodyPr wrap="square" rtlCol="0">
              <a:spAutoFit/>
            </a:bodyPr>
            <a:lstStyle/>
            <a:p>
              <a:r>
                <a:rPr lang="he-IL" sz="2800" b="1" i="0" dirty="0">
                  <a:solidFill>
                    <a:schemeClr val="bg1"/>
                  </a:solidFill>
                  <a:effectLst/>
                  <a:latin typeface="Rubik Black" pitchFamily="2" charset="-79"/>
                  <a:cs typeface="Rubik Black" pitchFamily="2" charset="-79"/>
                </a:rPr>
                <a:t>1</a:t>
              </a:r>
            </a:p>
          </p:txBody>
        </p:sp>
      </p:grpSp>
      <p:sp>
        <p:nvSpPr>
          <p:cNvPr id="14" name="תיבת טקסט 13">
            <a:extLst>
              <a:ext uri="{FF2B5EF4-FFF2-40B4-BE49-F238E27FC236}">
                <a16:creationId xmlns:a16="http://schemas.microsoft.com/office/drawing/2014/main" id="{32E0026B-EDF9-16F8-B873-F98A4747F168}"/>
              </a:ext>
            </a:extLst>
          </p:cNvPr>
          <p:cNvSpPr txBox="1"/>
          <p:nvPr/>
        </p:nvSpPr>
        <p:spPr>
          <a:xfrm>
            <a:off x="312517" y="3683794"/>
            <a:ext cx="10300916" cy="338554"/>
          </a:xfrm>
          <a:prstGeom prst="rect">
            <a:avLst/>
          </a:prstGeom>
          <a:noFill/>
        </p:spPr>
        <p:txBody>
          <a:bodyPr wrap="square">
            <a:spAutoFit/>
          </a:bodyPr>
          <a:lstStyle/>
          <a:p>
            <a:r>
              <a:rPr lang="he-IL" sz="1600" dirty="0">
                <a:latin typeface="Rubik" pitchFamily="2" charset="-79"/>
                <a:cs typeface="Rubik" pitchFamily="2" charset="-79"/>
              </a:rPr>
              <a:t>איך אקדם את הבנת הכיוונים האסטרטגיים והטמעתם בקרב הצוות שלי?</a:t>
            </a:r>
          </a:p>
        </p:txBody>
      </p:sp>
      <p:grpSp>
        <p:nvGrpSpPr>
          <p:cNvPr id="15" name="קבוצה 14">
            <a:extLst>
              <a:ext uri="{FF2B5EF4-FFF2-40B4-BE49-F238E27FC236}">
                <a16:creationId xmlns:a16="http://schemas.microsoft.com/office/drawing/2014/main" id="{09F0082B-8497-F8D3-720E-B19E9322289C}"/>
              </a:ext>
            </a:extLst>
          </p:cNvPr>
          <p:cNvGrpSpPr/>
          <p:nvPr/>
        </p:nvGrpSpPr>
        <p:grpSpPr>
          <a:xfrm>
            <a:off x="10737846" y="4332300"/>
            <a:ext cx="989331" cy="700031"/>
            <a:chOff x="10399881" y="3730358"/>
            <a:chExt cx="989331" cy="700031"/>
          </a:xfrm>
        </p:grpSpPr>
        <p:sp>
          <p:nvSpPr>
            <p:cNvPr id="16" name="Oval 1">
              <a:extLst>
                <a:ext uri="{FF2B5EF4-FFF2-40B4-BE49-F238E27FC236}">
                  <a16:creationId xmlns:a16="http://schemas.microsoft.com/office/drawing/2014/main" id="{16A8A1AA-7000-3CA3-7C9F-B69F735C9279}"/>
                </a:ext>
              </a:extLst>
            </p:cNvPr>
            <p:cNvSpPr/>
            <p:nvPr/>
          </p:nvSpPr>
          <p:spPr>
            <a:xfrm rot="10800000" flipH="1">
              <a:off x="10399881" y="3730359"/>
              <a:ext cx="989331" cy="70003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7" name="תיבת טקסט 16">
              <a:extLst>
                <a:ext uri="{FF2B5EF4-FFF2-40B4-BE49-F238E27FC236}">
                  <a16:creationId xmlns:a16="http://schemas.microsoft.com/office/drawing/2014/main" id="{9275FD8C-D93B-8423-E533-2116717878A1}"/>
                </a:ext>
              </a:extLst>
            </p:cNvPr>
            <p:cNvSpPr txBox="1"/>
            <p:nvPr/>
          </p:nvSpPr>
          <p:spPr>
            <a:xfrm>
              <a:off x="10648708" y="3730358"/>
              <a:ext cx="500145" cy="523220"/>
            </a:xfrm>
            <a:prstGeom prst="rect">
              <a:avLst/>
            </a:prstGeom>
            <a:noFill/>
          </p:spPr>
          <p:txBody>
            <a:bodyPr wrap="square" rtlCol="0">
              <a:spAutoFit/>
            </a:bodyPr>
            <a:lstStyle/>
            <a:p>
              <a:r>
                <a:rPr lang="he-IL" sz="2800" b="1" i="0" dirty="0">
                  <a:solidFill>
                    <a:schemeClr val="bg1"/>
                  </a:solidFill>
                  <a:effectLst/>
                  <a:latin typeface="Rubik Black" pitchFamily="2" charset="-79"/>
                  <a:cs typeface="Rubik Black" pitchFamily="2" charset="-79"/>
                </a:rPr>
                <a:t>2</a:t>
              </a:r>
            </a:p>
          </p:txBody>
        </p:sp>
      </p:grpSp>
      <p:sp>
        <p:nvSpPr>
          <p:cNvPr id="18" name="תיבת טקסט 17">
            <a:extLst>
              <a:ext uri="{FF2B5EF4-FFF2-40B4-BE49-F238E27FC236}">
                <a16:creationId xmlns:a16="http://schemas.microsoft.com/office/drawing/2014/main" id="{91FC135C-7F41-DAE3-EEA8-F4648A9741A0}"/>
              </a:ext>
            </a:extLst>
          </p:cNvPr>
          <p:cNvSpPr txBox="1"/>
          <p:nvPr/>
        </p:nvSpPr>
        <p:spPr>
          <a:xfrm>
            <a:off x="312517" y="4424633"/>
            <a:ext cx="10300916" cy="338554"/>
          </a:xfrm>
          <a:prstGeom prst="rect">
            <a:avLst/>
          </a:prstGeom>
          <a:noFill/>
        </p:spPr>
        <p:txBody>
          <a:bodyPr wrap="square">
            <a:spAutoFit/>
          </a:bodyPr>
          <a:lstStyle/>
          <a:p>
            <a:r>
              <a:rPr lang="he-IL" sz="1600" dirty="0">
                <a:latin typeface="Rubik" pitchFamily="2" charset="-79"/>
                <a:cs typeface="Rubik" pitchFamily="2" charset="-79"/>
              </a:rPr>
              <a:t>איך אוכל לתרום במסגרת תפקידי להשגת היעדים האסטרטגיים?</a:t>
            </a:r>
          </a:p>
        </p:txBody>
      </p:sp>
      <p:grpSp>
        <p:nvGrpSpPr>
          <p:cNvPr id="19" name="קבוצה 18">
            <a:extLst>
              <a:ext uri="{FF2B5EF4-FFF2-40B4-BE49-F238E27FC236}">
                <a16:creationId xmlns:a16="http://schemas.microsoft.com/office/drawing/2014/main" id="{90BFE37C-7367-1BD8-B679-79C737F96BB8}"/>
              </a:ext>
            </a:extLst>
          </p:cNvPr>
          <p:cNvGrpSpPr/>
          <p:nvPr/>
        </p:nvGrpSpPr>
        <p:grpSpPr>
          <a:xfrm>
            <a:off x="10737846" y="5073139"/>
            <a:ext cx="989331" cy="700031"/>
            <a:chOff x="10399881" y="3730358"/>
            <a:chExt cx="989331" cy="700031"/>
          </a:xfrm>
        </p:grpSpPr>
        <p:sp>
          <p:nvSpPr>
            <p:cNvPr id="20" name="Oval 1">
              <a:extLst>
                <a:ext uri="{FF2B5EF4-FFF2-40B4-BE49-F238E27FC236}">
                  <a16:creationId xmlns:a16="http://schemas.microsoft.com/office/drawing/2014/main" id="{D3119A38-C7FA-7122-C510-5103AB4B5557}"/>
                </a:ext>
              </a:extLst>
            </p:cNvPr>
            <p:cNvSpPr/>
            <p:nvPr/>
          </p:nvSpPr>
          <p:spPr>
            <a:xfrm rot="10800000" flipH="1">
              <a:off x="10399881" y="3730359"/>
              <a:ext cx="989331" cy="70003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1" name="תיבת טקסט 20">
              <a:extLst>
                <a:ext uri="{FF2B5EF4-FFF2-40B4-BE49-F238E27FC236}">
                  <a16:creationId xmlns:a16="http://schemas.microsoft.com/office/drawing/2014/main" id="{8AC24553-BEE1-3FD4-140D-AE19468CBB4A}"/>
                </a:ext>
              </a:extLst>
            </p:cNvPr>
            <p:cNvSpPr txBox="1"/>
            <p:nvPr/>
          </p:nvSpPr>
          <p:spPr>
            <a:xfrm>
              <a:off x="10648708" y="3730358"/>
              <a:ext cx="500145" cy="523220"/>
            </a:xfrm>
            <a:prstGeom prst="rect">
              <a:avLst/>
            </a:prstGeom>
            <a:noFill/>
          </p:spPr>
          <p:txBody>
            <a:bodyPr wrap="square" rtlCol="0">
              <a:spAutoFit/>
            </a:bodyPr>
            <a:lstStyle/>
            <a:p>
              <a:r>
                <a:rPr lang="he-IL" sz="2800" b="1" i="0" dirty="0">
                  <a:solidFill>
                    <a:schemeClr val="bg1"/>
                  </a:solidFill>
                  <a:effectLst/>
                  <a:latin typeface="Rubik Black" pitchFamily="2" charset="-79"/>
                  <a:cs typeface="Rubik Black" pitchFamily="2" charset="-79"/>
                </a:rPr>
                <a:t>3</a:t>
              </a:r>
            </a:p>
          </p:txBody>
        </p:sp>
      </p:grpSp>
      <p:sp>
        <p:nvSpPr>
          <p:cNvPr id="22" name="תיבת טקסט 21">
            <a:extLst>
              <a:ext uri="{FF2B5EF4-FFF2-40B4-BE49-F238E27FC236}">
                <a16:creationId xmlns:a16="http://schemas.microsoft.com/office/drawing/2014/main" id="{D376BD1F-D546-A8B1-63AE-64FB435E118A}"/>
              </a:ext>
            </a:extLst>
          </p:cNvPr>
          <p:cNvSpPr txBox="1"/>
          <p:nvPr/>
        </p:nvSpPr>
        <p:spPr>
          <a:xfrm>
            <a:off x="312517" y="5165472"/>
            <a:ext cx="10300916" cy="338554"/>
          </a:xfrm>
          <a:prstGeom prst="rect">
            <a:avLst/>
          </a:prstGeom>
          <a:noFill/>
        </p:spPr>
        <p:txBody>
          <a:bodyPr wrap="square">
            <a:spAutoFit/>
          </a:bodyPr>
          <a:lstStyle/>
          <a:p>
            <a:r>
              <a:rPr lang="he-IL" sz="1600" dirty="0">
                <a:latin typeface="Rubik" pitchFamily="2" charset="-79"/>
                <a:cs typeface="Rubik" pitchFamily="2" charset="-79"/>
              </a:rPr>
              <a:t>איך אתן דוגמה אישית בהתנהלות יומיומית – ממוקדת אסטרטגיה?</a:t>
            </a:r>
          </a:p>
        </p:txBody>
      </p:sp>
      <p:grpSp>
        <p:nvGrpSpPr>
          <p:cNvPr id="23" name="קבוצה 22">
            <a:extLst>
              <a:ext uri="{FF2B5EF4-FFF2-40B4-BE49-F238E27FC236}">
                <a16:creationId xmlns:a16="http://schemas.microsoft.com/office/drawing/2014/main" id="{FBB521B8-BAC5-9B86-BA5E-18BCB946C9FC}"/>
              </a:ext>
            </a:extLst>
          </p:cNvPr>
          <p:cNvGrpSpPr/>
          <p:nvPr/>
        </p:nvGrpSpPr>
        <p:grpSpPr>
          <a:xfrm>
            <a:off x="10737846" y="5813978"/>
            <a:ext cx="989331" cy="700031"/>
            <a:chOff x="10399881" y="3730358"/>
            <a:chExt cx="989331" cy="700031"/>
          </a:xfrm>
        </p:grpSpPr>
        <p:sp>
          <p:nvSpPr>
            <p:cNvPr id="25" name="Oval 1">
              <a:extLst>
                <a:ext uri="{FF2B5EF4-FFF2-40B4-BE49-F238E27FC236}">
                  <a16:creationId xmlns:a16="http://schemas.microsoft.com/office/drawing/2014/main" id="{3333050E-C372-0863-B5DC-541C00139BBE}"/>
                </a:ext>
              </a:extLst>
            </p:cNvPr>
            <p:cNvSpPr/>
            <p:nvPr/>
          </p:nvSpPr>
          <p:spPr>
            <a:xfrm rot="10800000" flipH="1">
              <a:off x="10399881" y="3730359"/>
              <a:ext cx="989331" cy="70003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26" name="תיבת טקסט 25">
              <a:extLst>
                <a:ext uri="{FF2B5EF4-FFF2-40B4-BE49-F238E27FC236}">
                  <a16:creationId xmlns:a16="http://schemas.microsoft.com/office/drawing/2014/main" id="{4C182813-EE90-E4C4-EC35-2265918D0F64}"/>
                </a:ext>
              </a:extLst>
            </p:cNvPr>
            <p:cNvSpPr txBox="1"/>
            <p:nvPr/>
          </p:nvSpPr>
          <p:spPr>
            <a:xfrm>
              <a:off x="10648708" y="3730358"/>
              <a:ext cx="500145" cy="523220"/>
            </a:xfrm>
            <a:prstGeom prst="rect">
              <a:avLst/>
            </a:prstGeom>
            <a:noFill/>
          </p:spPr>
          <p:txBody>
            <a:bodyPr wrap="square" rtlCol="0">
              <a:spAutoFit/>
            </a:bodyPr>
            <a:lstStyle/>
            <a:p>
              <a:r>
                <a:rPr lang="he-IL" sz="2800" b="1" i="0" dirty="0">
                  <a:solidFill>
                    <a:schemeClr val="bg1"/>
                  </a:solidFill>
                  <a:effectLst/>
                  <a:latin typeface="Rubik Black" pitchFamily="2" charset="-79"/>
                  <a:cs typeface="Rubik Black" pitchFamily="2" charset="-79"/>
                </a:rPr>
                <a:t>4</a:t>
              </a:r>
            </a:p>
          </p:txBody>
        </p:sp>
      </p:grpSp>
      <p:sp>
        <p:nvSpPr>
          <p:cNvPr id="27" name="תיבת טקסט 26">
            <a:extLst>
              <a:ext uri="{FF2B5EF4-FFF2-40B4-BE49-F238E27FC236}">
                <a16:creationId xmlns:a16="http://schemas.microsoft.com/office/drawing/2014/main" id="{7AD374ED-CE02-4D11-8F37-F83A430C7CC9}"/>
              </a:ext>
            </a:extLst>
          </p:cNvPr>
          <p:cNvSpPr txBox="1"/>
          <p:nvPr/>
        </p:nvSpPr>
        <p:spPr>
          <a:xfrm>
            <a:off x="312517" y="5906311"/>
            <a:ext cx="10300916" cy="584775"/>
          </a:xfrm>
          <a:prstGeom prst="rect">
            <a:avLst/>
          </a:prstGeom>
          <a:noFill/>
        </p:spPr>
        <p:txBody>
          <a:bodyPr wrap="square">
            <a:spAutoFit/>
          </a:bodyPr>
          <a:lstStyle/>
          <a:p>
            <a:r>
              <a:rPr lang="he-IL" sz="1600" dirty="0">
                <a:latin typeface="Rubik" pitchFamily="2" charset="-79"/>
                <a:cs typeface="Rubik" pitchFamily="2" charset="-79"/>
              </a:rPr>
              <a:t>איך אוכל להעביר הלאה את המסר, שהשינוי מתחיל בנו ושיש לנו יכולת השפעה עליו?</a:t>
            </a:r>
          </a:p>
          <a:p>
            <a:endParaRPr lang="he-IL" sz="1600" dirty="0">
              <a:latin typeface="Rubik" pitchFamily="2" charset="-79"/>
              <a:cs typeface="Rubik" pitchFamily="2" charset="-79"/>
            </a:endParaRPr>
          </a:p>
        </p:txBody>
      </p:sp>
    </p:spTree>
    <p:extLst>
      <p:ext uri="{BB962C8B-B14F-4D97-AF65-F5344CB8AC3E}">
        <p14:creationId xmlns:p14="http://schemas.microsoft.com/office/powerpoint/2010/main" val="1023982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58312-183E-707F-1DAD-6B9234F6882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302E2D2D-968A-D8A5-16C0-0EBA9D2978C1}"/>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אסטרטגיית מאוחדת</a:t>
            </a:r>
          </a:p>
        </p:txBody>
      </p:sp>
      <p:sp>
        <p:nvSpPr>
          <p:cNvPr id="6" name="תיבת טקסט 5">
            <a:extLst>
              <a:ext uri="{FF2B5EF4-FFF2-40B4-BE49-F238E27FC236}">
                <a16:creationId xmlns:a16="http://schemas.microsoft.com/office/drawing/2014/main" id="{7E46263A-E3B1-9848-F727-D4CB118F2CCE}"/>
              </a:ext>
            </a:extLst>
          </p:cNvPr>
          <p:cNvSpPr txBox="1"/>
          <p:nvPr/>
        </p:nvSpPr>
        <p:spPr>
          <a:xfrm>
            <a:off x="3971925" y="1238612"/>
            <a:ext cx="7260588" cy="369332"/>
          </a:xfrm>
          <a:prstGeom prst="rect">
            <a:avLst/>
          </a:prstGeom>
          <a:noFill/>
        </p:spPr>
        <p:txBody>
          <a:bodyPr wrap="square" rtlCol="0">
            <a:spAutoFit/>
          </a:bodyPr>
          <a:lstStyle/>
          <a:p>
            <a:r>
              <a:rPr lang="he-IL" dirty="0">
                <a:solidFill>
                  <a:srgbClr val="009CE1"/>
                </a:solidFill>
                <a:latin typeface="Rubik" pitchFamily="2" charset="-79"/>
                <a:cs typeface="Rubik" pitchFamily="2" charset="-79"/>
              </a:rPr>
              <a:t>דוגמה </a:t>
            </a:r>
            <a:r>
              <a:rPr lang="he-IL" dirty="0" err="1">
                <a:solidFill>
                  <a:srgbClr val="009CE1"/>
                </a:solidFill>
                <a:latin typeface="Rubik" pitchFamily="2" charset="-79"/>
                <a:cs typeface="Rubik" pitchFamily="2" charset="-79"/>
              </a:rPr>
              <a:t>לאיך</a:t>
            </a:r>
            <a:r>
              <a:rPr lang="he-IL" dirty="0">
                <a:solidFill>
                  <a:srgbClr val="009CE1"/>
                </a:solidFill>
                <a:latin typeface="Rubik" pitchFamily="2" charset="-79"/>
                <a:cs typeface="Rubik" pitchFamily="2" charset="-79"/>
              </a:rPr>
              <a:t> אסטרטגיה מתורגמת לעשייה – </a:t>
            </a:r>
            <a:r>
              <a:rPr lang="he-IL" b="1" dirty="0">
                <a:solidFill>
                  <a:srgbClr val="009CE1"/>
                </a:solidFill>
                <a:latin typeface="Rubik" pitchFamily="2" charset="-79"/>
                <a:cs typeface="Rubik" pitchFamily="2" charset="-79"/>
              </a:rPr>
              <a:t>מימוש מיקוד מספר 1</a:t>
            </a:r>
            <a:endParaRPr lang="he-IL" sz="2400" b="1" dirty="0">
              <a:solidFill>
                <a:srgbClr val="009CE1"/>
              </a:solidFill>
              <a:latin typeface="Rubik" pitchFamily="2" charset="-79"/>
              <a:cs typeface="Rubik" pitchFamily="2" charset="-79"/>
            </a:endParaRPr>
          </a:p>
        </p:txBody>
      </p:sp>
      <p:grpSp>
        <p:nvGrpSpPr>
          <p:cNvPr id="7" name="קבוצה 6">
            <a:extLst>
              <a:ext uri="{FF2B5EF4-FFF2-40B4-BE49-F238E27FC236}">
                <a16:creationId xmlns:a16="http://schemas.microsoft.com/office/drawing/2014/main" id="{7C46DF4C-5F79-8FCF-FB5A-E8958B898872}"/>
              </a:ext>
            </a:extLst>
          </p:cNvPr>
          <p:cNvGrpSpPr/>
          <p:nvPr/>
        </p:nvGrpSpPr>
        <p:grpSpPr>
          <a:xfrm>
            <a:off x="11232512" y="1134664"/>
            <a:ext cx="528644" cy="528644"/>
            <a:chOff x="11238905" y="4653366"/>
            <a:chExt cx="657179" cy="657179"/>
          </a:xfrm>
        </p:grpSpPr>
        <p:sp>
          <p:nvSpPr>
            <p:cNvPr id="8" name="אליפסה 7">
              <a:extLst>
                <a:ext uri="{FF2B5EF4-FFF2-40B4-BE49-F238E27FC236}">
                  <a16:creationId xmlns:a16="http://schemas.microsoft.com/office/drawing/2014/main" id="{77298E9D-C086-4393-114F-6402E0D49669}"/>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7F38F911-66B5-8338-D1A8-29FCD8E69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10" name="תיבת טקסט 9">
            <a:extLst>
              <a:ext uri="{FF2B5EF4-FFF2-40B4-BE49-F238E27FC236}">
                <a16:creationId xmlns:a16="http://schemas.microsoft.com/office/drawing/2014/main" id="{92B927A1-09E0-C418-55E4-0C9533D34C24}"/>
              </a:ext>
            </a:extLst>
          </p:cNvPr>
          <p:cNvSpPr txBox="1"/>
          <p:nvPr/>
        </p:nvSpPr>
        <p:spPr>
          <a:xfrm>
            <a:off x="2535810" y="2557126"/>
            <a:ext cx="7802816" cy="523220"/>
          </a:xfrm>
          <a:prstGeom prst="rect">
            <a:avLst/>
          </a:prstGeom>
          <a:noFill/>
        </p:spPr>
        <p:txBody>
          <a:bodyPr wrap="square" rtlCol="0">
            <a:spAutoFit/>
          </a:bodyPr>
          <a:lstStyle/>
          <a:p>
            <a:r>
              <a:rPr lang="he-IL" sz="2800" b="1" i="0" dirty="0">
                <a:solidFill>
                  <a:schemeClr val="bg1"/>
                </a:solidFill>
                <a:effectLst/>
                <a:latin typeface="Rubik Black" pitchFamily="2" charset="-79"/>
                <a:cs typeface="Rubik Black" pitchFamily="2" charset="-79"/>
              </a:rPr>
              <a:t>כותרת</a:t>
            </a:r>
          </a:p>
        </p:txBody>
      </p:sp>
      <p:sp>
        <p:nvSpPr>
          <p:cNvPr id="11" name="תיבת טקסט 10">
            <a:extLst>
              <a:ext uri="{FF2B5EF4-FFF2-40B4-BE49-F238E27FC236}">
                <a16:creationId xmlns:a16="http://schemas.microsoft.com/office/drawing/2014/main" id="{34225B96-B5D6-9835-4351-F59A230CC598}"/>
              </a:ext>
            </a:extLst>
          </p:cNvPr>
          <p:cNvSpPr txBox="1"/>
          <p:nvPr/>
        </p:nvSpPr>
        <p:spPr>
          <a:xfrm>
            <a:off x="7483584" y="3134983"/>
            <a:ext cx="3158539" cy="338554"/>
          </a:xfrm>
          <a:prstGeom prst="rect">
            <a:avLst/>
          </a:prstGeom>
          <a:noFill/>
        </p:spPr>
        <p:txBody>
          <a:bodyPr wrap="square" rtlCol="0">
            <a:spAutoFit/>
          </a:bodyPr>
          <a:lstStyle/>
          <a:p>
            <a:r>
              <a:rPr lang="he-IL" sz="1600" b="0" i="0" dirty="0">
                <a:solidFill>
                  <a:schemeClr val="bg1"/>
                </a:solidFill>
                <a:effectLst/>
                <a:latin typeface="Rubik" pitchFamily="2" charset="-79"/>
                <a:cs typeface="Rubik" pitchFamily="2" charset="-79"/>
              </a:rPr>
              <a:t>להוסיף דוגמה</a:t>
            </a:r>
            <a:endParaRPr lang="he-IL" sz="1600" i="0" dirty="0">
              <a:solidFill>
                <a:schemeClr val="bg1"/>
              </a:solidFill>
              <a:effectLst/>
              <a:latin typeface="Rubik" pitchFamily="2" charset="-79"/>
              <a:cs typeface="Rubik" pitchFamily="2" charset="-79"/>
            </a:endParaRPr>
          </a:p>
        </p:txBody>
      </p:sp>
      <p:sp>
        <p:nvSpPr>
          <p:cNvPr id="3" name="תיבת טקסט 2">
            <a:extLst>
              <a:ext uri="{FF2B5EF4-FFF2-40B4-BE49-F238E27FC236}">
                <a16:creationId xmlns:a16="http://schemas.microsoft.com/office/drawing/2014/main" id="{30B90EDF-7C9A-EAB6-55F3-028962B6CD6F}"/>
              </a:ext>
            </a:extLst>
          </p:cNvPr>
          <p:cNvSpPr txBox="1"/>
          <p:nvPr/>
        </p:nvSpPr>
        <p:spPr>
          <a:xfrm>
            <a:off x="263951" y="1751243"/>
            <a:ext cx="11084084" cy="2800767"/>
          </a:xfrm>
          <a:prstGeom prst="rect">
            <a:avLst/>
          </a:prstGeom>
          <a:noFill/>
        </p:spPr>
        <p:txBody>
          <a:bodyPr wrap="square" rtlCol="1">
            <a:spAutoFit/>
          </a:bodyPr>
          <a:lstStyle/>
          <a:p>
            <a:pPr algn="ctr"/>
            <a:r>
              <a:rPr lang="he-IL" dirty="0">
                <a:latin typeface="Rubik Black" pitchFamily="2" charset="-79"/>
                <a:cs typeface="Rubik Black" pitchFamily="2" charset="-79"/>
              </a:rPr>
              <a:t>הקופה האטרקטיבית ביותר לילדים!</a:t>
            </a:r>
          </a:p>
          <a:p>
            <a:pPr algn="ctr"/>
            <a:r>
              <a:rPr lang="he-IL" sz="1400" dirty="0">
                <a:latin typeface="Rubik" pitchFamily="2" charset="-79"/>
                <a:cs typeface="Rubik" pitchFamily="2" charset="-79"/>
              </a:rPr>
              <a:t>שימת דגש על כלל השירותים הניתנים לילדים מגיל 0-18, ובתוכם מגוון רחב של שירותים ומומחים רפואיים, תחת מעטפת אחת שנקראת: </a:t>
            </a:r>
            <a:r>
              <a:rPr lang="he-IL" sz="1400" b="1" dirty="0">
                <a:solidFill>
                  <a:srgbClr val="009CE1"/>
                </a:solidFill>
                <a:latin typeface="Rubik" pitchFamily="2" charset="-79"/>
                <a:cs typeface="Rubik" pitchFamily="2" charset="-79"/>
              </a:rPr>
              <a:t>מאוחדת ג'וניור.</a:t>
            </a:r>
          </a:p>
          <a:p>
            <a:pPr marL="342900" indent="-342900">
              <a:buFont typeface="Arial" panose="020B0604020202020204" pitchFamily="34" charset="0"/>
              <a:buChar char="•"/>
            </a:pPr>
            <a:endParaRPr lang="he-IL" sz="1400" dirty="0">
              <a:solidFill>
                <a:srgbClr val="FF0000"/>
              </a:solidFill>
            </a:endParaRPr>
          </a:p>
          <a:p>
            <a:pPr marL="285750" indent="-285750">
              <a:buFont typeface="Arial" panose="020B0604020202020204" pitchFamily="34" charset="0"/>
              <a:buChar char="•"/>
            </a:pPr>
            <a:endParaRPr lang="en-US" sz="1400" b="1" dirty="0">
              <a:solidFill>
                <a:srgbClr val="009CE1"/>
              </a:solidFill>
              <a:latin typeface="Rubik" pitchFamily="2" charset="-79"/>
              <a:cs typeface="Rubik" pitchFamily="2" charset="-79"/>
            </a:endParaRPr>
          </a:p>
          <a:p>
            <a:pPr marL="285750" indent="-285750">
              <a:buFont typeface="Arial" panose="020B0604020202020204" pitchFamily="34" charset="0"/>
              <a:buChar char="•"/>
            </a:pPr>
            <a:r>
              <a:rPr lang="he-IL" sz="1400" b="1" dirty="0">
                <a:solidFill>
                  <a:srgbClr val="009CE1"/>
                </a:solidFill>
                <a:latin typeface="Rubik" pitchFamily="2" charset="-79"/>
                <a:cs typeface="Rubik" pitchFamily="2" charset="-79"/>
              </a:rPr>
              <a:t>מוקד ג'וניור</a:t>
            </a:r>
            <a:r>
              <a:rPr lang="en-US" sz="1400" b="1" dirty="0">
                <a:solidFill>
                  <a:srgbClr val="009CE1"/>
                </a:solidFill>
                <a:latin typeface="Rubik" pitchFamily="2" charset="-79"/>
                <a:cs typeface="Rubik" pitchFamily="2" charset="-79"/>
              </a:rPr>
              <a:t> </a:t>
            </a:r>
            <a:r>
              <a:rPr lang="he-IL" sz="1400" b="1" dirty="0">
                <a:solidFill>
                  <a:srgbClr val="009CE1"/>
                </a:solidFill>
                <a:latin typeface="Rubik" pitchFamily="2" charset="-79"/>
                <a:cs typeface="Rubik" pitchFamily="2" charset="-79"/>
              </a:rPr>
              <a:t>- </a:t>
            </a:r>
            <a:r>
              <a:rPr lang="he-IL" sz="1200" b="1" dirty="0">
                <a:latin typeface="Rubik" pitchFamily="2" charset="-79"/>
                <a:cs typeface="Rubik" pitchFamily="2" charset="-79"/>
              </a:rPr>
              <a:t>מענה של רופא ילדים אונליין 24/7 באמצעות המיון ההיברידי ומוקד אחיות להיוועצות רפואית</a:t>
            </a:r>
            <a:r>
              <a:rPr lang="he-IL" sz="1200" dirty="0">
                <a:latin typeface="Rubik" pitchFamily="2" charset="-79"/>
                <a:cs typeface="Rubik" pitchFamily="2" charset="-79"/>
              </a:rPr>
              <a:t>,  המוקד נותן מענה על ילדים </a:t>
            </a:r>
            <a:r>
              <a:rPr lang="he-IL" sz="1200" b="1" dirty="0">
                <a:latin typeface="Rubik" pitchFamily="2" charset="-79"/>
                <a:cs typeface="Rubik" pitchFamily="2" charset="-79"/>
              </a:rPr>
              <a:t>מגיל 0 ועד גיל 18</a:t>
            </a:r>
            <a:br>
              <a:rPr lang="en-US" sz="1200" dirty="0">
                <a:latin typeface="Rubik" pitchFamily="2" charset="-79"/>
                <a:cs typeface="Rubik" pitchFamily="2" charset="-79"/>
              </a:rPr>
            </a:br>
            <a:r>
              <a:rPr lang="he-IL" sz="1200" b="1" dirty="0">
                <a:latin typeface="Rubik" pitchFamily="2" charset="-79"/>
                <a:cs typeface="Rubik" pitchFamily="2" charset="-79"/>
              </a:rPr>
              <a:t>2</a:t>
            </a:r>
            <a:r>
              <a:rPr lang="he-IL" sz="1200" dirty="0">
                <a:latin typeface="Rubik" pitchFamily="2" charset="-79"/>
                <a:cs typeface="Rubik" pitchFamily="2" charset="-79"/>
              </a:rPr>
              <a:t> מרכזי ג'וניור גדולים </a:t>
            </a:r>
            <a:r>
              <a:rPr lang="he-IL" sz="1200" b="1" dirty="0">
                <a:latin typeface="Rubik" pitchFamily="2" charset="-79"/>
                <a:cs typeface="Rubik" pitchFamily="2" charset="-79"/>
              </a:rPr>
              <a:t>- מרכז מאוחדת ג'וניור בירושלים  |   מרכז ג'וניור במרכז רפואי ראם ברחובות</a:t>
            </a:r>
            <a:r>
              <a:rPr lang="he-IL" sz="1200" dirty="0">
                <a:latin typeface="Rubik" pitchFamily="2" charset="-79"/>
                <a:cs typeface="Rubik" pitchFamily="2" charset="-79"/>
              </a:rPr>
              <a:t>  ו-</a:t>
            </a:r>
            <a:r>
              <a:rPr lang="he-IL" sz="1200" b="1" u="sng" dirty="0">
                <a:latin typeface="Rubik" pitchFamily="2" charset="-79"/>
                <a:cs typeface="Rubik" pitchFamily="2" charset="-79"/>
                <a:hlinkClick r:id="rId3">
                  <a:extLst>
                    <a:ext uri="{A12FA001-AC4F-418D-AE19-62706E023703}">
                      <ahyp:hlinkClr xmlns:ahyp="http://schemas.microsoft.com/office/drawing/2018/hyperlinkcolor" val="tx"/>
                    </a:ext>
                  </a:extLst>
                </a:hlinkClick>
              </a:rPr>
              <a:t>21 מרכזי מיני ג'וניור &gt;&gt;</a:t>
            </a:r>
            <a:r>
              <a:rPr lang="he-IL" sz="1200" b="1" dirty="0">
                <a:latin typeface="Rubik" pitchFamily="2" charset="-79"/>
                <a:cs typeface="Rubik" pitchFamily="2" charset="-79"/>
              </a:rPr>
              <a:t> </a:t>
            </a:r>
            <a:r>
              <a:rPr lang="he-IL" sz="1200" dirty="0">
                <a:latin typeface="Rubik" pitchFamily="2" charset="-79"/>
                <a:cs typeface="Rubik" pitchFamily="2" charset="-79"/>
              </a:rPr>
              <a:t>שנפתחו ברחבי הארץ, </a:t>
            </a:r>
            <a:br>
              <a:rPr lang="he-IL" sz="1200" dirty="0">
                <a:latin typeface="Rubik" pitchFamily="2" charset="-79"/>
                <a:cs typeface="Rubik" pitchFamily="2" charset="-79"/>
              </a:rPr>
            </a:br>
            <a:r>
              <a:rPr lang="he-IL" sz="1200" dirty="0">
                <a:latin typeface="Rubik" pitchFamily="2" charset="-79"/>
                <a:cs typeface="Rubik" pitchFamily="2" charset="-79"/>
              </a:rPr>
              <a:t>במרכזי בריאות הילד כל הרופאים הם מומחים ברפואת ילדים וכל אחד ואחת מהרופאים עם התמחות ספציפית ברפואה יועצת לילדים</a:t>
            </a:r>
          </a:p>
          <a:p>
            <a:pPr marL="285750" indent="-285750">
              <a:buFont typeface="Arial" panose="020B0604020202020204" pitchFamily="34" charset="0"/>
              <a:buChar char="•"/>
            </a:pPr>
            <a:r>
              <a:rPr lang="he-IL" sz="1400" b="1" dirty="0">
                <a:solidFill>
                  <a:srgbClr val="009CE1"/>
                </a:solidFill>
                <a:latin typeface="Rubik" pitchFamily="2" charset="-79"/>
                <a:cs typeface="Rubik" pitchFamily="2" charset="-79"/>
              </a:rPr>
              <a:t>בריאות בכף ידך</a:t>
            </a:r>
            <a:r>
              <a:rPr lang="en-US" sz="1400" b="1" dirty="0">
                <a:solidFill>
                  <a:srgbClr val="009CE1"/>
                </a:solidFill>
                <a:latin typeface="Rubik" pitchFamily="2" charset="-79"/>
                <a:cs typeface="Rubik" pitchFamily="2" charset="-79"/>
              </a:rPr>
              <a:t> </a:t>
            </a:r>
            <a:r>
              <a:rPr lang="he-IL" sz="1400" b="1" dirty="0">
                <a:solidFill>
                  <a:srgbClr val="009CE1"/>
                </a:solidFill>
                <a:latin typeface="Rubik" pitchFamily="2" charset="-79"/>
                <a:cs typeface="Rubik" pitchFamily="2" charset="-79"/>
              </a:rPr>
              <a:t>- </a:t>
            </a:r>
            <a:r>
              <a:rPr lang="he-IL" sz="1200" dirty="0">
                <a:latin typeface="Rubik" pitchFamily="2" charset="-79"/>
                <a:cs typeface="Rubik" pitchFamily="2" charset="-79"/>
              </a:rPr>
              <a:t>שירות מעקב וליווי רפואי יוזם (פרואקטיבי), המלווה הורים וילדים בכל אחד משלבי התפתחות הילד </a:t>
            </a:r>
            <a:r>
              <a:rPr lang="he-IL" sz="1200" b="1" dirty="0">
                <a:latin typeface="Rubik" pitchFamily="2" charset="-79"/>
                <a:cs typeface="Rubik" pitchFamily="2" charset="-79"/>
              </a:rPr>
              <a:t>מגיל לידה ועד גיל 6 ובקרוב עד גיל 18.  </a:t>
            </a:r>
            <a:br>
              <a:rPr lang="he-IL" sz="1200" b="1" dirty="0">
                <a:latin typeface="Rubik" pitchFamily="2" charset="-79"/>
                <a:cs typeface="Rubik" pitchFamily="2" charset="-79"/>
              </a:rPr>
            </a:br>
            <a:r>
              <a:rPr lang="he-IL" sz="1200" b="1" dirty="0">
                <a:latin typeface="Rubik" pitchFamily="2" charset="-79"/>
                <a:cs typeface="Rubik" pitchFamily="2" charset="-79"/>
              </a:rPr>
              <a:t>השירות כולל משימות להורים לטיפול רפואי שהתינוק או הילד נדרשים לו. </a:t>
            </a:r>
            <a:r>
              <a:rPr lang="he-IL" sz="1200" dirty="0">
                <a:latin typeface="Rubik" pitchFamily="2" charset="-79"/>
                <a:cs typeface="Rubik" pitchFamily="2" charset="-79"/>
              </a:rPr>
              <a:t>המשימות מופיעות </a:t>
            </a:r>
            <a:r>
              <a:rPr lang="he-IL" sz="1200" b="1" dirty="0">
                <a:latin typeface="Rubik" pitchFamily="2" charset="-79"/>
                <a:cs typeface="Rubik" pitchFamily="2" charset="-79"/>
              </a:rPr>
              <a:t>באפליקציית מאוחדת </a:t>
            </a:r>
            <a:r>
              <a:rPr lang="he-IL" sz="1200" dirty="0">
                <a:latin typeface="Rubik" pitchFamily="2" charset="-79"/>
                <a:cs typeface="Rubik" pitchFamily="2" charset="-79"/>
              </a:rPr>
              <a:t>תחת </a:t>
            </a:r>
            <a:r>
              <a:rPr lang="he-IL" sz="1200" b="1" dirty="0">
                <a:latin typeface="Rubik" pitchFamily="2" charset="-79"/>
                <a:cs typeface="Rubik" pitchFamily="2" charset="-79"/>
              </a:rPr>
              <a:t>כפתור שנקרא "בריאות הילד/ה" </a:t>
            </a:r>
            <a:r>
              <a:rPr lang="he-IL" sz="1200" dirty="0">
                <a:latin typeface="Rubik" pitchFamily="2" charset="-79"/>
                <a:cs typeface="Rubik" pitchFamily="2" charset="-79"/>
              </a:rPr>
              <a:t>ונשלחות גם במייל או בהודעת </a:t>
            </a:r>
            <a:r>
              <a:rPr lang="en-US" sz="1200" dirty="0">
                <a:latin typeface="Rubik" pitchFamily="2" charset="-79"/>
                <a:cs typeface="Rubik" pitchFamily="2" charset="-79"/>
              </a:rPr>
              <a:t> SMS</a:t>
            </a:r>
            <a:r>
              <a:rPr lang="he-IL" sz="1200" dirty="0">
                <a:latin typeface="Rubik" pitchFamily="2" charset="-79"/>
                <a:cs typeface="Rubik" pitchFamily="2" charset="-79"/>
              </a:rPr>
              <a:t>וגם בהודעה קולית לטלפונים כשרים.</a:t>
            </a:r>
            <a:br>
              <a:rPr lang="en-US" sz="1200" dirty="0">
                <a:latin typeface="Rubik" pitchFamily="2" charset="-79"/>
                <a:cs typeface="Rubik" pitchFamily="2" charset="-79"/>
              </a:rPr>
            </a:br>
            <a:r>
              <a:rPr lang="he-IL" sz="1200" dirty="0">
                <a:solidFill>
                  <a:srgbClr val="F47221"/>
                </a:solidFill>
                <a:latin typeface="Rubik" pitchFamily="2" charset="-79"/>
                <a:cs typeface="Rubik" pitchFamily="2" charset="-79"/>
              </a:rPr>
              <a:t>(משימות לתינוקות לדוגמא: התחלת נטילת ברזל | חיסון גיל שנה וחצי | בדיקת </a:t>
            </a:r>
            <a:r>
              <a:rPr lang="he-IL" sz="1200" dirty="0" err="1">
                <a:solidFill>
                  <a:srgbClr val="F47221"/>
                </a:solidFill>
                <a:latin typeface="Rubik" pitchFamily="2" charset="-79"/>
                <a:cs typeface="Rubik" pitchFamily="2" charset="-79"/>
              </a:rPr>
              <a:t>אורטופד</a:t>
            </a:r>
            <a:r>
              <a:rPr lang="he-IL" sz="1200" dirty="0">
                <a:solidFill>
                  <a:srgbClr val="F47221"/>
                </a:solidFill>
                <a:latin typeface="Rubik" pitchFamily="2" charset="-79"/>
                <a:cs typeface="Rubik" pitchFamily="2" charset="-79"/>
              </a:rPr>
              <a:t> ילדים | ביקור בטיפת חלב | בדיקת רופא עיניים | ביקור אצל רופא ילדים)</a:t>
            </a:r>
          </a:p>
          <a:p>
            <a:pPr marL="285750" indent="-285750">
              <a:buFont typeface="Arial" panose="020B0604020202020204" pitchFamily="34" charset="0"/>
              <a:buChar char="•"/>
            </a:pPr>
            <a:r>
              <a:rPr lang="en-US" sz="1200" dirty="0">
                <a:latin typeface="Rubik" pitchFamily="2" charset="-79"/>
                <a:cs typeface="Rubik" pitchFamily="2" charset="-79"/>
              </a:rPr>
              <a:t> </a:t>
            </a:r>
            <a:r>
              <a:rPr lang="en-US" sz="1400" b="1" dirty="0">
                <a:solidFill>
                  <a:srgbClr val="009CE1"/>
                </a:solidFill>
                <a:latin typeface="Rubik" pitchFamily="2" charset="-79"/>
                <a:cs typeface="Rubik" pitchFamily="2" charset="-79"/>
              </a:rPr>
              <a:t>- Tyto </a:t>
            </a:r>
            <a:r>
              <a:rPr lang="he-IL" sz="1200" dirty="0">
                <a:latin typeface="Rubik" pitchFamily="2" charset="-79"/>
                <a:cs typeface="Rubik" pitchFamily="2" charset="-79"/>
              </a:rPr>
              <a:t>דוגם מדדים רפואיים שנשלחים לרופא לצורך בדיקת רופא מרחוק (בשיחת וידאו היברידית)</a:t>
            </a:r>
          </a:p>
          <a:p>
            <a:pPr marL="285750" indent="-285750">
              <a:buFont typeface="Arial" panose="020B0604020202020204" pitchFamily="34" charset="0"/>
              <a:buChar char="•"/>
            </a:pPr>
            <a:r>
              <a:rPr lang="he-IL" sz="1400" b="1" dirty="0" err="1">
                <a:solidFill>
                  <a:srgbClr val="009CE1"/>
                </a:solidFill>
                <a:latin typeface="Rubik" pitchFamily="2" charset="-79"/>
                <a:cs typeface="Rubik" pitchFamily="2" charset="-79"/>
              </a:rPr>
              <a:t>שב"ן</a:t>
            </a:r>
            <a:r>
              <a:rPr lang="he-IL" sz="1400" b="1" dirty="0">
                <a:solidFill>
                  <a:srgbClr val="009CE1"/>
                </a:solidFill>
                <a:latin typeface="Rubik" pitchFamily="2" charset="-79"/>
                <a:cs typeface="Rubik" pitchFamily="2" charset="-79"/>
              </a:rPr>
              <a:t> </a:t>
            </a:r>
          </a:p>
        </p:txBody>
      </p:sp>
      <p:pic>
        <p:nvPicPr>
          <p:cNvPr id="12" name="תמונה 11">
            <a:extLst>
              <a:ext uri="{FF2B5EF4-FFF2-40B4-BE49-F238E27FC236}">
                <a16:creationId xmlns:a16="http://schemas.microsoft.com/office/drawing/2014/main" id="{2D746E77-ED02-530B-9592-6269063F9436}"/>
              </a:ext>
            </a:extLst>
          </p:cNvPr>
          <p:cNvPicPr>
            <a:picLocks noChangeAspect="1"/>
          </p:cNvPicPr>
          <p:nvPr/>
        </p:nvPicPr>
        <p:blipFill>
          <a:blip r:embed="rId4"/>
          <a:stretch>
            <a:fillRect/>
          </a:stretch>
        </p:blipFill>
        <p:spPr>
          <a:xfrm>
            <a:off x="1" y="4593249"/>
            <a:ext cx="12192000" cy="2267808"/>
          </a:xfrm>
          <a:prstGeom prst="rect">
            <a:avLst/>
          </a:prstGeom>
        </p:spPr>
      </p:pic>
      <p:sp>
        <p:nvSpPr>
          <p:cNvPr id="2" name="מלבן 1">
            <a:extLst>
              <a:ext uri="{FF2B5EF4-FFF2-40B4-BE49-F238E27FC236}">
                <a16:creationId xmlns:a16="http://schemas.microsoft.com/office/drawing/2014/main" id="{B0D1F726-CA43-C99E-7ED5-877A7111EBDA}"/>
              </a:ext>
            </a:extLst>
          </p:cNvPr>
          <p:cNvSpPr/>
          <p:nvPr/>
        </p:nvSpPr>
        <p:spPr>
          <a:xfrm>
            <a:off x="-1" y="581025"/>
            <a:ext cx="3969909" cy="1428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הוראות הפקה: להציג את ההסברים בלחיצה, להוסיף אלמנטים </a:t>
            </a:r>
            <a:r>
              <a:rPr lang="he-IL" dirty="0" err="1"/>
              <a:t>ויזאולים</a:t>
            </a:r>
            <a:r>
              <a:rPr lang="he-IL" dirty="0"/>
              <a:t> המתאימים לתוכן. לדוגמה: 2 מרכזי ג'וניור – להציג מיקום על המפה. </a:t>
            </a:r>
            <a:r>
              <a:rPr lang="en-US" dirty="0"/>
              <a:t>TYTO</a:t>
            </a:r>
            <a:r>
              <a:rPr lang="he-IL" dirty="0"/>
              <a:t> לצרף תמונה של המכשיר</a:t>
            </a:r>
          </a:p>
        </p:txBody>
      </p:sp>
      <p:sp>
        <p:nvSpPr>
          <p:cNvPr id="5" name="תיבת טקסט 4">
            <a:extLst>
              <a:ext uri="{FF2B5EF4-FFF2-40B4-BE49-F238E27FC236}">
                <a16:creationId xmlns:a16="http://schemas.microsoft.com/office/drawing/2014/main" id="{83440F61-B380-5628-A283-A206FA3B679F}"/>
              </a:ext>
            </a:extLst>
          </p:cNvPr>
          <p:cNvSpPr txBox="1"/>
          <p:nvPr/>
        </p:nvSpPr>
        <p:spPr>
          <a:xfrm>
            <a:off x="5805993" y="2353668"/>
            <a:ext cx="6100762" cy="276999"/>
          </a:xfrm>
          <a:prstGeom prst="rect">
            <a:avLst/>
          </a:prstGeom>
          <a:noFill/>
        </p:spPr>
        <p:txBody>
          <a:bodyPr wrap="square">
            <a:spAutoFit/>
          </a:bodyPr>
          <a:lstStyle/>
          <a:p>
            <a:r>
              <a:rPr lang="he-IL" sz="1200" b="1" i="0" dirty="0">
                <a:solidFill>
                  <a:srgbClr val="000000"/>
                </a:solidFill>
                <a:effectLst/>
                <a:latin typeface="Rubik" pitchFamily="2" charset="-79"/>
                <a:cs typeface="Rubik" pitchFamily="2" charset="-79"/>
              </a:rPr>
              <a:t>לחצו </a:t>
            </a:r>
            <a:r>
              <a:rPr lang="he-IL" sz="1200" b="1" dirty="0">
                <a:solidFill>
                  <a:srgbClr val="000000"/>
                </a:solidFill>
                <a:latin typeface="Rubik" pitchFamily="2" charset="-79"/>
                <a:cs typeface="Rubik" pitchFamily="2" charset="-79"/>
              </a:rPr>
              <a:t>על כל נושא להרחבה</a:t>
            </a:r>
            <a:endParaRPr lang="he-IL" sz="1200" dirty="0"/>
          </a:p>
        </p:txBody>
      </p:sp>
    </p:spTree>
    <p:extLst>
      <p:ext uri="{BB962C8B-B14F-4D97-AF65-F5344CB8AC3E}">
        <p14:creationId xmlns:p14="http://schemas.microsoft.com/office/powerpoint/2010/main" val="1898747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59EFE-B7CB-6FFF-C5FB-E3E3A45DE770}"/>
            </a:ext>
          </a:extLst>
        </p:cNvPr>
        <p:cNvGrpSpPr/>
        <p:nvPr/>
      </p:nvGrpSpPr>
      <p:grpSpPr>
        <a:xfrm>
          <a:off x="0" y="0"/>
          <a:ext cx="0" cy="0"/>
          <a:chOff x="0" y="0"/>
          <a:chExt cx="0" cy="0"/>
        </a:xfrm>
      </p:grpSpPr>
      <p:sp>
        <p:nvSpPr>
          <p:cNvPr id="25" name="תיבת טקסט 24">
            <a:extLst>
              <a:ext uri="{FF2B5EF4-FFF2-40B4-BE49-F238E27FC236}">
                <a16:creationId xmlns:a16="http://schemas.microsoft.com/office/drawing/2014/main" id="{8AD929D3-6907-8C65-01AA-2C3882AFDAB3}"/>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ניהול מבוסס יעדים</a:t>
            </a:r>
            <a:endParaRPr lang="he-IL" sz="2800" i="0" dirty="0">
              <a:solidFill>
                <a:srgbClr val="000000"/>
              </a:solidFill>
              <a:effectLst/>
              <a:latin typeface="Rubik" pitchFamily="2" charset="-79"/>
              <a:cs typeface="Rubik" pitchFamily="2" charset="-79"/>
            </a:endParaRPr>
          </a:p>
        </p:txBody>
      </p:sp>
      <p:sp>
        <p:nvSpPr>
          <p:cNvPr id="7" name="תיבת טקסט 6">
            <a:extLst>
              <a:ext uri="{FF2B5EF4-FFF2-40B4-BE49-F238E27FC236}">
                <a16:creationId xmlns:a16="http://schemas.microsoft.com/office/drawing/2014/main" id="{C0D00FF2-6606-9D77-7A37-F675EDFA7EE8}"/>
              </a:ext>
            </a:extLst>
          </p:cNvPr>
          <p:cNvSpPr txBox="1"/>
          <p:nvPr/>
        </p:nvSpPr>
        <p:spPr>
          <a:xfrm>
            <a:off x="1618087" y="1469829"/>
            <a:ext cx="10143553" cy="17088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תכנית עבודה נגזרת מהאסטרטגיה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כוללת יעדים מדידים</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נבחנת פעמיים בשנה (חציון וסוף שנה)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מלווה במדדים ובבקרה</a:t>
            </a:r>
          </a:p>
        </p:txBody>
      </p:sp>
      <p:sp>
        <p:nvSpPr>
          <p:cNvPr id="9" name="Oval 27">
            <a:extLst>
              <a:ext uri="{FF2B5EF4-FFF2-40B4-BE49-F238E27FC236}">
                <a16:creationId xmlns:a16="http://schemas.microsoft.com/office/drawing/2014/main" id="{724AD2A4-95F7-5496-393B-4C215CDEE92B}"/>
              </a:ext>
            </a:extLst>
          </p:cNvPr>
          <p:cNvSpPr/>
          <p:nvPr/>
        </p:nvSpPr>
        <p:spPr>
          <a:xfrm>
            <a:off x="5129144" y="1489909"/>
            <a:ext cx="1933712" cy="17906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b="1" dirty="0">
                <a:solidFill>
                  <a:schemeClr val="bg1"/>
                </a:solidFill>
                <a:latin typeface="Rubik" pitchFamily="2" charset="-79"/>
                <a:cs typeface="Rubik" pitchFamily="2" charset="-79"/>
              </a:rPr>
              <a:t>טיפ!</a:t>
            </a:r>
          </a:p>
          <a:p>
            <a:pPr algn="ctr"/>
            <a:r>
              <a:rPr lang="he-IL" b="1" dirty="0">
                <a:latin typeface="Rubik" pitchFamily="2" charset="-79"/>
                <a:cs typeface="Rubik" pitchFamily="2" charset="-79"/>
              </a:rPr>
              <a:t>לפני בניית </a:t>
            </a:r>
          </a:p>
          <a:p>
            <a:pPr algn="ctr"/>
            <a:r>
              <a:rPr lang="he-IL" b="1" dirty="0">
                <a:latin typeface="Rubik" pitchFamily="2" charset="-79"/>
                <a:cs typeface="Rubik" pitchFamily="2" charset="-79"/>
              </a:rPr>
              <a:t>תכנית </a:t>
            </a:r>
          </a:p>
          <a:p>
            <a:pPr algn="ctr"/>
            <a:r>
              <a:rPr lang="he-IL" b="1" dirty="0">
                <a:latin typeface="Rubik" pitchFamily="2" charset="-79"/>
                <a:cs typeface="Rubik" pitchFamily="2" charset="-79"/>
              </a:rPr>
              <a:t>העבודה</a:t>
            </a:r>
            <a:endParaRPr lang="en-IL" dirty="0"/>
          </a:p>
        </p:txBody>
      </p:sp>
      <p:grpSp>
        <p:nvGrpSpPr>
          <p:cNvPr id="20" name="קבוצה 19">
            <a:extLst>
              <a:ext uri="{FF2B5EF4-FFF2-40B4-BE49-F238E27FC236}">
                <a16:creationId xmlns:a16="http://schemas.microsoft.com/office/drawing/2014/main" id="{3EA0B474-ED56-11ED-BB8E-E42311075167}"/>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8D644C8B-0EF0-FFBE-68D0-043E22270F12}"/>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ABA4098A-256A-2F17-3207-E5597964D12D}"/>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B866FB43-FCE6-5FCF-0267-1A8C4ADD05E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F068D4DE-5603-A2A0-4D83-E7AD1795A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6B1E8EA9-912F-3795-3FCE-8A3B29FF9FDC}"/>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9EC6EC6C-C5E7-82E1-85E0-8700F203FDF0}"/>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A1CA9811-54CA-A6D5-D361-F91D946675C1}"/>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955C0DB4-8B31-F049-5373-0230870702DE}"/>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0DB6E04A-5ADB-1184-2E5D-628983194FE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0A7957DA-7E0B-5622-5BB5-834043EE7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190BDBC9-6541-1076-0972-E55599343712}"/>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A67019B3-983C-3E75-733A-A0DCC3E4C5E6}"/>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כלים שיעזרו לכם</a:t>
              </a:r>
              <a:endParaRPr lang="he-IL" sz="2400" i="0" dirty="0">
                <a:solidFill>
                  <a:srgbClr val="009CE1"/>
                </a:solidFill>
                <a:effectLst/>
                <a:latin typeface="Rubik" pitchFamily="2" charset="-79"/>
                <a:cs typeface="Rubik" pitchFamily="2" charset="-79"/>
              </a:endParaRPr>
            </a:p>
          </p:txBody>
        </p:sp>
        <p:grpSp>
          <p:nvGrpSpPr>
            <p:cNvPr id="30" name="קבוצה 29">
              <a:extLst>
                <a:ext uri="{FF2B5EF4-FFF2-40B4-BE49-F238E27FC236}">
                  <a16:creationId xmlns:a16="http://schemas.microsoft.com/office/drawing/2014/main" id="{918BD578-3FAD-7CDF-F242-8E730CC5D3DD}"/>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2D5ACC3F-BDA0-9ADD-94D8-7AE0E9C4461A}"/>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AA5BB6A0-7003-C675-FC6E-D4D1F5E315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67299466-637A-3237-C272-135BFD04D16B}"/>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38" name="תיבת טקסט 37">
            <a:extLst>
              <a:ext uri="{FF2B5EF4-FFF2-40B4-BE49-F238E27FC236}">
                <a16:creationId xmlns:a16="http://schemas.microsoft.com/office/drawing/2014/main" id="{F9F01B75-FAD3-4AAE-8EE4-A127E0B675B9}"/>
              </a:ext>
            </a:extLst>
          </p:cNvPr>
          <p:cNvSpPr txBox="1"/>
          <p:nvPr/>
        </p:nvSpPr>
        <p:spPr>
          <a:xfrm>
            <a:off x="311086" y="1654237"/>
            <a:ext cx="4626410" cy="923330"/>
          </a:xfrm>
          <a:prstGeom prst="rect">
            <a:avLst/>
          </a:prstGeom>
          <a:noFill/>
        </p:spPr>
        <p:txBody>
          <a:bodyPr wrap="square">
            <a:spAutoFit/>
          </a:bodyPr>
          <a:lstStyle/>
          <a:p>
            <a:r>
              <a:rPr lang="he-IL" dirty="0">
                <a:latin typeface="Rubik" pitchFamily="2" charset="-79"/>
                <a:cs typeface="Rubik" pitchFamily="2" charset="-79"/>
              </a:rPr>
              <a:t>חשוב להתעדכן </a:t>
            </a:r>
            <a:r>
              <a:rPr lang="he-IL" dirty="0" err="1">
                <a:latin typeface="Rubik" pitchFamily="2" charset="-79"/>
                <a:cs typeface="Rubik" pitchFamily="2" charset="-79"/>
              </a:rPr>
              <a:t>בתכניות</a:t>
            </a:r>
            <a:r>
              <a:rPr lang="he-IL" dirty="0">
                <a:latin typeface="Rubik" pitchFamily="2" charset="-79"/>
                <a:cs typeface="Rubik" pitchFamily="2" charset="-79"/>
              </a:rPr>
              <a:t> היחידתיות, המחוזיות והחטיבתיות – ולהבין את התמונה הרחבה שבתוכה אתה פועל.</a:t>
            </a:r>
          </a:p>
        </p:txBody>
      </p:sp>
      <p:sp>
        <p:nvSpPr>
          <p:cNvPr id="3" name="תיבת טקסט 2">
            <a:extLst>
              <a:ext uri="{FF2B5EF4-FFF2-40B4-BE49-F238E27FC236}">
                <a16:creationId xmlns:a16="http://schemas.microsoft.com/office/drawing/2014/main" id="{97F059CB-E5CF-548E-218F-E6659E90DD30}"/>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במאוחדת</a:t>
            </a:r>
          </a:p>
        </p:txBody>
      </p:sp>
    </p:spTree>
    <p:extLst>
      <p:ext uri="{BB962C8B-B14F-4D97-AF65-F5344CB8AC3E}">
        <p14:creationId xmlns:p14="http://schemas.microsoft.com/office/powerpoint/2010/main" val="2780275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A7362-D79F-3E55-3D23-06386BC59B5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06A4B5BD-B393-BA6C-0A57-231058482BDB}"/>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במאוחדת</a:t>
            </a:r>
          </a:p>
        </p:txBody>
      </p:sp>
      <p:sp>
        <p:nvSpPr>
          <p:cNvPr id="7" name="תיבת טקסט 6">
            <a:extLst>
              <a:ext uri="{FF2B5EF4-FFF2-40B4-BE49-F238E27FC236}">
                <a16:creationId xmlns:a16="http://schemas.microsoft.com/office/drawing/2014/main" id="{483B34DB-DC09-B7B2-2C65-AFCF9F0A3C36}"/>
              </a:ext>
            </a:extLst>
          </p:cNvPr>
          <p:cNvSpPr txBox="1"/>
          <p:nvPr/>
        </p:nvSpPr>
        <p:spPr>
          <a:xfrm>
            <a:off x="7062856" y="1899758"/>
            <a:ext cx="4693596" cy="1708866"/>
          </a:xfrm>
          <a:prstGeom prst="rect">
            <a:avLst/>
          </a:prstGeom>
          <a:noFill/>
        </p:spPr>
        <p:txBody>
          <a:bodyPr wrap="square" rtlCol="0">
            <a:spAutoFit/>
          </a:bodyPr>
          <a:lstStyle/>
          <a:p>
            <a:pPr>
              <a:lnSpc>
                <a:spcPct val="150000"/>
              </a:lnSpc>
            </a:pPr>
            <a:r>
              <a:rPr lang="he-IL" b="0" i="0" dirty="0" err="1">
                <a:solidFill>
                  <a:srgbClr val="000000"/>
                </a:solidFill>
                <a:effectLst/>
                <a:latin typeface="Rubik" pitchFamily="2" charset="-79"/>
                <a:cs typeface="Rubik" pitchFamily="2" charset="-79"/>
              </a:rPr>
              <a:t>תכניות</a:t>
            </a:r>
            <a:r>
              <a:rPr lang="he-IL" b="0" i="0" dirty="0">
                <a:solidFill>
                  <a:srgbClr val="000000"/>
                </a:solidFill>
                <a:effectLst/>
                <a:latin typeface="Rubik" pitchFamily="2" charset="-79"/>
                <a:cs typeface="Rubik" pitchFamily="2" charset="-79"/>
              </a:rPr>
              <a:t> העבודה במאוחדת נגזרות מתוך האסטרטגיה הארגונית והן כוללות יעדים מדידים ואיכותיים. לכל מנהל עבודה שנתית, אשר מלווה בבקרה ונבחנת פעמיים בשנה</a:t>
            </a:r>
          </a:p>
        </p:txBody>
      </p:sp>
      <p:grpSp>
        <p:nvGrpSpPr>
          <p:cNvPr id="20" name="קבוצה 19">
            <a:extLst>
              <a:ext uri="{FF2B5EF4-FFF2-40B4-BE49-F238E27FC236}">
                <a16:creationId xmlns:a16="http://schemas.microsoft.com/office/drawing/2014/main" id="{157A564F-E144-2BE5-7B41-A45BA785F7E8}"/>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38C47B11-61FC-E003-DFF7-899D2B99C153}"/>
                </a:ext>
              </a:extLst>
            </p:cNvPr>
            <p:cNvSpPr txBox="1"/>
            <p:nvPr/>
          </p:nvSpPr>
          <p:spPr>
            <a:xfrm>
              <a:off x="7263813" y="4456373"/>
              <a:ext cx="3968699" cy="369332"/>
            </a:xfrm>
            <a:prstGeom prst="rect">
              <a:avLst/>
            </a:prstGeom>
            <a:noFill/>
          </p:spPr>
          <p:txBody>
            <a:bodyPr wrap="square" rtlCol="0">
              <a:spAutoFit/>
            </a:bodyPr>
            <a:lstStyle/>
            <a:p>
              <a:r>
                <a:rPr lang="he-IL" i="0" dirty="0">
                  <a:solidFill>
                    <a:srgbClr val="009CE1"/>
                  </a:solidFill>
                  <a:effectLst/>
                  <a:latin typeface="Rubik Black" pitchFamily="2" charset="-79"/>
                  <a:cs typeface="Rubik Black" pitchFamily="2" charset="-79"/>
                </a:rPr>
                <a:t>כיצד בנויה תכנית העבודה</a:t>
              </a:r>
              <a:endParaRPr lang="he-IL" sz="2400" i="0" dirty="0">
                <a:solidFill>
                  <a:srgbClr val="009CE1"/>
                </a:solidFill>
                <a:effectLst/>
                <a:latin typeface="Rubik Black" pitchFamily="2" charset="-79"/>
                <a:cs typeface="Rubik Black" pitchFamily="2" charset="-79"/>
              </a:endParaRPr>
            </a:p>
          </p:txBody>
        </p:sp>
        <p:grpSp>
          <p:nvGrpSpPr>
            <p:cNvPr id="12" name="קבוצה 11">
              <a:extLst>
                <a:ext uri="{FF2B5EF4-FFF2-40B4-BE49-F238E27FC236}">
                  <a16:creationId xmlns:a16="http://schemas.microsoft.com/office/drawing/2014/main" id="{70FFA2AB-E24B-BCED-D89F-5E73630F3CBB}"/>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EF55F881-CF4B-F3C9-F5E6-69CB739CA9CC}"/>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18AEF6AD-1D09-7C60-0502-83D5AA97F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EFC5C289-BF71-31F3-341C-A92D31EC5725}"/>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3093FBDC-4846-8CDE-A765-05B4A03DF610}"/>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664FBE51-0C18-AE11-C26B-5D6BA38D628D}"/>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1F9E0E4D-DE10-8D12-6001-3516D2D3C74D}"/>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449081DA-BA43-EDAA-8B0D-0677F26B60C1}"/>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C3A20B2C-5C58-3D15-3396-8C184A61D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CFDEDBB0-70A0-49D5-5BF0-7958C419EC95}"/>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DCD46575-0437-33E2-07EA-EC3AABEE060D}"/>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כלים שיעזרו לכם</a:t>
              </a:r>
              <a:endParaRPr lang="he-IL" sz="2400" i="0" dirty="0">
                <a:solidFill>
                  <a:srgbClr val="009CE1"/>
                </a:solidFill>
                <a:effectLst/>
                <a:latin typeface="Rubik" pitchFamily="2" charset="-79"/>
                <a:cs typeface="Rubik" pitchFamily="2" charset="-79"/>
              </a:endParaRPr>
            </a:p>
          </p:txBody>
        </p:sp>
        <p:grpSp>
          <p:nvGrpSpPr>
            <p:cNvPr id="30" name="קבוצה 29">
              <a:extLst>
                <a:ext uri="{FF2B5EF4-FFF2-40B4-BE49-F238E27FC236}">
                  <a16:creationId xmlns:a16="http://schemas.microsoft.com/office/drawing/2014/main" id="{B0E57727-6E1B-4247-FB01-198DE0BF4467}"/>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CA6CFBCB-9581-64AF-66CE-DF9D5022B6EB}"/>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36E20A07-8E9F-F9E4-7204-83A47DC1C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0D429D3E-54C5-FB61-F06B-F6394ADB06DB}"/>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D37F30C5-0DE2-2B62-B8C3-5A91D3F444DA}"/>
              </a:ext>
            </a:extLst>
          </p:cNvPr>
          <p:cNvSpPr txBox="1"/>
          <p:nvPr/>
        </p:nvSpPr>
        <p:spPr>
          <a:xfrm>
            <a:off x="4190408" y="4247075"/>
            <a:ext cx="3313230" cy="2062103"/>
          </a:xfrm>
          <a:prstGeom prst="rect">
            <a:avLst/>
          </a:prstGeom>
          <a:noFill/>
        </p:spPr>
        <p:txBody>
          <a:bodyPr wrap="square">
            <a:spAutoFit/>
          </a:bodyPr>
          <a:lstStyle/>
          <a:p>
            <a:pPr>
              <a:buNone/>
            </a:pPr>
            <a:r>
              <a:rPr lang="he-IL" sz="1600" b="1" dirty="0">
                <a:latin typeface="Rubik" pitchFamily="2" charset="-79"/>
                <a:cs typeface="Rubik" pitchFamily="2" charset="-79"/>
              </a:rPr>
              <a:t>המבנה העקרוני של תכנית עבודה כולל:</a:t>
            </a:r>
          </a:p>
          <a:p>
            <a:pPr marL="285750" indent="-285750">
              <a:buFont typeface="Arial" panose="020B0604020202020204" pitchFamily="34" charset="0"/>
              <a:buChar char="•"/>
            </a:pPr>
            <a:r>
              <a:rPr lang="he-IL" sz="1600" dirty="0">
                <a:latin typeface="Rubik" pitchFamily="2" charset="-79"/>
                <a:cs typeface="Rubik" pitchFamily="2" charset="-79"/>
              </a:rPr>
              <a:t>יעד</a:t>
            </a:r>
          </a:p>
          <a:p>
            <a:pPr marL="285750" indent="-285750">
              <a:buFont typeface="Arial" panose="020B0604020202020204" pitchFamily="34" charset="0"/>
              <a:buChar char="•"/>
            </a:pPr>
            <a:r>
              <a:rPr lang="he-IL" sz="1600" dirty="0">
                <a:latin typeface="Rubik" pitchFamily="2" charset="-79"/>
                <a:cs typeface="Rubik" pitchFamily="2" charset="-79"/>
              </a:rPr>
              <a:t>מדד</a:t>
            </a:r>
          </a:p>
          <a:p>
            <a:pPr marL="285750" indent="-285750">
              <a:buFont typeface="Arial" panose="020B0604020202020204" pitchFamily="34" charset="0"/>
              <a:buChar char="•"/>
            </a:pPr>
            <a:r>
              <a:rPr lang="he-IL" sz="1600" dirty="0">
                <a:latin typeface="Rubik" pitchFamily="2" charset="-79"/>
                <a:cs typeface="Rubik" pitchFamily="2" charset="-79"/>
              </a:rPr>
              <a:t>מהלכים מרכזיים</a:t>
            </a:r>
          </a:p>
          <a:p>
            <a:pPr marL="285750" indent="-285750">
              <a:buFont typeface="Arial" panose="020B0604020202020204" pitchFamily="34" charset="0"/>
              <a:buChar char="•"/>
            </a:pPr>
            <a:r>
              <a:rPr lang="he-IL" sz="1600" dirty="0">
                <a:latin typeface="Rubik" pitchFamily="2" charset="-79"/>
                <a:cs typeface="Rubik" pitchFamily="2" charset="-79"/>
              </a:rPr>
              <a:t>אבני דרך</a:t>
            </a:r>
          </a:p>
          <a:p>
            <a:pPr marL="285750" indent="-285750">
              <a:buFont typeface="Arial" panose="020B0604020202020204" pitchFamily="34" charset="0"/>
              <a:buChar char="•"/>
            </a:pPr>
            <a:r>
              <a:rPr lang="he-IL" sz="1600" dirty="0">
                <a:latin typeface="Rubik" pitchFamily="2" charset="-79"/>
                <a:cs typeface="Rubik" pitchFamily="2" charset="-79"/>
              </a:rPr>
              <a:t>בקרה</a:t>
            </a:r>
          </a:p>
          <a:p>
            <a:pPr>
              <a:buNone/>
            </a:pPr>
            <a:endParaRPr lang="he-IL" sz="16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2EE206DE-CABB-B094-E51B-E85E4B2821D3}"/>
              </a:ext>
            </a:extLst>
          </p:cNvPr>
          <p:cNvSpPr txBox="1"/>
          <p:nvPr/>
        </p:nvSpPr>
        <p:spPr>
          <a:xfrm>
            <a:off x="392505" y="4181746"/>
            <a:ext cx="3313231" cy="1815882"/>
          </a:xfrm>
          <a:prstGeom prst="rect">
            <a:avLst/>
          </a:prstGeom>
          <a:noFill/>
        </p:spPr>
        <p:txBody>
          <a:bodyPr wrap="square">
            <a:spAutoFit/>
          </a:bodyPr>
          <a:lstStyle/>
          <a:p>
            <a:pPr>
              <a:buNone/>
            </a:pPr>
            <a:r>
              <a:rPr lang="he-IL" sz="1600" b="1" dirty="0">
                <a:latin typeface="Rubik" pitchFamily="2" charset="-79"/>
                <a:cs typeface="Rubik" pitchFamily="2" charset="-79"/>
              </a:rPr>
              <a:t>מעגל העבודה השנתי:</a:t>
            </a:r>
          </a:p>
          <a:p>
            <a:pPr marL="285750" indent="-285750">
              <a:buFont typeface="Arial" panose="020B0604020202020204" pitchFamily="34" charset="0"/>
              <a:buChar char="•"/>
            </a:pPr>
            <a:r>
              <a:rPr lang="he-IL" sz="1600" dirty="0">
                <a:latin typeface="Rubik" pitchFamily="2" charset="-79"/>
                <a:cs typeface="Rubik" pitchFamily="2" charset="-79"/>
              </a:rPr>
              <a:t>אוגוסט – תחילת חשיבה</a:t>
            </a:r>
          </a:p>
          <a:p>
            <a:pPr marL="285750" indent="-285750">
              <a:buFont typeface="Arial" panose="020B0604020202020204" pitchFamily="34" charset="0"/>
              <a:buChar char="•"/>
            </a:pPr>
            <a:r>
              <a:rPr lang="he-IL" sz="1600" dirty="0">
                <a:latin typeface="Rubik" pitchFamily="2" charset="-79"/>
                <a:cs typeface="Rubik" pitchFamily="2" charset="-79"/>
              </a:rPr>
              <a:t>אוקטובר–נובמבר –סיכום שנה,  קבלת הנחיות והגשת </a:t>
            </a:r>
            <a:r>
              <a:rPr lang="he-IL" sz="1600" dirty="0" err="1">
                <a:latin typeface="Rubik" pitchFamily="2" charset="-79"/>
                <a:cs typeface="Rubik" pitchFamily="2" charset="-79"/>
              </a:rPr>
              <a:t>תכניות</a:t>
            </a:r>
            <a:endParaRPr lang="he-IL" sz="1600" dirty="0">
              <a:latin typeface="Rubik" pitchFamily="2" charset="-79"/>
              <a:cs typeface="Rubik" pitchFamily="2" charset="-79"/>
            </a:endParaRPr>
          </a:p>
          <a:p>
            <a:pPr marL="285750" indent="-285750">
              <a:buFont typeface="Arial" panose="020B0604020202020204" pitchFamily="34" charset="0"/>
              <a:buChar char="•"/>
            </a:pPr>
            <a:r>
              <a:rPr lang="he-IL" sz="1600" dirty="0">
                <a:latin typeface="Rubik" pitchFamily="2" charset="-79"/>
                <a:cs typeface="Rubik" pitchFamily="2" charset="-79"/>
              </a:rPr>
              <a:t>תחילת שנה – אישור והטמעה</a:t>
            </a:r>
          </a:p>
          <a:p>
            <a:pPr marL="285750" indent="-285750">
              <a:buFont typeface="Arial" panose="020B0604020202020204" pitchFamily="34" charset="0"/>
              <a:buChar char="•"/>
            </a:pPr>
            <a:r>
              <a:rPr lang="he-IL" sz="1600" dirty="0">
                <a:latin typeface="Rubik" pitchFamily="2" charset="-79"/>
                <a:cs typeface="Rubik" pitchFamily="2" charset="-79"/>
              </a:rPr>
              <a:t>חציון – דיון בקרה</a:t>
            </a:r>
          </a:p>
          <a:p>
            <a:pPr marL="285750" indent="-285750">
              <a:buFont typeface="Arial" panose="020B0604020202020204" pitchFamily="34" charset="0"/>
              <a:buChar char="•"/>
            </a:pPr>
            <a:r>
              <a:rPr lang="he-IL" sz="1600" dirty="0">
                <a:latin typeface="Rubik" pitchFamily="2" charset="-79"/>
                <a:cs typeface="Rubik" pitchFamily="2" charset="-79"/>
              </a:rPr>
              <a:t>סוף שנה – סיכום ביצוע</a:t>
            </a:r>
          </a:p>
        </p:txBody>
      </p:sp>
      <p:sp>
        <p:nvSpPr>
          <p:cNvPr id="5" name="מלבן 4">
            <a:extLst>
              <a:ext uri="{FF2B5EF4-FFF2-40B4-BE49-F238E27FC236}">
                <a16:creationId xmlns:a16="http://schemas.microsoft.com/office/drawing/2014/main" id="{9744934F-28E0-B51C-42B1-05AC567395DF}"/>
              </a:ext>
            </a:extLst>
          </p:cNvPr>
          <p:cNvSpPr/>
          <p:nvPr/>
        </p:nvSpPr>
        <p:spPr>
          <a:xfrm>
            <a:off x="22256" y="21419"/>
            <a:ext cx="5593539" cy="1815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1400" b="1" dirty="0"/>
              <a:t>הוראת הפקה:  לחלק את הפרק ל-2 חלקים שונים: </a:t>
            </a:r>
          </a:p>
          <a:p>
            <a:pPr algn="ctr"/>
            <a:r>
              <a:rPr lang="he-IL" sz="1400" b="1" dirty="0"/>
              <a:t>חלק 1: המבנה העקרוני...</a:t>
            </a:r>
          </a:p>
          <a:p>
            <a:pPr algn="ctr"/>
            <a:r>
              <a:rPr lang="he-IL" sz="1400" b="1" dirty="0"/>
              <a:t>שיראה כמו </a:t>
            </a:r>
            <a:r>
              <a:rPr lang="he-IL" sz="1400" b="1" dirty="0" err="1"/>
              <a:t>אינפוגרפיקה</a:t>
            </a:r>
            <a:r>
              <a:rPr lang="he-IL" sz="1400" b="1" dirty="0"/>
              <a:t> בטבלה.</a:t>
            </a:r>
          </a:p>
          <a:p>
            <a:pPr algn="ctr"/>
            <a:r>
              <a:rPr lang="he-IL" sz="1400" b="1" dirty="0"/>
              <a:t>חלק 2: מעגל העבודה שיראה כמו </a:t>
            </a:r>
            <a:r>
              <a:rPr lang="he-IL" sz="1400" b="1" dirty="0" err="1"/>
              <a:t>אינפוגרפיקה</a:t>
            </a:r>
            <a:r>
              <a:rPr lang="he-IL" sz="1400" b="1" dirty="0"/>
              <a:t>. </a:t>
            </a:r>
            <a:endParaRPr lang="he-IL" sz="1400" dirty="0"/>
          </a:p>
        </p:txBody>
      </p:sp>
      <p:sp>
        <p:nvSpPr>
          <p:cNvPr id="6" name="Oval 27">
            <a:extLst>
              <a:ext uri="{FF2B5EF4-FFF2-40B4-BE49-F238E27FC236}">
                <a16:creationId xmlns:a16="http://schemas.microsoft.com/office/drawing/2014/main" id="{8BD91644-51BD-4853-A8F4-3CD24F36F890}"/>
              </a:ext>
            </a:extLst>
          </p:cNvPr>
          <p:cNvSpPr/>
          <p:nvPr/>
        </p:nvSpPr>
        <p:spPr>
          <a:xfrm>
            <a:off x="5129144" y="1716016"/>
            <a:ext cx="1933712" cy="1559031"/>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b="1" dirty="0">
                <a:solidFill>
                  <a:schemeClr val="bg1"/>
                </a:solidFill>
                <a:latin typeface="Rubik" pitchFamily="2" charset="-79"/>
                <a:cs typeface="Rubik" pitchFamily="2" charset="-79"/>
              </a:rPr>
              <a:t>טיפ!</a:t>
            </a:r>
          </a:p>
          <a:p>
            <a:pPr algn="ctr"/>
            <a:r>
              <a:rPr lang="he-IL" b="1" dirty="0">
                <a:latin typeface="Rubik" pitchFamily="2" charset="-79"/>
                <a:cs typeface="Rubik" pitchFamily="2" charset="-79"/>
              </a:rPr>
              <a:t>לפני בניית </a:t>
            </a:r>
          </a:p>
          <a:p>
            <a:pPr algn="ctr"/>
            <a:r>
              <a:rPr lang="he-IL" b="1" dirty="0">
                <a:latin typeface="Rubik" pitchFamily="2" charset="-79"/>
                <a:cs typeface="Rubik" pitchFamily="2" charset="-79"/>
              </a:rPr>
              <a:t>תכנית </a:t>
            </a:r>
          </a:p>
          <a:p>
            <a:pPr algn="ctr"/>
            <a:r>
              <a:rPr lang="he-IL" b="1" dirty="0">
                <a:latin typeface="Rubik" pitchFamily="2" charset="-79"/>
                <a:cs typeface="Rubik" pitchFamily="2" charset="-79"/>
              </a:rPr>
              <a:t>העבודה</a:t>
            </a:r>
            <a:endParaRPr lang="en-IL" dirty="0"/>
          </a:p>
        </p:txBody>
      </p:sp>
      <p:sp>
        <p:nvSpPr>
          <p:cNvPr id="8" name="תיבת טקסט 7">
            <a:extLst>
              <a:ext uri="{FF2B5EF4-FFF2-40B4-BE49-F238E27FC236}">
                <a16:creationId xmlns:a16="http://schemas.microsoft.com/office/drawing/2014/main" id="{E64B4B8E-9381-30C3-77AB-114314D8CFCE}"/>
              </a:ext>
            </a:extLst>
          </p:cNvPr>
          <p:cNvSpPr txBox="1"/>
          <p:nvPr/>
        </p:nvSpPr>
        <p:spPr>
          <a:xfrm>
            <a:off x="578733" y="1848677"/>
            <a:ext cx="4349335" cy="923330"/>
          </a:xfrm>
          <a:prstGeom prst="rect">
            <a:avLst/>
          </a:prstGeom>
          <a:noFill/>
        </p:spPr>
        <p:txBody>
          <a:bodyPr wrap="square">
            <a:spAutoFit/>
          </a:bodyPr>
          <a:lstStyle/>
          <a:p>
            <a:r>
              <a:rPr lang="he-IL" dirty="0">
                <a:latin typeface="Rubik" pitchFamily="2" charset="-79"/>
                <a:cs typeface="Rubik" pitchFamily="2" charset="-79"/>
              </a:rPr>
              <a:t>חשוב להתעדכן </a:t>
            </a:r>
            <a:r>
              <a:rPr lang="he-IL" dirty="0" err="1">
                <a:latin typeface="Rubik" pitchFamily="2" charset="-79"/>
                <a:cs typeface="Rubik" pitchFamily="2" charset="-79"/>
              </a:rPr>
              <a:t>בתכניות</a:t>
            </a:r>
            <a:r>
              <a:rPr lang="he-IL" dirty="0">
                <a:latin typeface="Rubik" pitchFamily="2" charset="-79"/>
                <a:cs typeface="Rubik" pitchFamily="2" charset="-79"/>
              </a:rPr>
              <a:t> היחידתיות, המחוזיות והחטיבתיות – ולהבין את התמונה הרחבה שבתוכה אתם פועלים.</a:t>
            </a:r>
          </a:p>
        </p:txBody>
      </p:sp>
    </p:spTree>
    <p:extLst>
      <p:ext uri="{BB962C8B-B14F-4D97-AF65-F5344CB8AC3E}">
        <p14:creationId xmlns:p14="http://schemas.microsoft.com/office/powerpoint/2010/main" val="1749034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56D4-3496-B70D-7956-EF7EB0E30A0F}"/>
            </a:ext>
          </a:extLst>
        </p:cNvPr>
        <p:cNvGrpSpPr/>
        <p:nvPr/>
      </p:nvGrpSpPr>
      <p:grpSpPr>
        <a:xfrm>
          <a:off x="0" y="0"/>
          <a:ext cx="0" cy="0"/>
          <a:chOff x="0" y="0"/>
          <a:chExt cx="0" cy="0"/>
        </a:xfrm>
      </p:grpSpPr>
      <p:grpSp>
        <p:nvGrpSpPr>
          <p:cNvPr id="20" name="קבוצה 19">
            <a:extLst>
              <a:ext uri="{FF2B5EF4-FFF2-40B4-BE49-F238E27FC236}">
                <a16:creationId xmlns:a16="http://schemas.microsoft.com/office/drawing/2014/main" id="{89FE23F2-A092-84E1-3697-810FDDFCEF76}"/>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48E31169-512D-357D-6531-FBC74ED884DE}"/>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העבודה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32791490-0EBD-5DDF-25E9-72547B67B696}"/>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6E518DF5-13E6-0E6B-F991-A89C44B45B5B}"/>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417EAAB2-EAFC-3C53-DAE6-D5E981B43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A9B60EF8-9DA8-4018-B249-6E533530A5C9}"/>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839C8D94-CB94-EE7F-70DB-96144093BA88}"/>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539FA7DA-509D-AD5E-F3BE-32F3AA3CDC3F}"/>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Black" pitchFamily="2" charset="-79"/>
                  <a:cs typeface="Rubik Black" pitchFamily="2" charset="-79"/>
                </a:rPr>
                <a:t>עקרונות חשובים למנהלים חדשים	</a:t>
              </a:r>
              <a:endParaRPr lang="he-IL" sz="2400" i="0" dirty="0">
                <a:solidFill>
                  <a:srgbClr val="009CE1"/>
                </a:solidFill>
                <a:effectLst/>
                <a:latin typeface="Rubik Black" pitchFamily="2" charset="-79"/>
                <a:cs typeface="Rubik Black" pitchFamily="2" charset="-79"/>
              </a:endParaRPr>
            </a:p>
          </p:txBody>
        </p:sp>
        <p:grpSp>
          <p:nvGrpSpPr>
            <p:cNvPr id="23" name="קבוצה 22">
              <a:extLst>
                <a:ext uri="{FF2B5EF4-FFF2-40B4-BE49-F238E27FC236}">
                  <a16:creationId xmlns:a16="http://schemas.microsoft.com/office/drawing/2014/main" id="{04E13729-08B9-516B-8E36-EF023864F715}"/>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6517FD6B-8B7B-4562-24FC-229B5D391457}"/>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6AD56998-2205-1FD5-3D37-E96B2D0A2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70E326E8-571B-E737-1808-58D421B87CCD}"/>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9AC0ABA3-0F59-411A-2107-331714E4B45B}"/>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כלים שיעזרו לכם</a:t>
              </a:r>
              <a:endParaRPr lang="he-IL" sz="2400" i="0" dirty="0">
                <a:solidFill>
                  <a:srgbClr val="009CE1"/>
                </a:solidFill>
                <a:effectLst/>
                <a:latin typeface="Rubik" pitchFamily="2" charset="-79"/>
                <a:cs typeface="Rubik" pitchFamily="2" charset="-79"/>
              </a:endParaRPr>
            </a:p>
          </p:txBody>
        </p:sp>
        <p:grpSp>
          <p:nvGrpSpPr>
            <p:cNvPr id="30" name="קבוצה 29">
              <a:extLst>
                <a:ext uri="{FF2B5EF4-FFF2-40B4-BE49-F238E27FC236}">
                  <a16:creationId xmlns:a16="http://schemas.microsoft.com/office/drawing/2014/main" id="{9977931B-909F-0FAB-4A5F-0BF2E31FC312}"/>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6084055B-C73D-EFB8-CEDE-CA35394E7283}"/>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35E75AEC-7193-9619-10EA-9BB5D948D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27BFCCC8-9284-510F-7512-1289350961B8}"/>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20CDDEE7-14E5-34D5-2212-12630270E727}"/>
              </a:ext>
            </a:extLst>
          </p:cNvPr>
          <p:cNvSpPr txBox="1"/>
          <p:nvPr/>
        </p:nvSpPr>
        <p:spPr>
          <a:xfrm>
            <a:off x="312517" y="4064195"/>
            <a:ext cx="7191122" cy="2554545"/>
          </a:xfrm>
          <a:prstGeom prst="rect">
            <a:avLst/>
          </a:prstGeom>
          <a:noFill/>
        </p:spPr>
        <p:txBody>
          <a:bodyPr wrap="square">
            <a:spAutoFit/>
          </a:bodyPr>
          <a:lstStyle/>
          <a:p>
            <a:pPr>
              <a:buNone/>
            </a:pPr>
            <a:r>
              <a:rPr lang="he-IL" sz="1600" b="1" dirty="0">
                <a:latin typeface="Rubik" pitchFamily="2" charset="-79"/>
                <a:cs typeface="Rubik" pitchFamily="2" charset="-79"/>
              </a:rPr>
              <a:t>חברו את תכנית העבודה לאסטרטגיה - </a:t>
            </a:r>
            <a:r>
              <a:rPr lang="he-IL" sz="1600" dirty="0">
                <a:latin typeface="Rubik" pitchFamily="2" charset="-79"/>
                <a:cs typeface="Rubik" pitchFamily="2" charset="-79"/>
              </a:rPr>
              <a:t>ודאו שכל יעד או מהלך שאתם מקדמים נגזר מכיוון אסטרטגי ברור.</a:t>
            </a:r>
          </a:p>
          <a:p>
            <a:pPr>
              <a:buNone/>
            </a:pPr>
            <a:endParaRPr lang="he-IL" sz="1600" dirty="0">
              <a:latin typeface="Rubik" pitchFamily="2" charset="-79"/>
              <a:cs typeface="Rubik" pitchFamily="2" charset="-79"/>
            </a:endParaRPr>
          </a:p>
          <a:p>
            <a:pPr>
              <a:buNone/>
            </a:pPr>
            <a:r>
              <a:rPr lang="he-IL" sz="1600" b="1" dirty="0">
                <a:latin typeface="Rubik" pitchFamily="2" charset="-79"/>
                <a:cs typeface="Rubik" pitchFamily="2" charset="-79"/>
              </a:rPr>
              <a:t>הגדירו יעדים מדידים - </a:t>
            </a:r>
            <a:r>
              <a:rPr lang="he-IL" sz="1600" dirty="0">
                <a:latin typeface="Rubik" pitchFamily="2" charset="-79"/>
                <a:cs typeface="Rubik" pitchFamily="2" charset="-79"/>
              </a:rPr>
              <a:t>נסחו יעדים עם מדד, מספר וטווח זמן – לא רק כוונה כללית.</a:t>
            </a:r>
          </a:p>
          <a:p>
            <a:pPr>
              <a:buNone/>
            </a:pPr>
            <a:endParaRPr lang="he-IL" sz="1600" dirty="0">
              <a:latin typeface="Rubik" pitchFamily="2" charset="-79"/>
              <a:cs typeface="Rubik" pitchFamily="2" charset="-79"/>
            </a:endParaRPr>
          </a:p>
          <a:p>
            <a:pPr>
              <a:buNone/>
            </a:pPr>
            <a:r>
              <a:rPr lang="he-IL" sz="1600" b="1" dirty="0">
                <a:latin typeface="Rubik" pitchFamily="2" charset="-79"/>
                <a:cs typeface="Rubik" pitchFamily="2" charset="-79"/>
              </a:rPr>
              <a:t>פרקו יעדים למהלכים ואבני דרך - </a:t>
            </a:r>
            <a:r>
              <a:rPr lang="he-IL" sz="1600" dirty="0">
                <a:latin typeface="Rubik" pitchFamily="2" charset="-79"/>
                <a:cs typeface="Rubik" pitchFamily="2" charset="-79"/>
              </a:rPr>
              <a:t>תרגמו כל יעד לפעולות אופרטיביות שניתן לעקוב אחריהן.</a:t>
            </a:r>
          </a:p>
          <a:p>
            <a:pPr>
              <a:buNone/>
            </a:pPr>
            <a:endParaRPr lang="he-IL" sz="1600" dirty="0">
              <a:latin typeface="Rubik" pitchFamily="2" charset="-79"/>
              <a:cs typeface="Rubik" pitchFamily="2" charset="-79"/>
            </a:endParaRPr>
          </a:p>
          <a:p>
            <a:pPr>
              <a:buNone/>
            </a:pPr>
            <a:r>
              <a:rPr lang="he-IL" sz="1600" b="1" dirty="0">
                <a:latin typeface="Rubik" pitchFamily="2" charset="-79"/>
                <a:cs typeface="Rubik" pitchFamily="2" charset="-79"/>
              </a:rPr>
              <a:t>נהלו בקרה שוטפת לאורך השנה - </a:t>
            </a:r>
            <a:r>
              <a:rPr lang="he-IL" sz="1600" dirty="0">
                <a:latin typeface="Rubik" pitchFamily="2" charset="-79"/>
                <a:cs typeface="Rubik" pitchFamily="2" charset="-79"/>
              </a:rPr>
              <a:t>בחנו התקדמות בחציון ובסוף שנה והתאימו את </a:t>
            </a:r>
            <a:r>
              <a:rPr lang="he-IL" sz="1600" dirty="0" err="1">
                <a:latin typeface="Rubik" pitchFamily="2" charset="-79"/>
                <a:cs typeface="Rubik" pitchFamily="2" charset="-79"/>
              </a:rPr>
              <a:t>התכנית</a:t>
            </a:r>
            <a:r>
              <a:rPr lang="he-IL" sz="1600" dirty="0">
                <a:latin typeface="Rubik" pitchFamily="2" charset="-79"/>
                <a:cs typeface="Rubik" pitchFamily="2" charset="-79"/>
              </a:rPr>
              <a:t> במידת הצורך.</a:t>
            </a:r>
          </a:p>
        </p:txBody>
      </p:sp>
      <p:sp>
        <p:nvSpPr>
          <p:cNvPr id="3" name="Oval 27">
            <a:extLst>
              <a:ext uri="{FF2B5EF4-FFF2-40B4-BE49-F238E27FC236}">
                <a16:creationId xmlns:a16="http://schemas.microsoft.com/office/drawing/2014/main" id="{3DDFC29D-DA38-DC7F-D85F-4F14237655E1}"/>
              </a:ext>
            </a:extLst>
          </p:cNvPr>
          <p:cNvSpPr/>
          <p:nvPr/>
        </p:nvSpPr>
        <p:spPr>
          <a:xfrm>
            <a:off x="5129144" y="1716016"/>
            <a:ext cx="1933712" cy="1559031"/>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b="1" dirty="0">
                <a:solidFill>
                  <a:schemeClr val="bg1"/>
                </a:solidFill>
                <a:latin typeface="Rubik" pitchFamily="2" charset="-79"/>
                <a:cs typeface="Rubik" pitchFamily="2" charset="-79"/>
              </a:rPr>
              <a:t>טיפ!</a:t>
            </a:r>
          </a:p>
          <a:p>
            <a:pPr algn="ctr"/>
            <a:r>
              <a:rPr lang="he-IL" b="1" dirty="0">
                <a:latin typeface="Rubik" pitchFamily="2" charset="-79"/>
                <a:cs typeface="Rubik" pitchFamily="2" charset="-79"/>
              </a:rPr>
              <a:t>לפני בניית </a:t>
            </a:r>
          </a:p>
          <a:p>
            <a:pPr algn="ctr"/>
            <a:r>
              <a:rPr lang="he-IL" b="1" dirty="0">
                <a:latin typeface="Rubik" pitchFamily="2" charset="-79"/>
                <a:cs typeface="Rubik" pitchFamily="2" charset="-79"/>
              </a:rPr>
              <a:t>תכנית </a:t>
            </a:r>
          </a:p>
          <a:p>
            <a:pPr algn="ctr"/>
            <a:r>
              <a:rPr lang="he-IL" b="1" dirty="0">
                <a:latin typeface="Rubik" pitchFamily="2" charset="-79"/>
                <a:cs typeface="Rubik" pitchFamily="2" charset="-79"/>
              </a:rPr>
              <a:t>העבודה</a:t>
            </a:r>
            <a:endParaRPr lang="en-IL" dirty="0"/>
          </a:p>
        </p:txBody>
      </p:sp>
      <p:sp>
        <p:nvSpPr>
          <p:cNvPr id="4" name="תיבת טקסט 3">
            <a:extLst>
              <a:ext uri="{FF2B5EF4-FFF2-40B4-BE49-F238E27FC236}">
                <a16:creationId xmlns:a16="http://schemas.microsoft.com/office/drawing/2014/main" id="{1A9BFF5C-902D-0397-9DD9-57A9E1E500E5}"/>
              </a:ext>
            </a:extLst>
          </p:cNvPr>
          <p:cNvSpPr txBox="1"/>
          <p:nvPr/>
        </p:nvSpPr>
        <p:spPr>
          <a:xfrm>
            <a:off x="578733" y="1848677"/>
            <a:ext cx="4349335" cy="923330"/>
          </a:xfrm>
          <a:prstGeom prst="rect">
            <a:avLst/>
          </a:prstGeom>
          <a:noFill/>
        </p:spPr>
        <p:txBody>
          <a:bodyPr wrap="square">
            <a:spAutoFit/>
          </a:bodyPr>
          <a:lstStyle/>
          <a:p>
            <a:r>
              <a:rPr lang="he-IL" dirty="0">
                <a:latin typeface="Rubik" pitchFamily="2" charset="-79"/>
                <a:cs typeface="Rubik" pitchFamily="2" charset="-79"/>
              </a:rPr>
              <a:t>חשוב להתעדכן </a:t>
            </a:r>
            <a:r>
              <a:rPr lang="he-IL" dirty="0" err="1">
                <a:latin typeface="Rubik" pitchFamily="2" charset="-79"/>
                <a:cs typeface="Rubik" pitchFamily="2" charset="-79"/>
              </a:rPr>
              <a:t>בתכניות</a:t>
            </a:r>
            <a:r>
              <a:rPr lang="he-IL" dirty="0">
                <a:latin typeface="Rubik" pitchFamily="2" charset="-79"/>
                <a:cs typeface="Rubik" pitchFamily="2" charset="-79"/>
              </a:rPr>
              <a:t> היחידתיות, המחוזיות והחטיבתיות – ולהבין את התמונה הרחבה שבתוכה אתם פועלים.</a:t>
            </a:r>
          </a:p>
        </p:txBody>
      </p:sp>
      <p:sp>
        <p:nvSpPr>
          <p:cNvPr id="6" name="תיבת טקסט 5">
            <a:extLst>
              <a:ext uri="{FF2B5EF4-FFF2-40B4-BE49-F238E27FC236}">
                <a16:creationId xmlns:a16="http://schemas.microsoft.com/office/drawing/2014/main" id="{927674CC-D362-5E01-794F-515C0EB7AFD5}"/>
              </a:ext>
            </a:extLst>
          </p:cNvPr>
          <p:cNvSpPr txBox="1"/>
          <p:nvPr/>
        </p:nvSpPr>
        <p:spPr>
          <a:xfrm>
            <a:off x="7062856" y="1899758"/>
            <a:ext cx="4693596" cy="1708866"/>
          </a:xfrm>
          <a:prstGeom prst="rect">
            <a:avLst/>
          </a:prstGeom>
          <a:noFill/>
        </p:spPr>
        <p:txBody>
          <a:bodyPr wrap="square" rtlCol="0">
            <a:spAutoFit/>
          </a:bodyPr>
          <a:lstStyle/>
          <a:p>
            <a:pPr>
              <a:lnSpc>
                <a:spcPct val="150000"/>
              </a:lnSpc>
            </a:pPr>
            <a:r>
              <a:rPr lang="he-IL" b="0" i="0" dirty="0" err="1">
                <a:solidFill>
                  <a:srgbClr val="000000"/>
                </a:solidFill>
                <a:effectLst/>
                <a:latin typeface="Rubik" pitchFamily="2" charset="-79"/>
                <a:cs typeface="Rubik" pitchFamily="2" charset="-79"/>
              </a:rPr>
              <a:t>תכניות</a:t>
            </a:r>
            <a:r>
              <a:rPr lang="he-IL" b="0" i="0" dirty="0">
                <a:solidFill>
                  <a:srgbClr val="000000"/>
                </a:solidFill>
                <a:effectLst/>
                <a:latin typeface="Rubik" pitchFamily="2" charset="-79"/>
                <a:cs typeface="Rubik" pitchFamily="2" charset="-79"/>
              </a:rPr>
              <a:t> העבודה במאוחדת נגזרות מתוך האסטרטגיה הארגונית והן כוללות יעדים מדידים ואיכותיים. לכל מנהל עבודה שנתית, אשר מלווה בבקרה ונבחנת פעמיים בשנה</a:t>
            </a:r>
          </a:p>
        </p:txBody>
      </p:sp>
      <p:sp>
        <p:nvSpPr>
          <p:cNvPr id="9" name="תיבת טקסט 8">
            <a:extLst>
              <a:ext uri="{FF2B5EF4-FFF2-40B4-BE49-F238E27FC236}">
                <a16:creationId xmlns:a16="http://schemas.microsoft.com/office/drawing/2014/main" id="{E1F68161-508E-FD68-7911-89578CA2E1E1}"/>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במאוחדת</a:t>
            </a:r>
          </a:p>
        </p:txBody>
      </p:sp>
    </p:spTree>
    <p:extLst>
      <p:ext uri="{BB962C8B-B14F-4D97-AF65-F5344CB8AC3E}">
        <p14:creationId xmlns:p14="http://schemas.microsoft.com/office/powerpoint/2010/main" val="2476156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6FB8-61AC-69D8-091C-20D27CFD3D8B}"/>
            </a:ext>
          </a:extLst>
        </p:cNvPr>
        <p:cNvGrpSpPr/>
        <p:nvPr/>
      </p:nvGrpSpPr>
      <p:grpSpPr>
        <a:xfrm>
          <a:off x="0" y="0"/>
          <a:ext cx="0" cy="0"/>
          <a:chOff x="0" y="0"/>
          <a:chExt cx="0" cy="0"/>
        </a:xfrm>
      </p:grpSpPr>
      <p:sp>
        <p:nvSpPr>
          <p:cNvPr id="9" name="Oval 27">
            <a:extLst>
              <a:ext uri="{FF2B5EF4-FFF2-40B4-BE49-F238E27FC236}">
                <a16:creationId xmlns:a16="http://schemas.microsoft.com/office/drawing/2014/main" id="{D2A8EF00-065D-DB7C-00E7-9893A267AE07}"/>
              </a:ext>
            </a:extLst>
          </p:cNvPr>
          <p:cNvSpPr/>
          <p:nvPr/>
        </p:nvSpPr>
        <p:spPr>
          <a:xfrm>
            <a:off x="3339394" y="5880429"/>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מלבן: פינות מעוגלות 9">
            <a:extLst>
              <a:ext uri="{FF2B5EF4-FFF2-40B4-BE49-F238E27FC236}">
                <a16:creationId xmlns:a16="http://schemas.microsoft.com/office/drawing/2014/main" id="{265F8E5B-AC5E-6481-7CD1-9AB95B2B85D3}"/>
              </a:ext>
            </a:extLst>
          </p:cNvPr>
          <p:cNvSpPr/>
          <p:nvPr/>
        </p:nvSpPr>
        <p:spPr>
          <a:xfrm>
            <a:off x="430844" y="6095420"/>
            <a:ext cx="3553428"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להורדת קובץ עזר לבניית </a:t>
            </a:r>
            <a:r>
              <a:rPr lang="he-IL" sz="1400" dirty="0" err="1">
                <a:solidFill>
                  <a:schemeClr val="bg1"/>
                </a:solidFill>
                <a:latin typeface="Rubik" pitchFamily="2" charset="-79"/>
                <a:cs typeface="Rubik" pitchFamily="2" charset="-79"/>
              </a:rPr>
              <a:t>תכניות</a:t>
            </a:r>
            <a:r>
              <a:rPr lang="he-IL" sz="1400" dirty="0">
                <a:solidFill>
                  <a:schemeClr val="bg1"/>
                </a:solidFill>
                <a:latin typeface="Rubik" pitchFamily="2" charset="-79"/>
                <a:cs typeface="Rubik" pitchFamily="2" charset="-79"/>
              </a:rPr>
              <a:t> עבודה</a:t>
            </a:r>
          </a:p>
        </p:txBody>
      </p:sp>
      <p:grpSp>
        <p:nvGrpSpPr>
          <p:cNvPr id="20" name="קבוצה 19">
            <a:extLst>
              <a:ext uri="{FF2B5EF4-FFF2-40B4-BE49-F238E27FC236}">
                <a16:creationId xmlns:a16="http://schemas.microsoft.com/office/drawing/2014/main" id="{F4B831E1-7F50-7B27-0B97-7C2C71DFC842}"/>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C196755D-1807-47B2-83B1-2BD177F2DBD8}"/>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העבודה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4166DD87-661B-E081-B682-4DFC4DCDCC19}"/>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2A17ACE8-5DAE-700E-716E-620E94FA17A0}"/>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129CBBF6-579B-CD9F-B0F4-11BAC99F0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94DA9566-64D5-6C27-2117-7023AB7D8896}"/>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93A145C1-85A3-5B84-942A-27D513CE6D83}"/>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78BAD85C-4091-DB02-742C-8ABFE5631A89}"/>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8A40AC27-DA7D-BB40-849A-B9B3D83DE293}"/>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EE5AAADD-6790-0251-B1CD-0AD1E5143527}"/>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3701DC29-F260-4B1B-F4E9-6984BBE52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E9969440-A671-8260-39ED-2B5AC02305ED}"/>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717248A8-8F33-31F5-26A9-039FDD0D3586}"/>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Black" pitchFamily="2" charset="-79"/>
                  <a:cs typeface="Rubik Black" pitchFamily="2" charset="-79"/>
                </a:rPr>
                <a:t>כלי עזר ליישום</a:t>
              </a:r>
              <a:endParaRPr lang="he-IL" sz="2400" i="0" dirty="0">
                <a:solidFill>
                  <a:srgbClr val="009CE1"/>
                </a:solidFill>
                <a:effectLst/>
                <a:latin typeface="Rubik Black" pitchFamily="2" charset="-79"/>
                <a:cs typeface="Rubik Black" pitchFamily="2" charset="-79"/>
              </a:endParaRPr>
            </a:p>
          </p:txBody>
        </p:sp>
        <p:grpSp>
          <p:nvGrpSpPr>
            <p:cNvPr id="30" name="קבוצה 29">
              <a:extLst>
                <a:ext uri="{FF2B5EF4-FFF2-40B4-BE49-F238E27FC236}">
                  <a16:creationId xmlns:a16="http://schemas.microsoft.com/office/drawing/2014/main" id="{70709559-BBD7-6104-1C97-28F410AB4AF3}"/>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38781C54-5F33-4105-CD9C-3FD6C981101D}"/>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5EE8E9E3-5938-21FA-5453-4841660C7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2466EE71-45DB-6C86-AD64-721D901EF0DF}"/>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4EF717D8-20BB-B028-94A3-253DCA541698}"/>
              </a:ext>
            </a:extLst>
          </p:cNvPr>
          <p:cNvSpPr txBox="1"/>
          <p:nvPr/>
        </p:nvSpPr>
        <p:spPr>
          <a:xfrm>
            <a:off x="3295114" y="450342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ניתוח </a:t>
            </a:r>
            <a:r>
              <a:rPr lang="en-US" b="0" i="0" dirty="0">
                <a:solidFill>
                  <a:srgbClr val="009CE1"/>
                </a:solidFill>
                <a:effectLst/>
                <a:latin typeface="Rubik" pitchFamily="2" charset="-79"/>
                <a:cs typeface="Rubik" pitchFamily="2" charset="-79"/>
              </a:rPr>
              <a:t>SWOT</a:t>
            </a:r>
            <a:endParaRPr lang="he-IL" sz="2400" i="0" dirty="0">
              <a:solidFill>
                <a:srgbClr val="009CE1"/>
              </a:solidFill>
              <a:effectLst/>
              <a:latin typeface="Rubik" pitchFamily="2" charset="-79"/>
              <a:cs typeface="Rubik" pitchFamily="2" charset="-79"/>
            </a:endParaRPr>
          </a:p>
        </p:txBody>
      </p:sp>
      <p:sp>
        <p:nvSpPr>
          <p:cNvPr id="3" name="תיבת טקסט 2">
            <a:extLst>
              <a:ext uri="{FF2B5EF4-FFF2-40B4-BE49-F238E27FC236}">
                <a16:creationId xmlns:a16="http://schemas.microsoft.com/office/drawing/2014/main" id="{A18EB5C1-6E7F-1409-148F-3ED51CAA08C5}"/>
              </a:ext>
            </a:extLst>
          </p:cNvPr>
          <p:cNvSpPr txBox="1"/>
          <p:nvPr/>
        </p:nvSpPr>
        <p:spPr>
          <a:xfrm>
            <a:off x="3295114" y="4958745"/>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SMART</a:t>
            </a:r>
            <a:endParaRPr lang="he-IL" sz="2400" i="0" dirty="0">
              <a:solidFill>
                <a:srgbClr val="009CE1"/>
              </a:solidFill>
              <a:effectLst/>
              <a:latin typeface="Rubik" pitchFamily="2" charset="-79"/>
              <a:cs typeface="Rubik" pitchFamily="2" charset="-79"/>
            </a:endParaRPr>
          </a:p>
        </p:txBody>
      </p:sp>
      <p:sp>
        <p:nvSpPr>
          <p:cNvPr id="4" name="תיבת טקסט 3">
            <a:extLst>
              <a:ext uri="{FF2B5EF4-FFF2-40B4-BE49-F238E27FC236}">
                <a16:creationId xmlns:a16="http://schemas.microsoft.com/office/drawing/2014/main" id="{60303ADC-3EB3-1628-51B6-AA9F4E643A1F}"/>
              </a:ext>
            </a:extLst>
          </p:cNvPr>
          <p:cNvSpPr txBox="1"/>
          <p:nvPr/>
        </p:nvSpPr>
        <p:spPr>
          <a:xfrm>
            <a:off x="3295114" y="5414068"/>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תיעדוף מהלכים </a:t>
            </a:r>
            <a:r>
              <a:rPr lang="en-US" b="0" i="0" dirty="0">
                <a:solidFill>
                  <a:srgbClr val="009CE1"/>
                </a:solidFill>
                <a:effectLst/>
                <a:latin typeface="Rubik" pitchFamily="2" charset="-79"/>
                <a:cs typeface="Rubik" pitchFamily="2" charset="-79"/>
              </a:rPr>
              <a:t>(Impact × Effort)</a:t>
            </a:r>
            <a:endParaRPr lang="he-IL" sz="2400" i="0" dirty="0">
              <a:solidFill>
                <a:srgbClr val="009CE1"/>
              </a:solidFill>
              <a:effectLst/>
              <a:latin typeface="Rubik" pitchFamily="2" charset="-79"/>
              <a:cs typeface="Rubik" pitchFamily="2" charset="-79"/>
            </a:endParaRPr>
          </a:p>
        </p:txBody>
      </p:sp>
      <p:sp>
        <p:nvSpPr>
          <p:cNvPr id="5" name="תיבת טקסט 4">
            <a:extLst>
              <a:ext uri="{FF2B5EF4-FFF2-40B4-BE49-F238E27FC236}">
                <a16:creationId xmlns:a16="http://schemas.microsoft.com/office/drawing/2014/main" id="{C83C95FE-2685-5415-A58A-4B0EA477D990}"/>
              </a:ext>
            </a:extLst>
          </p:cNvPr>
          <p:cNvSpPr txBox="1"/>
          <p:nvPr/>
        </p:nvSpPr>
        <p:spPr>
          <a:xfrm>
            <a:off x="517314" y="3917205"/>
            <a:ext cx="7057663" cy="584775"/>
          </a:xfrm>
          <a:prstGeom prst="rect">
            <a:avLst/>
          </a:prstGeom>
          <a:noFill/>
        </p:spPr>
        <p:txBody>
          <a:bodyPr wrap="square">
            <a:spAutoFit/>
          </a:bodyPr>
          <a:lstStyle/>
          <a:p>
            <a:pPr>
              <a:buNone/>
            </a:pPr>
            <a:r>
              <a:rPr lang="he-IL" sz="1600" dirty="0">
                <a:latin typeface="Rubik" pitchFamily="2" charset="-79"/>
                <a:cs typeface="Rubik" pitchFamily="2" charset="-79"/>
              </a:rPr>
              <a:t>לעזרתכם, מספר כלים ומודלים שיסייעו לכם ב'בניית' תכנית העבודה:</a:t>
            </a:r>
          </a:p>
          <a:p>
            <a:pPr>
              <a:buNone/>
            </a:pPr>
            <a:r>
              <a:rPr lang="he-IL" sz="1600" dirty="0">
                <a:latin typeface="Rubik" pitchFamily="2" charset="-79"/>
                <a:cs typeface="Rubik" pitchFamily="2" charset="-79"/>
              </a:rPr>
              <a:t>לחצו להרחבה.</a:t>
            </a:r>
          </a:p>
        </p:txBody>
      </p:sp>
      <p:sp>
        <p:nvSpPr>
          <p:cNvPr id="6" name="Oval 27">
            <a:extLst>
              <a:ext uri="{FF2B5EF4-FFF2-40B4-BE49-F238E27FC236}">
                <a16:creationId xmlns:a16="http://schemas.microsoft.com/office/drawing/2014/main" id="{C8BA3C99-ECCA-99AF-8C1B-FA3CE5E5906A}"/>
              </a:ext>
            </a:extLst>
          </p:cNvPr>
          <p:cNvSpPr/>
          <p:nvPr/>
        </p:nvSpPr>
        <p:spPr>
          <a:xfrm>
            <a:off x="5129144" y="1716016"/>
            <a:ext cx="1933712" cy="1559031"/>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b="1" dirty="0">
                <a:solidFill>
                  <a:schemeClr val="bg1"/>
                </a:solidFill>
                <a:latin typeface="Rubik" pitchFamily="2" charset="-79"/>
                <a:cs typeface="Rubik" pitchFamily="2" charset="-79"/>
              </a:rPr>
              <a:t>טיפ!</a:t>
            </a:r>
          </a:p>
          <a:p>
            <a:pPr algn="ctr"/>
            <a:r>
              <a:rPr lang="he-IL" b="1" dirty="0">
                <a:latin typeface="Rubik" pitchFamily="2" charset="-79"/>
                <a:cs typeface="Rubik" pitchFamily="2" charset="-79"/>
              </a:rPr>
              <a:t>לפני בניית </a:t>
            </a:r>
          </a:p>
          <a:p>
            <a:pPr algn="ctr"/>
            <a:r>
              <a:rPr lang="he-IL" b="1" dirty="0">
                <a:latin typeface="Rubik" pitchFamily="2" charset="-79"/>
                <a:cs typeface="Rubik" pitchFamily="2" charset="-79"/>
              </a:rPr>
              <a:t>תכנית </a:t>
            </a:r>
          </a:p>
          <a:p>
            <a:pPr algn="ctr"/>
            <a:r>
              <a:rPr lang="he-IL" b="1" dirty="0">
                <a:latin typeface="Rubik" pitchFamily="2" charset="-79"/>
                <a:cs typeface="Rubik" pitchFamily="2" charset="-79"/>
              </a:rPr>
              <a:t>העבודה</a:t>
            </a:r>
            <a:endParaRPr lang="en-IL" dirty="0"/>
          </a:p>
        </p:txBody>
      </p:sp>
      <p:sp>
        <p:nvSpPr>
          <p:cNvPr id="8" name="תיבת טקסט 7">
            <a:extLst>
              <a:ext uri="{FF2B5EF4-FFF2-40B4-BE49-F238E27FC236}">
                <a16:creationId xmlns:a16="http://schemas.microsoft.com/office/drawing/2014/main" id="{81C5C86A-A62F-DC69-0B34-227411F79E72}"/>
              </a:ext>
            </a:extLst>
          </p:cNvPr>
          <p:cNvSpPr txBox="1"/>
          <p:nvPr/>
        </p:nvSpPr>
        <p:spPr>
          <a:xfrm>
            <a:off x="578733" y="1848677"/>
            <a:ext cx="4349335" cy="923330"/>
          </a:xfrm>
          <a:prstGeom prst="rect">
            <a:avLst/>
          </a:prstGeom>
          <a:noFill/>
        </p:spPr>
        <p:txBody>
          <a:bodyPr wrap="square">
            <a:spAutoFit/>
          </a:bodyPr>
          <a:lstStyle/>
          <a:p>
            <a:r>
              <a:rPr lang="he-IL" dirty="0">
                <a:latin typeface="Rubik" pitchFamily="2" charset="-79"/>
                <a:cs typeface="Rubik" pitchFamily="2" charset="-79"/>
              </a:rPr>
              <a:t>חשוב להתעדכן </a:t>
            </a:r>
            <a:r>
              <a:rPr lang="he-IL" dirty="0" err="1">
                <a:latin typeface="Rubik" pitchFamily="2" charset="-79"/>
                <a:cs typeface="Rubik" pitchFamily="2" charset="-79"/>
              </a:rPr>
              <a:t>בתכניות</a:t>
            </a:r>
            <a:r>
              <a:rPr lang="he-IL" dirty="0">
                <a:latin typeface="Rubik" pitchFamily="2" charset="-79"/>
                <a:cs typeface="Rubik" pitchFamily="2" charset="-79"/>
              </a:rPr>
              <a:t> היחידתיות, המחוזיות והחטיבתיות – ולהבין את התמונה הרחבה שבתוכה אתם פועלים.</a:t>
            </a:r>
          </a:p>
        </p:txBody>
      </p:sp>
      <p:sp>
        <p:nvSpPr>
          <p:cNvPr id="17" name="תיבת טקסט 16">
            <a:extLst>
              <a:ext uri="{FF2B5EF4-FFF2-40B4-BE49-F238E27FC236}">
                <a16:creationId xmlns:a16="http://schemas.microsoft.com/office/drawing/2014/main" id="{4C50EA3E-3B58-FB2E-00CE-118B9CBA7EBB}"/>
              </a:ext>
            </a:extLst>
          </p:cNvPr>
          <p:cNvSpPr txBox="1"/>
          <p:nvPr/>
        </p:nvSpPr>
        <p:spPr>
          <a:xfrm>
            <a:off x="7062856" y="1899758"/>
            <a:ext cx="4693596" cy="1708866"/>
          </a:xfrm>
          <a:prstGeom prst="rect">
            <a:avLst/>
          </a:prstGeom>
          <a:noFill/>
        </p:spPr>
        <p:txBody>
          <a:bodyPr wrap="square" rtlCol="0">
            <a:spAutoFit/>
          </a:bodyPr>
          <a:lstStyle/>
          <a:p>
            <a:pPr>
              <a:lnSpc>
                <a:spcPct val="150000"/>
              </a:lnSpc>
            </a:pPr>
            <a:r>
              <a:rPr lang="he-IL" b="0" i="0" dirty="0" err="1">
                <a:solidFill>
                  <a:srgbClr val="000000"/>
                </a:solidFill>
                <a:effectLst/>
                <a:latin typeface="Rubik" pitchFamily="2" charset="-79"/>
                <a:cs typeface="Rubik" pitchFamily="2" charset="-79"/>
              </a:rPr>
              <a:t>תכניות</a:t>
            </a:r>
            <a:r>
              <a:rPr lang="he-IL" b="0" i="0" dirty="0">
                <a:solidFill>
                  <a:srgbClr val="000000"/>
                </a:solidFill>
                <a:effectLst/>
                <a:latin typeface="Rubik" pitchFamily="2" charset="-79"/>
                <a:cs typeface="Rubik" pitchFamily="2" charset="-79"/>
              </a:rPr>
              <a:t> העבודה במאוחדת נגזרות מתוך האסטרטגיה הארגונית והן כוללות יעדים מדידים ואיכותיים. לכל מנהל עבודה שנתית, אשר מלווה בבקרה ונבחנת פעמיים בשנה</a:t>
            </a:r>
          </a:p>
        </p:txBody>
      </p:sp>
      <p:sp>
        <p:nvSpPr>
          <p:cNvPr id="19" name="תיבת טקסט 18">
            <a:extLst>
              <a:ext uri="{FF2B5EF4-FFF2-40B4-BE49-F238E27FC236}">
                <a16:creationId xmlns:a16="http://schemas.microsoft.com/office/drawing/2014/main" id="{04D39814-1D64-CB16-22ED-C4042ACC971E}"/>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במאוחדת</a:t>
            </a:r>
          </a:p>
        </p:txBody>
      </p:sp>
    </p:spTree>
    <p:extLst>
      <p:ext uri="{BB962C8B-B14F-4D97-AF65-F5344CB8AC3E}">
        <p14:creationId xmlns:p14="http://schemas.microsoft.com/office/powerpoint/2010/main" val="4128244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7FBE-BADB-FC64-D2CE-8B6E83F8D5B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846F2678-16DC-037A-ADCE-F4E0F40EBC6C}"/>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שלי</a:t>
            </a:r>
          </a:p>
        </p:txBody>
      </p:sp>
      <p:sp>
        <p:nvSpPr>
          <p:cNvPr id="25" name="תיבת טקסט 24">
            <a:extLst>
              <a:ext uri="{FF2B5EF4-FFF2-40B4-BE49-F238E27FC236}">
                <a16:creationId xmlns:a16="http://schemas.microsoft.com/office/drawing/2014/main" id="{55550796-C928-D31C-08A7-22A7BCF2BD31}"/>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ניהול מבוסס יעדים</a:t>
            </a:r>
            <a:endParaRPr lang="he-IL" sz="2800" i="0" dirty="0">
              <a:solidFill>
                <a:srgbClr val="000000"/>
              </a:solidFill>
              <a:effectLst/>
              <a:latin typeface="Rubik" pitchFamily="2" charset="-79"/>
              <a:cs typeface="Rubik" pitchFamily="2" charset="-79"/>
            </a:endParaRPr>
          </a:p>
        </p:txBody>
      </p:sp>
      <p:sp>
        <p:nvSpPr>
          <p:cNvPr id="7" name="תיבת טקסט 6">
            <a:extLst>
              <a:ext uri="{FF2B5EF4-FFF2-40B4-BE49-F238E27FC236}">
                <a16:creationId xmlns:a16="http://schemas.microsoft.com/office/drawing/2014/main" id="{D04E09A8-433B-E864-38F5-B83085046D94}"/>
              </a:ext>
            </a:extLst>
          </p:cNvPr>
          <p:cNvSpPr txBox="1"/>
          <p:nvPr/>
        </p:nvSpPr>
        <p:spPr>
          <a:xfrm>
            <a:off x="1612899" y="1899758"/>
            <a:ext cx="10143553" cy="17088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תכנית עבודה נגזרת מהאסטרטגיה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כוללת יעדים מדידים</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נבחנת פעמיים בשנה (חציון וסוף שנה)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מלווה במדדים ובבקרה</a:t>
            </a:r>
          </a:p>
        </p:txBody>
      </p:sp>
      <p:sp>
        <p:nvSpPr>
          <p:cNvPr id="9" name="Oval 27">
            <a:extLst>
              <a:ext uri="{FF2B5EF4-FFF2-40B4-BE49-F238E27FC236}">
                <a16:creationId xmlns:a16="http://schemas.microsoft.com/office/drawing/2014/main" id="{8E8C35AA-FCAB-D924-BBE1-39401766D23F}"/>
              </a:ext>
            </a:extLst>
          </p:cNvPr>
          <p:cNvSpPr/>
          <p:nvPr/>
        </p:nvSpPr>
        <p:spPr>
          <a:xfrm>
            <a:off x="3803660" y="5519957"/>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מלבן: פינות מעוגלות 9">
            <a:extLst>
              <a:ext uri="{FF2B5EF4-FFF2-40B4-BE49-F238E27FC236}">
                <a16:creationId xmlns:a16="http://schemas.microsoft.com/office/drawing/2014/main" id="{C61F6772-3391-C574-086E-EEDE5A42B85C}"/>
              </a:ext>
            </a:extLst>
          </p:cNvPr>
          <p:cNvSpPr/>
          <p:nvPr/>
        </p:nvSpPr>
        <p:spPr>
          <a:xfrm>
            <a:off x="895110" y="5734948"/>
            <a:ext cx="3553428"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להורדת קובץ עזר לבניית </a:t>
            </a:r>
            <a:r>
              <a:rPr lang="he-IL" sz="1400" dirty="0" err="1">
                <a:solidFill>
                  <a:schemeClr val="bg1"/>
                </a:solidFill>
                <a:latin typeface="Rubik" pitchFamily="2" charset="-79"/>
                <a:cs typeface="Rubik" pitchFamily="2" charset="-79"/>
              </a:rPr>
              <a:t>תכניות</a:t>
            </a:r>
            <a:r>
              <a:rPr lang="he-IL" sz="1400" dirty="0">
                <a:solidFill>
                  <a:schemeClr val="bg1"/>
                </a:solidFill>
                <a:latin typeface="Rubik" pitchFamily="2" charset="-79"/>
                <a:cs typeface="Rubik" pitchFamily="2" charset="-79"/>
              </a:rPr>
              <a:t> עבודה</a:t>
            </a:r>
          </a:p>
        </p:txBody>
      </p:sp>
      <p:grpSp>
        <p:nvGrpSpPr>
          <p:cNvPr id="20" name="קבוצה 19">
            <a:extLst>
              <a:ext uri="{FF2B5EF4-FFF2-40B4-BE49-F238E27FC236}">
                <a16:creationId xmlns:a16="http://schemas.microsoft.com/office/drawing/2014/main" id="{BA7A5CC1-CBA6-751B-50D5-E1D3EF988A46}"/>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44EE7532-D2F9-827A-4F16-11F22DFB43D5}"/>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העבודה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F428125F-4A92-B112-75D3-647A52143320}"/>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713E06F3-4336-4E93-CF64-274E46235739}"/>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96775812-BDB5-6692-E5BD-214AA1DDC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5FF6D08B-4C81-7AB1-33E4-60D15B828B43}"/>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52BCA0E6-CBFB-8ED3-61BB-72174F457359}"/>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2574AA7C-B5B6-4216-CAB6-1CC22A530D1C}"/>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22832D1E-82A3-7BC8-EB1C-BD39698300D3}"/>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CBF05548-5470-E4D2-B0E0-0B11B1667BB6}"/>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EEBE4C3B-7EB6-9D6C-7056-D5B3119BA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9A3CA605-CB2D-95F1-12B9-95F43FF69CAD}"/>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14D7E3E8-91A1-3F11-08DD-43E4351FB887}"/>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Black" pitchFamily="2" charset="-79"/>
                  <a:cs typeface="Rubik Black" pitchFamily="2" charset="-79"/>
                </a:rPr>
                <a:t>כלים שיעזרו לכם</a:t>
              </a:r>
              <a:endParaRPr lang="he-IL" sz="2400" i="0" dirty="0">
                <a:solidFill>
                  <a:srgbClr val="009CE1"/>
                </a:solidFill>
                <a:effectLst/>
                <a:latin typeface="Rubik Black" pitchFamily="2" charset="-79"/>
                <a:cs typeface="Rubik Black" pitchFamily="2" charset="-79"/>
              </a:endParaRPr>
            </a:p>
          </p:txBody>
        </p:sp>
        <p:grpSp>
          <p:nvGrpSpPr>
            <p:cNvPr id="30" name="קבוצה 29">
              <a:extLst>
                <a:ext uri="{FF2B5EF4-FFF2-40B4-BE49-F238E27FC236}">
                  <a16:creationId xmlns:a16="http://schemas.microsoft.com/office/drawing/2014/main" id="{F2365A99-DB59-03CF-835B-7ACF03AD9032}"/>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B34E6B69-FEFC-D989-98F1-6B75895F0A5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27C77D4E-AFF9-69A0-DA12-9C5BBD0638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B2DDB6B6-A287-AA54-6CAF-AF45A7E9B8AD}"/>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ACBAD93C-CFE2-F6F5-0FE8-0DC032D9DE9C}"/>
              </a:ext>
            </a:extLst>
          </p:cNvPr>
          <p:cNvSpPr txBox="1"/>
          <p:nvPr/>
        </p:nvSpPr>
        <p:spPr>
          <a:xfrm>
            <a:off x="3295114" y="450342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ניתוח </a:t>
            </a:r>
            <a:r>
              <a:rPr lang="en-US" b="0" i="0" dirty="0">
                <a:solidFill>
                  <a:srgbClr val="009CE1"/>
                </a:solidFill>
                <a:effectLst/>
                <a:latin typeface="Rubik" pitchFamily="2" charset="-79"/>
                <a:cs typeface="Rubik" pitchFamily="2" charset="-79"/>
              </a:rPr>
              <a:t>SWOT</a:t>
            </a:r>
            <a:endParaRPr lang="he-IL" sz="2400" i="0" dirty="0">
              <a:solidFill>
                <a:srgbClr val="009CE1"/>
              </a:solidFill>
              <a:effectLst/>
              <a:latin typeface="Rubik" pitchFamily="2" charset="-79"/>
              <a:cs typeface="Rubik" pitchFamily="2" charset="-79"/>
            </a:endParaRPr>
          </a:p>
        </p:txBody>
      </p:sp>
      <p:sp>
        <p:nvSpPr>
          <p:cNvPr id="3" name="תיבת טקסט 2">
            <a:extLst>
              <a:ext uri="{FF2B5EF4-FFF2-40B4-BE49-F238E27FC236}">
                <a16:creationId xmlns:a16="http://schemas.microsoft.com/office/drawing/2014/main" id="{43FD742D-063A-299B-3AD9-B946D7BA6AAF}"/>
              </a:ext>
            </a:extLst>
          </p:cNvPr>
          <p:cNvSpPr txBox="1"/>
          <p:nvPr/>
        </p:nvSpPr>
        <p:spPr>
          <a:xfrm>
            <a:off x="3295114" y="4958745"/>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SMART</a:t>
            </a:r>
            <a:endParaRPr lang="he-IL" sz="2400" i="0" dirty="0">
              <a:solidFill>
                <a:srgbClr val="009CE1"/>
              </a:solidFill>
              <a:effectLst/>
              <a:latin typeface="Rubik" pitchFamily="2" charset="-79"/>
              <a:cs typeface="Rubik" pitchFamily="2" charset="-79"/>
            </a:endParaRPr>
          </a:p>
        </p:txBody>
      </p:sp>
      <p:sp>
        <p:nvSpPr>
          <p:cNvPr id="4" name="תיבת טקסט 3">
            <a:extLst>
              <a:ext uri="{FF2B5EF4-FFF2-40B4-BE49-F238E27FC236}">
                <a16:creationId xmlns:a16="http://schemas.microsoft.com/office/drawing/2014/main" id="{7C1A385C-63EB-E742-FFE9-328DD75381F0}"/>
              </a:ext>
            </a:extLst>
          </p:cNvPr>
          <p:cNvSpPr txBox="1"/>
          <p:nvPr/>
        </p:nvSpPr>
        <p:spPr>
          <a:xfrm>
            <a:off x="3295114" y="5414068"/>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KPI</a:t>
            </a:r>
            <a:endParaRPr lang="he-IL" sz="2400" i="0" dirty="0">
              <a:solidFill>
                <a:srgbClr val="009CE1"/>
              </a:solidFill>
              <a:effectLst/>
              <a:latin typeface="Rubik" pitchFamily="2" charset="-79"/>
              <a:cs typeface="Rubik" pitchFamily="2" charset="-79"/>
            </a:endParaRPr>
          </a:p>
        </p:txBody>
      </p:sp>
      <p:sp>
        <p:nvSpPr>
          <p:cNvPr id="5" name="תיבת טקסט 4">
            <a:extLst>
              <a:ext uri="{FF2B5EF4-FFF2-40B4-BE49-F238E27FC236}">
                <a16:creationId xmlns:a16="http://schemas.microsoft.com/office/drawing/2014/main" id="{1DB13E26-F6A0-86A5-14F1-10B02ED35B66}"/>
              </a:ext>
            </a:extLst>
          </p:cNvPr>
          <p:cNvSpPr txBox="1"/>
          <p:nvPr/>
        </p:nvSpPr>
        <p:spPr>
          <a:xfrm>
            <a:off x="517314" y="3917205"/>
            <a:ext cx="7057663" cy="584775"/>
          </a:xfrm>
          <a:prstGeom prst="rect">
            <a:avLst/>
          </a:prstGeom>
          <a:noFill/>
        </p:spPr>
        <p:txBody>
          <a:bodyPr wrap="square">
            <a:spAutoFit/>
          </a:bodyPr>
          <a:lstStyle/>
          <a:p>
            <a:pPr>
              <a:buNone/>
            </a:pPr>
            <a:r>
              <a:rPr lang="he-IL" sz="1600" dirty="0">
                <a:latin typeface="Rubik" pitchFamily="2" charset="-79"/>
                <a:cs typeface="Rubik" pitchFamily="2" charset="-79"/>
              </a:rPr>
              <a:t>לעזרתם, מספר כלים ומודלים שיסייעו בתהליך הגדרת תכנית עבודה:</a:t>
            </a:r>
          </a:p>
          <a:p>
            <a:pPr>
              <a:buNone/>
            </a:pPr>
            <a:r>
              <a:rPr lang="he-IL" sz="1600" dirty="0">
                <a:latin typeface="Rubik" pitchFamily="2" charset="-79"/>
                <a:cs typeface="Rubik" pitchFamily="2" charset="-79"/>
              </a:rPr>
              <a:t>לחצו להרחבה.</a:t>
            </a:r>
          </a:p>
        </p:txBody>
      </p:sp>
      <p:sp>
        <p:nvSpPr>
          <p:cNvPr id="6" name="מלבן 5">
            <a:extLst>
              <a:ext uri="{FF2B5EF4-FFF2-40B4-BE49-F238E27FC236}">
                <a16:creationId xmlns:a16="http://schemas.microsoft.com/office/drawing/2014/main" id="{74563519-7B3C-40A3-8ACC-85E27202B634}"/>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מלבן: פינות מעוגלות 7">
            <a:extLst>
              <a:ext uri="{FF2B5EF4-FFF2-40B4-BE49-F238E27FC236}">
                <a16:creationId xmlns:a16="http://schemas.microsoft.com/office/drawing/2014/main" id="{67EA7F9D-FCB4-79C7-6EDA-17C48E8A216A}"/>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תיבת טקסט 15">
            <a:extLst>
              <a:ext uri="{FF2B5EF4-FFF2-40B4-BE49-F238E27FC236}">
                <a16:creationId xmlns:a16="http://schemas.microsoft.com/office/drawing/2014/main" id="{BED5FD97-FD19-33FD-AA96-1CEDA1EE5D41}"/>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ניתוח </a:t>
            </a:r>
            <a:r>
              <a:rPr lang="en-US" sz="3200" dirty="0">
                <a:latin typeface="Rubik Black" pitchFamily="2" charset="-79"/>
                <a:cs typeface="Rubik Black" pitchFamily="2" charset="-79"/>
              </a:rPr>
              <a:t>SWOT</a:t>
            </a:r>
            <a:endParaRPr lang="he-IL" sz="3200" dirty="0">
              <a:latin typeface="Rubik Black" pitchFamily="2" charset="-79"/>
              <a:cs typeface="Rubik Black" pitchFamily="2" charset="-79"/>
            </a:endParaRPr>
          </a:p>
        </p:txBody>
      </p:sp>
      <p:sp>
        <p:nvSpPr>
          <p:cNvPr id="18" name="תיבת טקסט 17">
            <a:extLst>
              <a:ext uri="{FF2B5EF4-FFF2-40B4-BE49-F238E27FC236}">
                <a16:creationId xmlns:a16="http://schemas.microsoft.com/office/drawing/2014/main" id="{09007ACB-70D6-AAFD-3536-D18B15F91184}"/>
              </a:ext>
            </a:extLst>
          </p:cNvPr>
          <p:cNvSpPr txBox="1"/>
          <p:nvPr/>
        </p:nvSpPr>
        <p:spPr>
          <a:xfrm>
            <a:off x="493854" y="1323808"/>
            <a:ext cx="11204294" cy="369332"/>
          </a:xfrm>
          <a:prstGeom prst="rect">
            <a:avLst/>
          </a:prstGeom>
          <a:noFill/>
        </p:spPr>
        <p:txBody>
          <a:bodyPr wrap="square">
            <a:spAutoFit/>
          </a:bodyPr>
          <a:lstStyle/>
          <a:p>
            <a:pPr algn="ctr">
              <a:buNone/>
            </a:pPr>
            <a:r>
              <a:rPr lang="he-IL" b="1" dirty="0">
                <a:latin typeface="Rubik" pitchFamily="2" charset="-79"/>
                <a:cs typeface="Rubik" pitchFamily="2" charset="-79"/>
              </a:rPr>
              <a:t>כלי אבחון </a:t>
            </a:r>
            <a:r>
              <a:rPr lang="he-IL" dirty="0">
                <a:latin typeface="Rubik" pitchFamily="2" charset="-79"/>
                <a:cs typeface="Rubik" pitchFamily="2" charset="-79"/>
              </a:rPr>
              <a:t>לבניית תכנית עבודה</a:t>
            </a:r>
            <a:endParaRPr lang="en-US" dirty="0">
              <a:latin typeface="Rubik" pitchFamily="2" charset="-79"/>
              <a:cs typeface="Rubik" pitchFamily="2" charset="-79"/>
            </a:endParaRPr>
          </a:p>
        </p:txBody>
      </p:sp>
      <p:grpSp>
        <p:nvGrpSpPr>
          <p:cNvPr id="46" name="קבוצה 45">
            <a:extLst>
              <a:ext uri="{FF2B5EF4-FFF2-40B4-BE49-F238E27FC236}">
                <a16:creationId xmlns:a16="http://schemas.microsoft.com/office/drawing/2014/main" id="{BD1D7603-92E4-0DBF-424B-DF22D5C101E9}"/>
              </a:ext>
            </a:extLst>
          </p:cNvPr>
          <p:cNvGrpSpPr/>
          <p:nvPr/>
        </p:nvGrpSpPr>
        <p:grpSpPr>
          <a:xfrm>
            <a:off x="8742480" y="1839854"/>
            <a:ext cx="2243326" cy="4290849"/>
            <a:chOff x="9020272" y="1839854"/>
            <a:chExt cx="2243326" cy="4290849"/>
          </a:xfrm>
        </p:grpSpPr>
        <p:grpSp>
          <p:nvGrpSpPr>
            <p:cNvPr id="40" name="קבוצה 39">
              <a:extLst>
                <a:ext uri="{FF2B5EF4-FFF2-40B4-BE49-F238E27FC236}">
                  <a16:creationId xmlns:a16="http://schemas.microsoft.com/office/drawing/2014/main" id="{F8F4EE18-C609-5977-CB43-EEC3BFA3AA75}"/>
                </a:ext>
              </a:extLst>
            </p:cNvPr>
            <p:cNvGrpSpPr/>
            <p:nvPr/>
          </p:nvGrpSpPr>
          <p:grpSpPr>
            <a:xfrm>
              <a:off x="9020272" y="1839854"/>
              <a:ext cx="2243326" cy="4290849"/>
              <a:chOff x="9020272" y="1839853"/>
              <a:chExt cx="2518636" cy="4817439"/>
            </a:xfrm>
          </p:grpSpPr>
          <p:sp>
            <p:nvSpPr>
              <p:cNvPr id="36" name="מלבן: פינות מעוגלות 35">
                <a:extLst>
                  <a:ext uri="{FF2B5EF4-FFF2-40B4-BE49-F238E27FC236}">
                    <a16:creationId xmlns:a16="http://schemas.microsoft.com/office/drawing/2014/main" id="{7693F4DC-B77E-23FC-C92C-279517E524DA}"/>
                  </a:ext>
                </a:extLst>
              </p:cNvPr>
              <p:cNvSpPr/>
              <p:nvPr/>
            </p:nvSpPr>
            <p:spPr>
              <a:xfrm>
                <a:off x="9020272" y="2281872"/>
                <a:ext cx="2518636" cy="4375420"/>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7" name="Oval 1">
                <a:extLst>
                  <a:ext uri="{FF2B5EF4-FFF2-40B4-BE49-F238E27FC236}">
                    <a16:creationId xmlns:a16="http://schemas.microsoft.com/office/drawing/2014/main" id="{31C02116-E30F-51FC-552F-4657C186F5F7}"/>
                  </a:ext>
                </a:extLst>
              </p:cNvPr>
              <p:cNvSpPr/>
              <p:nvPr/>
            </p:nvSpPr>
            <p:spPr>
              <a:xfrm rot="12189549">
                <a:off x="9588803" y="1839853"/>
                <a:ext cx="1633188" cy="115561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39" name="תיבת טקסט 38">
                <a:extLst>
                  <a:ext uri="{FF2B5EF4-FFF2-40B4-BE49-F238E27FC236}">
                    <a16:creationId xmlns:a16="http://schemas.microsoft.com/office/drawing/2014/main" id="{E16D87C3-E687-92D5-C2B6-F3C35DA13E1B}"/>
                  </a:ext>
                </a:extLst>
              </p:cNvPr>
              <p:cNvSpPr txBox="1"/>
              <p:nvPr/>
            </p:nvSpPr>
            <p:spPr>
              <a:xfrm>
                <a:off x="9020272" y="2949664"/>
                <a:ext cx="2518636" cy="3559147"/>
              </a:xfrm>
              <a:prstGeom prst="rect">
                <a:avLst/>
              </a:prstGeom>
              <a:noFill/>
            </p:spPr>
            <p:txBody>
              <a:bodyPr wrap="square" rtlCol="0">
                <a:spAutoFit/>
              </a:bodyPr>
              <a:lstStyle/>
              <a:p>
                <a:pPr algn="ctr"/>
                <a:r>
                  <a:rPr lang="he-IL" sz="1600" b="1" i="0" dirty="0">
                    <a:solidFill>
                      <a:schemeClr val="bg1"/>
                    </a:solidFill>
                    <a:effectLst/>
                    <a:latin typeface="Rubik" pitchFamily="2" charset="-79"/>
                    <a:cs typeface="Rubik" pitchFamily="2" charset="-79"/>
                  </a:rPr>
                  <a:t>מיפוי ממוקד</a:t>
                </a:r>
              </a:p>
              <a:p>
                <a:endParaRPr lang="he-IL" sz="1600" dirty="0">
                  <a:solidFill>
                    <a:schemeClr val="bg1"/>
                  </a:solidFill>
                  <a:latin typeface="Rubik" pitchFamily="2" charset="-79"/>
                  <a:cs typeface="Rubik" pitchFamily="2" charset="-79"/>
                </a:endParaRPr>
              </a:p>
              <a:p>
                <a:r>
                  <a:rPr lang="he-IL" sz="1400" i="0" dirty="0">
                    <a:solidFill>
                      <a:schemeClr val="bg1"/>
                    </a:solidFill>
                    <a:effectLst/>
                    <a:latin typeface="Rubik" pitchFamily="2" charset="-79"/>
                    <a:cs typeface="Rubik" pitchFamily="2" charset="-79"/>
                  </a:rPr>
                  <a:t>כתבו:</a:t>
                </a:r>
              </a:p>
              <a:p>
                <a:pPr marL="285750" indent="-285750">
                  <a:buFont typeface="Arial" panose="020B0604020202020204" pitchFamily="34" charset="0"/>
                  <a:buChar char="•"/>
                </a:pPr>
                <a:r>
                  <a:rPr lang="he-IL" sz="1400" b="1" i="0" dirty="0">
                    <a:solidFill>
                      <a:schemeClr val="bg1"/>
                    </a:solidFill>
                    <a:effectLst/>
                    <a:latin typeface="Rubik" pitchFamily="2" charset="-79"/>
                    <a:cs typeface="Rubik" pitchFamily="2" charset="-79"/>
                  </a:rPr>
                  <a:t>2 חוזקות </a:t>
                </a:r>
                <a:r>
                  <a:rPr lang="he-IL" sz="1400" i="0" dirty="0">
                    <a:solidFill>
                      <a:schemeClr val="bg1"/>
                    </a:solidFill>
                    <a:effectLst/>
                    <a:latin typeface="Rubik" pitchFamily="2" charset="-79"/>
                    <a:cs typeface="Rubik" pitchFamily="2" charset="-79"/>
                  </a:rPr>
                  <a:t>משמעותיות של היחידה</a:t>
                </a:r>
              </a:p>
              <a:p>
                <a:pPr marL="285750" indent="-285750">
                  <a:buFont typeface="Arial" panose="020B0604020202020204" pitchFamily="34" charset="0"/>
                  <a:buChar char="•"/>
                </a:pPr>
                <a:r>
                  <a:rPr lang="he-IL" sz="1400" b="1" i="0" dirty="0">
                    <a:solidFill>
                      <a:schemeClr val="bg1"/>
                    </a:solidFill>
                    <a:effectLst/>
                    <a:latin typeface="Rubik" pitchFamily="2" charset="-79"/>
                    <a:cs typeface="Rubik" pitchFamily="2" charset="-79"/>
                  </a:rPr>
                  <a:t>2 חולשות </a:t>
                </a:r>
                <a:r>
                  <a:rPr lang="he-IL" sz="1400" i="0" dirty="0">
                    <a:solidFill>
                      <a:schemeClr val="bg1"/>
                    </a:solidFill>
                    <a:effectLst/>
                    <a:latin typeface="Rubik" pitchFamily="2" charset="-79"/>
                    <a:cs typeface="Rubik" pitchFamily="2" charset="-79"/>
                  </a:rPr>
                  <a:t>שמשפיעות על הביצועים</a:t>
                </a:r>
              </a:p>
              <a:p>
                <a:pPr marL="285750" indent="-285750">
                  <a:buFont typeface="Arial" panose="020B0604020202020204" pitchFamily="34" charset="0"/>
                  <a:buChar char="•"/>
                </a:pPr>
                <a:r>
                  <a:rPr lang="he-IL" sz="1400" b="1" i="0" dirty="0">
                    <a:solidFill>
                      <a:schemeClr val="bg1"/>
                    </a:solidFill>
                    <a:effectLst/>
                    <a:latin typeface="Rubik" pitchFamily="2" charset="-79"/>
                    <a:cs typeface="Rubik" pitchFamily="2" charset="-79"/>
                  </a:rPr>
                  <a:t>2 הזדמנויות </a:t>
                </a:r>
                <a:r>
                  <a:rPr lang="he-IL" sz="1400" i="0" dirty="0">
                    <a:solidFill>
                      <a:schemeClr val="bg1"/>
                    </a:solidFill>
                    <a:effectLst/>
                    <a:latin typeface="Rubik" pitchFamily="2" charset="-79"/>
                    <a:cs typeface="Rubik" pitchFamily="2" charset="-79"/>
                  </a:rPr>
                  <a:t>רלוונטיות לסביבה שלכם</a:t>
                </a:r>
              </a:p>
              <a:p>
                <a:pPr marL="285750" indent="-285750">
                  <a:buFont typeface="Arial" panose="020B0604020202020204" pitchFamily="34" charset="0"/>
                  <a:buChar char="•"/>
                </a:pPr>
                <a:r>
                  <a:rPr lang="he-IL" sz="1400" b="1" i="0" dirty="0">
                    <a:solidFill>
                      <a:schemeClr val="bg1"/>
                    </a:solidFill>
                    <a:effectLst/>
                    <a:latin typeface="Rubik" pitchFamily="2" charset="-79"/>
                    <a:cs typeface="Rubik" pitchFamily="2" charset="-79"/>
                  </a:rPr>
                  <a:t>2 איומים </a:t>
                </a:r>
                <a:r>
                  <a:rPr lang="he-IL" sz="1400" i="0" dirty="0">
                    <a:solidFill>
                      <a:schemeClr val="bg1"/>
                    </a:solidFill>
                    <a:effectLst/>
                    <a:latin typeface="Rubik" pitchFamily="2" charset="-79"/>
                    <a:cs typeface="Rubik" pitchFamily="2" charset="-79"/>
                  </a:rPr>
                  <a:t>ממשיים שדורשים מענה</a:t>
                </a:r>
              </a:p>
              <a:p>
                <a:pPr marL="285750" indent="-285750">
                  <a:buFont typeface="Arial" panose="020B0604020202020204" pitchFamily="34" charset="0"/>
                  <a:buChar char="•"/>
                </a:pPr>
                <a:endParaRPr lang="he-IL" sz="1400" dirty="0">
                  <a:solidFill>
                    <a:schemeClr val="bg1"/>
                  </a:solidFill>
                  <a:latin typeface="Rubik" pitchFamily="2" charset="-79"/>
                  <a:cs typeface="Rubik" pitchFamily="2" charset="-79"/>
                </a:endParaRPr>
              </a:p>
              <a:p>
                <a:r>
                  <a:rPr lang="he-IL" sz="1400" i="0" dirty="0">
                    <a:solidFill>
                      <a:schemeClr val="bg1"/>
                    </a:solidFill>
                    <a:effectLst/>
                    <a:latin typeface="Rubik" pitchFamily="2" charset="-79"/>
                    <a:cs typeface="Rubik" pitchFamily="2" charset="-79"/>
                  </a:rPr>
                  <a:t>הסתמכו על נתונים, לא על תחושות.</a:t>
                </a:r>
              </a:p>
            </p:txBody>
          </p:sp>
        </p:grpSp>
        <p:sp>
          <p:nvSpPr>
            <p:cNvPr id="41" name="תיבת טקסט 40">
              <a:extLst>
                <a:ext uri="{FF2B5EF4-FFF2-40B4-BE49-F238E27FC236}">
                  <a16:creationId xmlns:a16="http://schemas.microsoft.com/office/drawing/2014/main" id="{CD84C4B8-CDAA-3B8C-EE9B-FB0ACABF9F51}"/>
                </a:ext>
              </a:extLst>
            </p:cNvPr>
            <p:cNvSpPr txBox="1"/>
            <p:nvPr/>
          </p:nvSpPr>
          <p:spPr>
            <a:xfrm>
              <a:off x="9815332" y="2062355"/>
              <a:ext cx="726400" cy="338554"/>
            </a:xfrm>
            <a:prstGeom prst="rect">
              <a:avLst/>
            </a:prstGeom>
            <a:noFill/>
          </p:spPr>
          <p:txBody>
            <a:bodyPr wrap="square" rtlCol="0">
              <a:spAutoFit/>
            </a:bodyPr>
            <a:lstStyle/>
            <a:p>
              <a:pPr algn="ctr"/>
              <a:r>
                <a:rPr lang="he-IL" sz="1600" b="0" i="0" dirty="0">
                  <a:solidFill>
                    <a:schemeClr val="bg1"/>
                  </a:solidFill>
                  <a:effectLst/>
                  <a:latin typeface="Rubik" pitchFamily="2" charset="-79"/>
                  <a:cs typeface="Rubik" pitchFamily="2" charset="-79"/>
                </a:rPr>
                <a:t>שלב 1</a:t>
              </a:r>
              <a:endParaRPr lang="he-IL" sz="2000" i="0" dirty="0">
                <a:solidFill>
                  <a:schemeClr val="bg1"/>
                </a:solidFill>
                <a:effectLst/>
                <a:latin typeface="Rubik" pitchFamily="2" charset="-79"/>
                <a:cs typeface="Rubik" pitchFamily="2" charset="-79"/>
              </a:endParaRPr>
            </a:p>
          </p:txBody>
        </p:sp>
      </p:grpSp>
      <p:grpSp>
        <p:nvGrpSpPr>
          <p:cNvPr id="47" name="קבוצה 46">
            <a:extLst>
              <a:ext uri="{FF2B5EF4-FFF2-40B4-BE49-F238E27FC236}">
                <a16:creationId xmlns:a16="http://schemas.microsoft.com/office/drawing/2014/main" id="{CBF19A94-2083-0309-62FF-CFDF8F50DD72}"/>
              </a:ext>
            </a:extLst>
          </p:cNvPr>
          <p:cNvGrpSpPr/>
          <p:nvPr/>
        </p:nvGrpSpPr>
        <p:grpSpPr>
          <a:xfrm>
            <a:off x="6244764" y="1839853"/>
            <a:ext cx="2243326" cy="4290849"/>
            <a:chOff x="9020272" y="1839854"/>
            <a:chExt cx="2243326" cy="4290849"/>
          </a:xfrm>
        </p:grpSpPr>
        <p:grpSp>
          <p:nvGrpSpPr>
            <p:cNvPr id="48" name="קבוצה 47">
              <a:extLst>
                <a:ext uri="{FF2B5EF4-FFF2-40B4-BE49-F238E27FC236}">
                  <a16:creationId xmlns:a16="http://schemas.microsoft.com/office/drawing/2014/main" id="{0E11F67D-C5BC-92EF-1BFB-B6FADDEDB316}"/>
                </a:ext>
              </a:extLst>
            </p:cNvPr>
            <p:cNvGrpSpPr/>
            <p:nvPr/>
          </p:nvGrpSpPr>
          <p:grpSpPr>
            <a:xfrm>
              <a:off x="9020272" y="1839854"/>
              <a:ext cx="2243326" cy="4290849"/>
              <a:chOff x="9020272" y="1839853"/>
              <a:chExt cx="2518636" cy="4817439"/>
            </a:xfrm>
          </p:grpSpPr>
          <p:sp>
            <p:nvSpPr>
              <p:cNvPr id="50" name="מלבן: פינות מעוגלות 49">
                <a:extLst>
                  <a:ext uri="{FF2B5EF4-FFF2-40B4-BE49-F238E27FC236}">
                    <a16:creationId xmlns:a16="http://schemas.microsoft.com/office/drawing/2014/main" id="{5F2A68F5-C16E-5195-9756-A96CC4185160}"/>
                  </a:ext>
                </a:extLst>
              </p:cNvPr>
              <p:cNvSpPr/>
              <p:nvPr/>
            </p:nvSpPr>
            <p:spPr>
              <a:xfrm>
                <a:off x="9020272" y="2281872"/>
                <a:ext cx="2518636" cy="4375420"/>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1" name="Oval 1">
                <a:extLst>
                  <a:ext uri="{FF2B5EF4-FFF2-40B4-BE49-F238E27FC236}">
                    <a16:creationId xmlns:a16="http://schemas.microsoft.com/office/drawing/2014/main" id="{165A8AB3-451F-BCC6-BA61-79D4601080DF}"/>
                  </a:ext>
                </a:extLst>
              </p:cNvPr>
              <p:cNvSpPr/>
              <p:nvPr/>
            </p:nvSpPr>
            <p:spPr>
              <a:xfrm rot="12189549">
                <a:off x="9588803" y="1839853"/>
                <a:ext cx="1633188" cy="1155610"/>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2" name="תיבת טקסט 51">
                <a:extLst>
                  <a:ext uri="{FF2B5EF4-FFF2-40B4-BE49-F238E27FC236}">
                    <a16:creationId xmlns:a16="http://schemas.microsoft.com/office/drawing/2014/main" id="{83861BF8-0803-151D-AD50-F08C64E20CD2}"/>
                  </a:ext>
                </a:extLst>
              </p:cNvPr>
              <p:cNvSpPr txBox="1"/>
              <p:nvPr/>
            </p:nvSpPr>
            <p:spPr>
              <a:xfrm>
                <a:off x="9020272" y="2949665"/>
                <a:ext cx="2518636" cy="2591611"/>
              </a:xfrm>
              <a:prstGeom prst="rect">
                <a:avLst/>
              </a:prstGeom>
              <a:noFill/>
            </p:spPr>
            <p:txBody>
              <a:bodyPr wrap="square" rtlCol="0">
                <a:spAutoFit/>
              </a:bodyPr>
              <a:lstStyle/>
              <a:p>
                <a:pPr algn="ctr"/>
                <a:r>
                  <a:rPr lang="he-IL" sz="1600" b="1" i="0" dirty="0">
                    <a:solidFill>
                      <a:schemeClr val="bg1"/>
                    </a:solidFill>
                    <a:effectLst/>
                    <a:latin typeface="Rubik" pitchFamily="2" charset="-79"/>
                    <a:cs typeface="Rubik" pitchFamily="2" charset="-79"/>
                  </a:rPr>
                  <a:t>בחרו מוקד אחד לפעולה</a:t>
                </a:r>
              </a:p>
              <a:p>
                <a:pPr algn="ctr"/>
                <a:endParaRPr lang="he-IL" sz="1600" dirty="0">
                  <a:solidFill>
                    <a:schemeClr val="bg1"/>
                  </a:solidFill>
                  <a:latin typeface="Rubik" pitchFamily="2" charset="-79"/>
                  <a:cs typeface="Rubik" pitchFamily="2" charset="-79"/>
                </a:endParaRPr>
              </a:p>
              <a:p>
                <a:r>
                  <a:rPr lang="he-IL" sz="1400" i="0" dirty="0">
                    <a:solidFill>
                      <a:schemeClr val="bg1"/>
                    </a:solidFill>
                    <a:effectLst/>
                    <a:latin typeface="Rubik" pitchFamily="2" charset="-79"/>
                    <a:cs typeface="Rubik" pitchFamily="2" charset="-79"/>
                  </a:rPr>
                  <a:t>שאלו:</a:t>
                </a:r>
              </a:p>
              <a:p>
                <a:pPr marL="285750" indent="-285750">
                  <a:buFont typeface="Arial" panose="020B0604020202020204" pitchFamily="34" charset="0"/>
                  <a:buChar char="•"/>
                </a:pPr>
                <a:r>
                  <a:rPr lang="he-IL" sz="1400" i="0" dirty="0">
                    <a:solidFill>
                      <a:schemeClr val="bg1"/>
                    </a:solidFill>
                    <a:effectLst/>
                    <a:latin typeface="Rubik" pitchFamily="2" charset="-79"/>
                    <a:cs typeface="Rubik" pitchFamily="2" charset="-79"/>
                  </a:rPr>
                  <a:t>איזה פער הכי משמעותי?</a:t>
                </a:r>
              </a:p>
              <a:p>
                <a:pPr marL="285750" indent="-285750">
                  <a:buFont typeface="Arial" panose="020B0604020202020204" pitchFamily="34" charset="0"/>
                  <a:buChar char="•"/>
                </a:pPr>
                <a:r>
                  <a:rPr lang="he-IL" sz="1400" i="0" dirty="0">
                    <a:solidFill>
                      <a:schemeClr val="bg1"/>
                    </a:solidFill>
                    <a:effectLst/>
                    <a:latin typeface="Rubik" pitchFamily="2" charset="-79"/>
                    <a:cs typeface="Rubik" pitchFamily="2" charset="-79"/>
                  </a:rPr>
                  <a:t>איפה ניתן לייצר השפעה אמיתית השנה?</a:t>
                </a:r>
              </a:p>
              <a:p>
                <a:pPr marL="285750" indent="-285750">
                  <a:buFont typeface="Arial" panose="020B0604020202020204" pitchFamily="34" charset="0"/>
                  <a:buChar char="•"/>
                </a:pPr>
                <a:r>
                  <a:rPr lang="he-IL" sz="1400" i="0" dirty="0">
                    <a:solidFill>
                      <a:schemeClr val="bg1"/>
                    </a:solidFill>
                    <a:effectLst/>
                    <a:latin typeface="Rubik" pitchFamily="2" charset="-79"/>
                    <a:cs typeface="Rubik" pitchFamily="2" charset="-79"/>
                  </a:rPr>
                  <a:t>מה מחובר לכיוון אסטרטגי ארגוני?</a:t>
                </a:r>
              </a:p>
              <a:p>
                <a:pPr marL="285750" indent="-285750">
                  <a:buFont typeface="Arial" panose="020B0604020202020204" pitchFamily="34" charset="0"/>
                  <a:buChar char="•"/>
                </a:pPr>
                <a:endParaRPr lang="he-IL" sz="1400" dirty="0">
                  <a:solidFill>
                    <a:schemeClr val="bg1"/>
                  </a:solidFill>
                  <a:latin typeface="Rubik" pitchFamily="2" charset="-79"/>
                  <a:cs typeface="Rubik" pitchFamily="2" charset="-79"/>
                </a:endParaRPr>
              </a:p>
              <a:p>
                <a:r>
                  <a:rPr lang="he-IL" sz="1400" i="0" dirty="0">
                    <a:solidFill>
                      <a:schemeClr val="bg1"/>
                    </a:solidFill>
                    <a:effectLst/>
                    <a:latin typeface="Rubik" pitchFamily="2" charset="-79"/>
                    <a:cs typeface="Rubik" pitchFamily="2" charset="-79"/>
                  </a:rPr>
                  <a:t>בחרו נקודה אחת בלבד.</a:t>
                </a:r>
              </a:p>
            </p:txBody>
          </p:sp>
        </p:grpSp>
        <p:sp>
          <p:nvSpPr>
            <p:cNvPr id="49" name="תיבת טקסט 48">
              <a:extLst>
                <a:ext uri="{FF2B5EF4-FFF2-40B4-BE49-F238E27FC236}">
                  <a16:creationId xmlns:a16="http://schemas.microsoft.com/office/drawing/2014/main" id="{A44B27BE-08F8-8DB8-0DE6-505F32C66342}"/>
                </a:ext>
              </a:extLst>
            </p:cNvPr>
            <p:cNvSpPr txBox="1"/>
            <p:nvPr/>
          </p:nvSpPr>
          <p:spPr>
            <a:xfrm>
              <a:off x="9815332" y="2062355"/>
              <a:ext cx="726400" cy="338554"/>
            </a:xfrm>
            <a:prstGeom prst="rect">
              <a:avLst/>
            </a:prstGeom>
            <a:noFill/>
          </p:spPr>
          <p:txBody>
            <a:bodyPr wrap="square" rtlCol="0">
              <a:spAutoFit/>
            </a:bodyPr>
            <a:lstStyle/>
            <a:p>
              <a:pPr algn="ctr"/>
              <a:r>
                <a:rPr lang="he-IL" sz="1600" b="0" i="0" dirty="0">
                  <a:solidFill>
                    <a:schemeClr val="bg1"/>
                  </a:solidFill>
                  <a:effectLst/>
                  <a:latin typeface="Rubik" pitchFamily="2" charset="-79"/>
                  <a:cs typeface="Rubik" pitchFamily="2" charset="-79"/>
                </a:rPr>
                <a:t>שלב 2</a:t>
              </a:r>
              <a:endParaRPr lang="he-IL" sz="2000" i="0" dirty="0">
                <a:solidFill>
                  <a:schemeClr val="bg1"/>
                </a:solidFill>
                <a:effectLst/>
                <a:latin typeface="Rubik" pitchFamily="2" charset="-79"/>
                <a:cs typeface="Rubik" pitchFamily="2" charset="-79"/>
              </a:endParaRPr>
            </a:p>
          </p:txBody>
        </p:sp>
      </p:grpSp>
    </p:spTree>
    <p:extLst>
      <p:ext uri="{BB962C8B-B14F-4D97-AF65-F5344CB8AC3E}">
        <p14:creationId xmlns:p14="http://schemas.microsoft.com/office/powerpoint/2010/main" val="4214479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9C11-BC3F-3C25-0D4E-959B0E476C13}"/>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14FD3D22-1D99-6370-E659-631CFED700DE}"/>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שלי</a:t>
            </a:r>
          </a:p>
        </p:txBody>
      </p:sp>
      <p:sp>
        <p:nvSpPr>
          <p:cNvPr id="25" name="תיבת טקסט 24">
            <a:extLst>
              <a:ext uri="{FF2B5EF4-FFF2-40B4-BE49-F238E27FC236}">
                <a16:creationId xmlns:a16="http://schemas.microsoft.com/office/drawing/2014/main" id="{034675FE-E888-1108-5E31-E9C23D5A1D35}"/>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ניהול מבוסס יעדים</a:t>
            </a:r>
            <a:endParaRPr lang="he-IL" sz="2800" i="0" dirty="0">
              <a:solidFill>
                <a:srgbClr val="000000"/>
              </a:solidFill>
              <a:effectLst/>
              <a:latin typeface="Rubik" pitchFamily="2" charset="-79"/>
              <a:cs typeface="Rubik" pitchFamily="2" charset="-79"/>
            </a:endParaRPr>
          </a:p>
        </p:txBody>
      </p:sp>
      <p:sp>
        <p:nvSpPr>
          <p:cNvPr id="7" name="תיבת טקסט 6">
            <a:extLst>
              <a:ext uri="{FF2B5EF4-FFF2-40B4-BE49-F238E27FC236}">
                <a16:creationId xmlns:a16="http://schemas.microsoft.com/office/drawing/2014/main" id="{713C2E9D-9411-77AA-79EE-1E49BF2CAB0E}"/>
              </a:ext>
            </a:extLst>
          </p:cNvPr>
          <p:cNvSpPr txBox="1"/>
          <p:nvPr/>
        </p:nvSpPr>
        <p:spPr>
          <a:xfrm>
            <a:off x="1612899" y="1702987"/>
            <a:ext cx="10143553" cy="17088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תכנית עבודה נגזרת מהאסטרטגיה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כוללת יעדים מדידים</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נבחנת פעמיים בשנה (חציון וסוף שנה)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מלווה במדדים ובבקרה</a:t>
            </a:r>
          </a:p>
        </p:txBody>
      </p:sp>
      <p:sp>
        <p:nvSpPr>
          <p:cNvPr id="9" name="Oval 27">
            <a:extLst>
              <a:ext uri="{FF2B5EF4-FFF2-40B4-BE49-F238E27FC236}">
                <a16:creationId xmlns:a16="http://schemas.microsoft.com/office/drawing/2014/main" id="{843285F5-A9A5-5DAF-285D-29444C868786}"/>
              </a:ext>
            </a:extLst>
          </p:cNvPr>
          <p:cNvSpPr/>
          <p:nvPr/>
        </p:nvSpPr>
        <p:spPr>
          <a:xfrm>
            <a:off x="3803660" y="5519957"/>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מלבן: פינות מעוגלות 9">
            <a:extLst>
              <a:ext uri="{FF2B5EF4-FFF2-40B4-BE49-F238E27FC236}">
                <a16:creationId xmlns:a16="http://schemas.microsoft.com/office/drawing/2014/main" id="{0E5E979B-0908-F7C3-A418-9DC561DDB7D2}"/>
              </a:ext>
            </a:extLst>
          </p:cNvPr>
          <p:cNvSpPr/>
          <p:nvPr/>
        </p:nvSpPr>
        <p:spPr>
          <a:xfrm>
            <a:off x="895110" y="5734948"/>
            <a:ext cx="3553428"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להורדת קובץ עזר לבניית </a:t>
            </a:r>
            <a:r>
              <a:rPr lang="he-IL" sz="1400" dirty="0" err="1">
                <a:solidFill>
                  <a:schemeClr val="bg1"/>
                </a:solidFill>
                <a:latin typeface="Rubik" pitchFamily="2" charset="-79"/>
                <a:cs typeface="Rubik" pitchFamily="2" charset="-79"/>
              </a:rPr>
              <a:t>תכניות</a:t>
            </a:r>
            <a:r>
              <a:rPr lang="he-IL" sz="1400" dirty="0">
                <a:solidFill>
                  <a:schemeClr val="bg1"/>
                </a:solidFill>
                <a:latin typeface="Rubik" pitchFamily="2" charset="-79"/>
                <a:cs typeface="Rubik" pitchFamily="2" charset="-79"/>
              </a:rPr>
              <a:t> עבודה</a:t>
            </a:r>
          </a:p>
        </p:txBody>
      </p:sp>
      <p:grpSp>
        <p:nvGrpSpPr>
          <p:cNvPr id="20" name="קבוצה 19">
            <a:extLst>
              <a:ext uri="{FF2B5EF4-FFF2-40B4-BE49-F238E27FC236}">
                <a16:creationId xmlns:a16="http://schemas.microsoft.com/office/drawing/2014/main" id="{1A4E468B-33BF-F2DF-D80D-E25F728683EE}"/>
              </a:ext>
            </a:extLst>
          </p:cNvPr>
          <p:cNvGrpSpPr/>
          <p:nvPr/>
        </p:nvGrpSpPr>
        <p:grpSpPr>
          <a:xfrm>
            <a:off x="7263813" y="4155654"/>
            <a:ext cx="4497343" cy="528644"/>
            <a:chOff x="7263813" y="4352425"/>
            <a:chExt cx="4497343" cy="528644"/>
          </a:xfrm>
        </p:grpSpPr>
        <p:sp>
          <p:nvSpPr>
            <p:cNvPr id="11" name="תיבת טקסט 10">
              <a:extLst>
                <a:ext uri="{FF2B5EF4-FFF2-40B4-BE49-F238E27FC236}">
                  <a16:creationId xmlns:a16="http://schemas.microsoft.com/office/drawing/2014/main" id="{E4AF5B30-82A9-971B-ED09-BEC5E6C7A7C8}"/>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העבודה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0583F4D5-7234-E64E-7B22-7C684D258260}"/>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B3E5A29E-FEA7-D2F0-9F00-B88D63B304AC}"/>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CDCB273C-8325-55D4-59B0-818080879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C188E430-D3D4-BECD-FB2E-F7DE90224986}"/>
              </a:ext>
            </a:extLst>
          </p:cNvPr>
          <p:cNvSpPr txBox="1"/>
          <p:nvPr/>
        </p:nvSpPr>
        <p:spPr>
          <a:xfrm>
            <a:off x="4698789" y="3711750"/>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5BEA0179-43FC-A17D-6D56-F2DF4B36A62E}"/>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162B324E-4D76-8F3F-B20B-E2EFC6FD9E64}"/>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57F3B602-74E5-9D91-B360-C8A09375B44A}"/>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3021BF0B-6C49-BD4D-3065-606D44ABAEBD}"/>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3B6C65BA-06CF-64CC-1603-55CF8C85C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0ECFECDB-169E-F49A-F853-24F7D27D777C}"/>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94538B33-2F5B-46FC-D08A-426665F2C69C}"/>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Black" pitchFamily="2" charset="-79"/>
                  <a:cs typeface="Rubik Black" pitchFamily="2" charset="-79"/>
                </a:rPr>
                <a:t>כלים שיעזרו לכם</a:t>
              </a:r>
              <a:endParaRPr lang="he-IL" sz="2400" i="0" dirty="0">
                <a:solidFill>
                  <a:srgbClr val="009CE1"/>
                </a:solidFill>
                <a:effectLst/>
                <a:latin typeface="Rubik Black" pitchFamily="2" charset="-79"/>
                <a:cs typeface="Rubik Black" pitchFamily="2" charset="-79"/>
              </a:endParaRPr>
            </a:p>
          </p:txBody>
        </p:sp>
        <p:grpSp>
          <p:nvGrpSpPr>
            <p:cNvPr id="30" name="קבוצה 29">
              <a:extLst>
                <a:ext uri="{FF2B5EF4-FFF2-40B4-BE49-F238E27FC236}">
                  <a16:creationId xmlns:a16="http://schemas.microsoft.com/office/drawing/2014/main" id="{A08648CB-4B8D-8242-FA0A-A43B1C83F59A}"/>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6695A158-06B8-5F37-4CB4-1F788B33FC4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B2EFB2A7-B2C7-7C5F-59E7-2862A7EB4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4A8B06D9-4A50-6B69-DA35-A25D434B3802}"/>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E301D1AA-BBC1-4926-3B7A-44D6045CD21D}"/>
              </a:ext>
            </a:extLst>
          </p:cNvPr>
          <p:cNvSpPr txBox="1"/>
          <p:nvPr/>
        </p:nvSpPr>
        <p:spPr>
          <a:xfrm>
            <a:off x="3295114" y="4306652"/>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ניתוח </a:t>
            </a:r>
            <a:r>
              <a:rPr lang="en-US" b="0" i="0" dirty="0">
                <a:solidFill>
                  <a:srgbClr val="009CE1"/>
                </a:solidFill>
                <a:effectLst/>
                <a:latin typeface="Rubik" pitchFamily="2" charset="-79"/>
                <a:cs typeface="Rubik" pitchFamily="2" charset="-79"/>
              </a:rPr>
              <a:t>SWOT</a:t>
            </a:r>
            <a:endParaRPr lang="he-IL" sz="2400" i="0" dirty="0">
              <a:solidFill>
                <a:srgbClr val="009CE1"/>
              </a:solidFill>
              <a:effectLst/>
              <a:latin typeface="Rubik" pitchFamily="2" charset="-79"/>
              <a:cs typeface="Rubik" pitchFamily="2" charset="-79"/>
            </a:endParaRPr>
          </a:p>
        </p:txBody>
      </p:sp>
      <p:sp>
        <p:nvSpPr>
          <p:cNvPr id="3" name="תיבת טקסט 2">
            <a:extLst>
              <a:ext uri="{FF2B5EF4-FFF2-40B4-BE49-F238E27FC236}">
                <a16:creationId xmlns:a16="http://schemas.microsoft.com/office/drawing/2014/main" id="{9E0F41D6-A184-F386-BC14-62ABE84382DF}"/>
              </a:ext>
            </a:extLst>
          </p:cNvPr>
          <p:cNvSpPr txBox="1"/>
          <p:nvPr/>
        </p:nvSpPr>
        <p:spPr>
          <a:xfrm>
            <a:off x="3295114" y="4761974"/>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SMART</a:t>
            </a:r>
            <a:endParaRPr lang="he-IL" sz="2400" i="0" dirty="0">
              <a:solidFill>
                <a:srgbClr val="009CE1"/>
              </a:solidFill>
              <a:effectLst/>
              <a:latin typeface="Rubik" pitchFamily="2" charset="-79"/>
              <a:cs typeface="Rubik" pitchFamily="2" charset="-79"/>
            </a:endParaRPr>
          </a:p>
        </p:txBody>
      </p:sp>
      <p:sp>
        <p:nvSpPr>
          <p:cNvPr id="4" name="תיבת טקסט 3">
            <a:extLst>
              <a:ext uri="{FF2B5EF4-FFF2-40B4-BE49-F238E27FC236}">
                <a16:creationId xmlns:a16="http://schemas.microsoft.com/office/drawing/2014/main" id="{5FE5E026-7BEF-0441-0C85-900F16072EFD}"/>
              </a:ext>
            </a:extLst>
          </p:cNvPr>
          <p:cNvSpPr txBox="1"/>
          <p:nvPr/>
        </p:nvSpPr>
        <p:spPr>
          <a:xfrm>
            <a:off x="3295114" y="5414068"/>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KPI</a:t>
            </a:r>
            <a:endParaRPr lang="he-IL" sz="2400" i="0" dirty="0">
              <a:solidFill>
                <a:srgbClr val="009CE1"/>
              </a:solidFill>
              <a:effectLst/>
              <a:latin typeface="Rubik" pitchFamily="2" charset="-79"/>
              <a:cs typeface="Rubik" pitchFamily="2" charset="-79"/>
            </a:endParaRPr>
          </a:p>
        </p:txBody>
      </p:sp>
      <p:sp>
        <p:nvSpPr>
          <p:cNvPr id="5" name="תיבת טקסט 4">
            <a:extLst>
              <a:ext uri="{FF2B5EF4-FFF2-40B4-BE49-F238E27FC236}">
                <a16:creationId xmlns:a16="http://schemas.microsoft.com/office/drawing/2014/main" id="{FFE83E59-D185-9C9C-A224-8130E878CBEE}"/>
              </a:ext>
            </a:extLst>
          </p:cNvPr>
          <p:cNvSpPr txBox="1"/>
          <p:nvPr/>
        </p:nvSpPr>
        <p:spPr>
          <a:xfrm>
            <a:off x="517314" y="3720434"/>
            <a:ext cx="7057663" cy="584775"/>
          </a:xfrm>
          <a:prstGeom prst="rect">
            <a:avLst/>
          </a:prstGeom>
          <a:noFill/>
        </p:spPr>
        <p:txBody>
          <a:bodyPr wrap="square">
            <a:spAutoFit/>
          </a:bodyPr>
          <a:lstStyle/>
          <a:p>
            <a:pPr>
              <a:buNone/>
            </a:pPr>
            <a:r>
              <a:rPr lang="he-IL" sz="1600" dirty="0">
                <a:latin typeface="Rubik" pitchFamily="2" charset="-79"/>
                <a:cs typeface="Rubik" pitchFamily="2" charset="-79"/>
              </a:rPr>
              <a:t>לעזרתם, מספר כלים ומודלים שיסייעו בתהליך הגדרת תכנית עבודה:</a:t>
            </a:r>
          </a:p>
          <a:p>
            <a:pPr>
              <a:buNone/>
            </a:pPr>
            <a:r>
              <a:rPr lang="he-IL" sz="1600" dirty="0">
                <a:latin typeface="Rubik" pitchFamily="2" charset="-79"/>
                <a:cs typeface="Rubik" pitchFamily="2" charset="-79"/>
              </a:rPr>
              <a:t>לחצו להרחבה.</a:t>
            </a:r>
          </a:p>
        </p:txBody>
      </p:sp>
      <p:sp>
        <p:nvSpPr>
          <p:cNvPr id="6" name="מלבן 5">
            <a:extLst>
              <a:ext uri="{FF2B5EF4-FFF2-40B4-BE49-F238E27FC236}">
                <a16:creationId xmlns:a16="http://schemas.microsoft.com/office/drawing/2014/main" id="{1A6F16B0-35F6-B7F2-0F23-99B4C419397E}"/>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מלבן: פינות מעוגלות 7">
            <a:extLst>
              <a:ext uri="{FF2B5EF4-FFF2-40B4-BE49-F238E27FC236}">
                <a16:creationId xmlns:a16="http://schemas.microsoft.com/office/drawing/2014/main" id="{6BA778BE-B198-1931-76F1-44B9D91D9B80}"/>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תיבת טקסט 15">
            <a:extLst>
              <a:ext uri="{FF2B5EF4-FFF2-40B4-BE49-F238E27FC236}">
                <a16:creationId xmlns:a16="http://schemas.microsoft.com/office/drawing/2014/main" id="{043B4686-F3F9-CD9E-0569-9F8841F38E4A}"/>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תיעדוף מהלכים </a:t>
            </a:r>
            <a:r>
              <a:rPr lang="en-US" sz="3200" dirty="0">
                <a:latin typeface="Rubik Black" pitchFamily="2" charset="-79"/>
                <a:cs typeface="Rubik Black" pitchFamily="2" charset="-79"/>
              </a:rPr>
              <a:t>(Impact × Effort)</a:t>
            </a:r>
          </a:p>
        </p:txBody>
      </p:sp>
      <p:sp>
        <p:nvSpPr>
          <p:cNvPr id="17" name="תיבת טקסט 16">
            <a:extLst>
              <a:ext uri="{FF2B5EF4-FFF2-40B4-BE49-F238E27FC236}">
                <a16:creationId xmlns:a16="http://schemas.microsoft.com/office/drawing/2014/main" id="{DD91BB83-74F2-A6B4-5BE6-4304B2F47329}"/>
              </a:ext>
            </a:extLst>
          </p:cNvPr>
          <p:cNvSpPr txBox="1"/>
          <p:nvPr/>
        </p:nvSpPr>
        <p:spPr>
          <a:xfrm>
            <a:off x="493854" y="1323808"/>
            <a:ext cx="11204294" cy="369332"/>
          </a:xfrm>
          <a:prstGeom prst="rect">
            <a:avLst/>
          </a:prstGeom>
          <a:noFill/>
        </p:spPr>
        <p:txBody>
          <a:bodyPr wrap="square">
            <a:spAutoFit/>
          </a:bodyPr>
          <a:lstStyle/>
          <a:p>
            <a:pPr algn="ctr">
              <a:buNone/>
            </a:pPr>
            <a:r>
              <a:rPr lang="he-IL" b="1" dirty="0">
                <a:latin typeface="Rubik" pitchFamily="2" charset="-79"/>
                <a:cs typeface="Rubik" pitchFamily="2" charset="-79"/>
              </a:rPr>
              <a:t>כלי לבחינת </a:t>
            </a:r>
            <a:r>
              <a:rPr lang="he-IL" b="1" dirty="0" err="1">
                <a:latin typeface="Rubik" pitchFamily="2" charset="-79"/>
                <a:cs typeface="Rubik" pitchFamily="2" charset="-79"/>
              </a:rPr>
              <a:t>תעדוף</a:t>
            </a:r>
            <a:r>
              <a:rPr lang="he-IL" b="1" dirty="0">
                <a:latin typeface="Rubik" pitchFamily="2" charset="-79"/>
                <a:cs typeface="Rubik" pitchFamily="2" charset="-79"/>
              </a:rPr>
              <a:t> </a:t>
            </a:r>
            <a:endParaRPr lang="en-US" dirty="0">
              <a:latin typeface="Rubik" pitchFamily="2" charset="-79"/>
              <a:cs typeface="Rubik" pitchFamily="2" charset="-79"/>
            </a:endParaRPr>
          </a:p>
        </p:txBody>
      </p:sp>
      <p:sp>
        <p:nvSpPr>
          <p:cNvPr id="18" name="מלבן: פינות מעוגלות 17">
            <a:extLst>
              <a:ext uri="{FF2B5EF4-FFF2-40B4-BE49-F238E27FC236}">
                <a16:creationId xmlns:a16="http://schemas.microsoft.com/office/drawing/2014/main" id="{F561D182-B48E-DFB3-4C7E-F87898CB77DB}"/>
              </a:ext>
            </a:extLst>
          </p:cNvPr>
          <p:cNvSpPr/>
          <p:nvPr/>
        </p:nvSpPr>
        <p:spPr>
          <a:xfrm>
            <a:off x="8646230" y="1888116"/>
            <a:ext cx="2518636" cy="307979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מלבן: פינות מעוגלות 18">
            <a:extLst>
              <a:ext uri="{FF2B5EF4-FFF2-40B4-BE49-F238E27FC236}">
                <a16:creationId xmlns:a16="http://schemas.microsoft.com/office/drawing/2014/main" id="{72A21505-C96B-2234-E2E0-1DE6AAAF3573}"/>
              </a:ext>
            </a:extLst>
          </p:cNvPr>
          <p:cNvSpPr/>
          <p:nvPr/>
        </p:nvSpPr>
        <p:spPr>
          <a:xfrm>
            <a:off x="1064330" y="1888116"/>
            <a:ext cx="2518636" cy="307979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3" name="מלבן: פינות מעוגלות 32">
            <a:extLst>
              <a:ext uri="{FF2B5EF4-FFF2-40B4-BE49-F238E27FC236}">
                <a16:creationId xmlns:a16="http://schemas.microsoft.com/office/drawing/2014/main" id="{AFB42D67-5DA5-E65A-B8CB-E508B57A16B5}"/>
              </a:ext>
            </a:extLst>
          </p:cNvPr>
          <p:cNvSpPr/>
          <p:nvPr/>
        </p:nvSpPr>
        <p:spPr>
          <a:xfrm>
            <a:off x="4855280" y="1888116"/>
            <a:ext cx="2518636" cy="307979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5" name="Oval 1">
            <a:extLst>
              <a:ext uri="{FF2B5EF4-FFF2-40B4-BE49-F238E27FC236}">
                <a16:creationId xmlns:a16="http://schemas.microsoft.com/office/drawing/2014/main" id="{C551401D-DF2B-FCD2-CF6E-B655077A5009}"/>
              </a:ext>
            </a:extLst>
          </p:cNvPr>
          <p:cNvSpPr/>
          <p:nvPr/>
        </p:nvSpPr>
        <p:spPr>
          <a:xfrm rot="6356543">
            <a:off x="7493739" y="3066388"/>
            <a:ext cx="1050495" cy="74330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39" name="תיבת טקסט 38">
            <a:extLst>
              <a:ext uri="{FF2B5EF4-FFF2-40B4-BE49-F238E27FC236}">
                <a16:creationId xmlns:a16="http://schemas.microsoft.com/office/drawing/2014/main" id="{61F2481B-9DE9-F355-83F6-50851EAE4F35}"/>
              </a:ext>
            </a:extLst>
          </p:cNvPr>
          <p:cNvSpPr txBox="1"/>
          <p:nvPr/>
        </p:nvSpPr>
        <p:spPr>
          <a:xfrm>
            <a:off x="8786175" y="2027343"/>
            <a:ext cx="2238745" cy="1015663"/>
          </a:xfrm>
          <a:prstGeom prst="rect">
            <a:avLst/>
          </a:prstGeom>
          <a:noFill/>
        </p:spPr>
        <p:txBody>
          <a:bodyPr wrap="square" rtlCol="0">
            <a:spAutoFit/>
          </a:bodyPr>
          <a:lstStyle/>
          <a:p>
            <a:r>
              <a:rPr lang="he-IL" sz="2000" b="0" i="0" dirty="0">
                <a:solidFill>
                  <a:schemeClr val="bg1"/>
                </a:solidFill>
                <a:effectLst/>
                <a:latin typeface="Rubik" pitchFamily="2" charset="-79"/>
                <a:cs typeface="Rubik" pitchFamily="2" charset="-79"/>
              </a:rPr>
              <a:t>שלב 1 – רשמו את כל המהלכים האפשריים</a:t>
            </a:r>
            <a:endParaRPr lang="he-IL" sz="2800" i="0" dirty="0">
              <a:solidFill>
                <a:schemeClr val="bg1"/>
              </a:solidFill>
              <a:effectLst/>
              <a:latin typeface="Rubik" pitchFamily="2" charset="-79"/>
              <a:cs typeface="Rubik" pitchFamily="2" charset="-79"/>
            </a:endParaRPr>
          </a:p>
        </p:txBody>
      </p:sp>
      <p:sp>
        <p:nvSpPr>
          <p:cNvPr id="40" name="תיבת טקסט 39">
            <a:extLst>
              <a:ext uri="{FF2B5EF4-FFF2-40B4-BE49-F238E27FC236}">
                <a16:creationId xmlns:a16="http://schemas.microsoft.com/office/drawing/2014/main" id="{959488A4-D0CF-5FA2-E316-83C357B05483}"/>
              </a:ext>
            </a:extLst>
          </p:cNvPr>
          <p:cNvSpPr txBox="1"/>
          <p:nvPr/>
        </p:nvSpPr>
        <p:spPr>
          <a:xfrm>
            <a:off x="5019015" y="2024851"/>
            <a:ext cx="2165174" cy="2554545"/>
          </a:xfrm>
          <a:prstGeom prst="rect">
            <a:avLst/>
          </a:prstGeom>
          <a:noFill/>
        </p:spPr>
        <p:txBody>
          <a:bodyPr wrap="square" rtlCol="0">
            <a:spAutoFit/>
          </a:bodyPr>
          <a:lstStyle/>
          <a:p>
            <a:r>
              <a:rPr lang="he-IL" sz="2000" b="0" i="0" dirty="0">
                <a:solidFill>
                  <a:schemeClr val="bg1"/>
                </a:solidFill>
                <a:effectLst/>
                <a:latin typeface="Rubik" pitchFamily="2" charset="-79"/>
                <a:cs typeface="Rubik" pitchFamily="2" charset="-79"/>
              </a:rPr>
              <a:t>שלב 2 – דרגו כל מהלך לפי שני פרמטרים:</a:t>
            </a:r>
            <a:br>
              <a:rPr lang="en-US" sz="2000" b="0" i="0" dirty="0">
                <a:solidFill>
                  <a:schemeClr val="bg1"/>
                </a:solidFill>
                <a:effectLst/>
                <a:latin typeface="Rubik" pitchFamily="2" charset="-79"/>
                <a:cs typeface="Rubik" pitchFamily="2" charset="-79"/>
              </a:rPr>
            </a:br>
            <a:endParaRPr lang="he-IL" sz="2000" b="0" i="0" dirty="0">
              <a:solidFill>
                <a:schemeClr val="bg1"/>
              </a:solidFill>
              <a:effectLst/>
              <a:latin typeface="Rubik" pitchFamily="2" charset="-79"/>
              <a:cs typeface="Rubik" pitchFamily="2" charset="-79"/>
            </a:endParaRPr>
          </a:p>
          <a:p>
            <a:pPr marL="342900" indent="-342900">
              <a:buFont typeface="Arial" panose="020B0604020202020204" pitchFamily="34" charset="0"/>
              <a:buChar char="•"/>
            </a:pPr>
            <a:r>
              <a:rPr lang="he-IL" sz="1600" b="1" dirty="0">
                <a:solidFill>
                  <a:schemeClr val="bg1"/>
                </a:solidFill>
                <a:latin typeface="Rubik" pitchFamily="2" charset="-79"/>
                <a:cs typeface="Rubik" pitchFamily="2" charset="-79"/>
              </a:rPr>
              <a:t>השפעה על היעד </a:t>
            </a:r>
            <a:r>
              <a:rPr lang="he-IL" sz="1600" dirty="0">
                <a:solidFill>
                  <a:schemeClr val="bg1"/>
                </a:solidFill>
                <a:latin typeface="Rubik" pitchFamily="2" charset="-79"/>
                <a:cs typeface="Rubik" pitchFamily="2" charset="-79"/>
              </a:rPr>
              <a:t>(נמוכה / בינונית / גבוהה)</a:t>
            </a:r>
          </a:p>
          <a:p>
            <a:pPr marL="342900" indent="-342900">
              <a:buFont typeface="Arial" panose="020B0604020202020204" pitchFamily="34" charset="0"/>
              <a:buChar char="•"/>
            </a:pPr>
            <a:r>
              <a:rPr lang="he-IL" sz="1600" b="1" dirty="0">
                <a:solidFill>
                  <a:schemeClr val="bg1"/>
                </a:solidFill>
                <a:latin typeface="Rubik" pitchFamily="2" charset="-79"/>
                <a:cs typeface="Rubik" pitchFamily="2" charset="-79"/>
              </a:rPr>
              <a:t>מאמץ נדרש </a:t>
            </a:r>
            <a:r>
              <a:rPr lang="he-IL" sz="1600" dirty="0">
                <a:solidFill>
                  <a:schemeClr val="bg1"/>
                </a:solidFill>
                <a:latin typeface="Rubik" pitchFamily="2" charset="-79"/>
                <a:cs typeface="Rubik" pitchFamily="2" charset="-79"/>
              </a:rPr>
              <a:t>(נמוך / בינוני / גבוה)</a:t>
            </a:r>
          </a:p>
        </p:txBody>
      </p:sp>
      <p:sp>
        <p:nvSpPr>
          <p:cNvPr id="41" name="תיבת טקסט 40">
            <a:extLst>
              <a:ext uri="{FF2B5EF4-FFF2-40B4-BE49-F238E27FC236}">
                <a16:creationId xmlns:a16="http://schemas.microsoft.com/office/drawing/2014/main" id="{AECEC354-B943-B9BA-4EDC-DB6C80C76A58}"/>
              </a:ext>
            </a:extLst>
          </p:cNvPr>
          <p:cNvSpPr txBox="1"/>
          <p:nvPr/>
        </p:nvSpPr>
        <p:spPr>
          <a:xfrm>
            <a:off x="1088333" y="2024851"/>
            <a:ext cx="2363156" cy="707886"/>
          </a:xfrm>
          <a:prstGeom prst="rect">
            <a:avLst/>
          </a:prstGeom>
          <a:noFill/>
        </p:spPr>
        <p:txBody>
          <a:bodyPr wrap="square" rtlCol="0">
            <a:spAutoFit/>
          </a:bodyPr>
          <a:lstStyle/>
          <a:p>
            <a:r>
              <a:rPr lang="he-IL" sz="2000" b="0" i="0" dirty="0">
                <a:solidFill>
                  <a:schemeClr val="bg1"/>
                </a:solidFill>
                <a:effectLst/>
                <a:latin typeface="Rubik" pitchFamily="2" charset="-79"/>
                <a:cs typeface="Rubik" pitchFamily="2" charset="-79"/>
              </a:rPr>
              <a:t>שלב 3 – מקמו בריבוע תיעדוף</a:t>
            </a:r>
            <a:endParaRPr lang="he-IL" sz="2800" i="0" dirty="0">
              <a:solidFill>
                <a:schemeClr val="bg1"/>
              </a:solidFill>
              <a:effectLst/>
              <a:latin typeface="Rubik" pitchFamily="2" charset="-79"/>
              <a:cs typeface="Rubik" pitchFamily="2" charset="-79"/>
            </a:endParaRPr>
          </a:p>
        </p:txBody>
      </p:sp>
      <p:sp>
        <p:nvSpPr>
          <p:cNvPr id="42" name="Oval 1">
            <a:extLst>
              <a:ext uri="{FF2B5EF4-FFF2-40B4-BE49-F238E27FC236}">
                <a16:creationId xmlns:a16="http://schemas.microsoft.com/office/drawing/2014/main" id="{CA5F9EA3-3718-F99D-D772-F7967F31FFEC}"/>
              </a:ext>
            </a:extLst>
          </p:cNvPr>
          <p:cNvSpPr/>
          <p:nvPr/>
        </p:nvSpPr>
        <p:spPr>
          <a:xfrm rot="6356543">
            <a:off x="3744840" y="3014342"/>
            <a:ext cx="1050495" cy="74330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aphicFrame>
        <p:nvGraphicFramePr>
          <p:cNvPr id="44" name="טבלה 43">
            <a:extLst>
              <a:ext uri="{FF2B5EF4-FFF2-40B4-BE49-F238E27FC236}">
                <a16:creationId xmlns:a16="http://schemas.microsoft.com/office/drawing/2014/main" id="{2AF9CDFF-5436-41CA-16E1-68A0DE0E404C}"/>
              </a:ext>
            </a:extLst>
          </p:cNvPr>
          <p:cNvGraphicFramePr>
            <a:graphicFrameLocks noGrp="1"/>
          </p:cNvGraphicFramePr>
          <p:nvPr>
            <p:extLst>
              <p:ext uri="{D42A27DB-BD31-4B8C-83A1-F6EECF244321}">
                <p14:modId xmlns:p14="http://schemas.microsoft.com/office/powerpoint/2010/main" val="408765309"/>
              </p:ext>
            </p:extLst>
          </p:nvPr>
        </p:nvGraphicFramePr>
        <p:xfrm>
          <a:off x="1132356" y="2859273"/>
          <a:ext cx="2361552" cy="1967364"/>
        </p:xfrm>
        <a:graphic>
          <a:graphicData uri="http://schemas.openxmlformats.org/drawingml/2006/table">
            <a:tbl>
              <a:tblPr rtl="1" firstRow="1" bandRow="1">
                <a:tableStyleId>{5C22544A-7EE6-4342-B048-85BDC9FD1C3A}</a:tableStyleId>
              </a:tblPr>
              <a:tblGrid>
                <a:gridCol w="787184">
                  <a:extLst>
                    <a:ext uri="{9D8B030D-6E8A-4147-A177-3AD203B41FA5}">
                      <a16:colId xmlns:a16="http://schemas.microsoft.com/office/drawing/2014/main" val="1429256131"/>
                    </a:ext>
                  </a:extLst>
                </a:gridCol>
                <a:gridCol w="787184">
                  <a:extLst>
                    <a:ext uri="{9D8B030D-6E8A-4147-A177-3AD203B41FA5}">
                      <a16:colId xmlns:a16="http://schemas.microsoft.com/office/drawing/2014/main" val="3587124123"/>
                    </a:ext>
                  </a:extLst>
                </a:gridCol>
                <a:gridCol w="787184">
                  <a:extLst>
                    <a:ext uri="{9D8B030D-6E8A-4147-A177-3AD203B41FA5}">
                      <a16:colId xmlns:a16="http://schemas.microsoft.com/office/drawing/2014/main" val="829352002"/>
                    </a:ext>
                  </a:extLst>
                </a:gridCol>
              </a:tblGrid>
              <a:tr h="655788">
                <a:tc>
                  <a:txBody>
                    <a:bodyPr/>
                    <a:lstStyle/>
                    <a:p>
                      <a:pPr rtl="1"/>
                      <a:endParaRPr lang="he-IL" sz="1400" dirty="0">
                        <a:latin typeface="Rubik" pitchFamily="2" charset="-79"/>
                        <a:cs typeface="Rubik"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r>
                        <a:rPr lang="he-IL" sz="1400" dirty="0">
                          <a:latin typeface="Rubik" pitchFamily="2" charset="-79"/>
                          <a:cs typeface="Rubik" pitchFamily="2" charset="-79"/>
                        </a:rPr>
                        <a:t>מאמץ גבוהה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r>
                        <a:rPr lang="he-IL" sz="1400" dirty="0">
                          <a:latin typeface="Rubik" pitchFamily="2" charset="-79"/>
                          <a:cs typeface="Rubik" pitchFamily="2" charset="-79"/>
                        </a:rPr>
                        <a:t>מאמץ נמוך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0027307"/>
                  </a:ext>
                </a:extLst>
              </a:tr>
              <a:tr h="655788">
                <a:tc>
                  <a:txBody>
                    <a:bodyPr/>
                    <a:lstStyle/>
                    <a:p>
                      <a:pPr marL="0" algn="r" defTabSz="914400" rtl="1" eaLnBrk="1" latinLnBrk="0" hangingPunct="1"/>
                      <a:r>
                        <a:rPr lang="he-IL" sz="1400" b="1" kern="1200" dirty="0">
                          <a:solidFill>
                            <a:schemeClr val="lt1"/>
                          </a:solidFill>
                          <a:latin typeface="Rubik" pitchFamily="2" charset="-79"/>
                          <a:ea typeface="+mn-ea"/>
                          <a:cs typeface="Rubik" pitchFamily="2" charset="-79"/>
                        </a:rPr>
                        <a:t>השפעה גבוהה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he-IL" sz="1400" dirty="0">
                        <a:latin typeface="Rubik" pitchFamily="2" charset="-79"/>
                        <a:cs typeface="Rubik"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he-IL" sz="1400">
                        <a:latin typeface="Rubik" pitchFamily="2" charset="-79"/>
                        <a:cs typeface="Rubik"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2330559"/>
                  </a:ext>
                </a:extLst>
              </a:tr>
              <a:tr h="655788">
                <a:tc>
                  <a:txBody>
                    <a:bodyPr/>
                    <a:lstStyle/>
                    <a:p>
                      <a:pPr marL="0" algn="r" defTabSz="914400" rtl="1" eaLnBrk="1" latinLnBrk="0" hangingPunct="1"/>
                      <a:r>
                        <a:rPr lang="he-IL" sz="1400" b="1" kern="1200" dirty="0">
                          <a:solidFill>
                            <a:schemeClr val="lt1"/>
                          </a:solidFill>
                          <a:latin typeface="Rubik" pitchFamily="2" charset="-79"/>
                          <a:ea typeface="+mn-ea"/>
                          <a:cs typeface="Rubik" pitchFamily="2" charset="-79"/>
                        </a:rPr>
                        <a:t>השפעה נמוכה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he-IL" sz="1400">
                        <a:latin typeface="Rubik" pitchFamily="2" charset="-79"/>
                        <a:cs typeface="Rubik"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he-IL" sz="1400" dirty="0">
                        <a:latin typeface="Rubik" pitchFamily="2" charset="-79"/>
                        <a:cs typeface="Rubik"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703062"/>
                  </a:ext>
                </a:extLst>
              </a:tr>
            </a:tbl>
          </a:graphicData>
        </a:graphic>
      </p:graphicFrame>
      <p:sp>
        <p:nvSpPr>
          <p:cNvPr id="46" name="תיבת טקסט 45">
            <a:extLst>
              <a:ext uri="{FF2B5EF4-FFF2-40B4-BE49-F238E27FC236}">
                <a16:creationId xmlns:a16="http://schemas.microsoft.com/office/drawing/2014/main" id="{DD2A5B7B-BD8C-E81C-26D5-2EBC6B71AFE4}"/>
              </a:ext>
            </a:extLst>
          </p:cNvPr>
          <p:cNvSpPr txBox="1"/>
          <p:nvPr/>
        </p:nvSpPr>
        <p:spPr>
          <a:xfrm>
            <a:off x="1773615" y="5160816"/>
            <a:ext cx="8644771" cy="1200329"/>
          </a:xfrm>
          <a:prstGeom prst="rect">
            <a:avLst/>
          </a:prstGeom>
          <a:noFill/>
        </p:spPr>
        <p:txBody>
          <a:bodyPr wrap="square">
            <a:spAutoFit/>
          </a:bodyPr>
          <a:lstStyle/>
          <a:p>
            <a:pPr algn="ctr">
              <a:buNone/>
            </a:pPr>
            <a:r>
              <a:rPr lang="he-IL" b="1" dirty="0">
                <a:latin typeface="Rubik" pitchFamily="2" charset="-79"/>
                <a:cs typeface="Rubik" pitchFamily="2" charset="-79"/>
              </a:rPr>
              <a:t>איך משתמשים בזה בפועל?</a:t>
            </a:r>
          </a:p>
          <a:p>
            <a:pPr marL="285750" indent="-285750">
              <a:buFont typeface="Arial" panose="020B0604020202020204" pitchFamily="34" charset="0"/>
              <a:buChar char="•"/>
            </a:pPr>
            <a:r>
              <a:rPr lang="he-IL" dirty="0">
                <a:latin typeface="Rubik" pitchFamily="2" charset="-79"/>
                <a:cs typeface="Rubik" pitchFamily="2" charset="-79"/>
              </a:rPr>
              <a:t>התחילו ממהלכים בעלי השפעה גבוהה ומאמץ נמוך</a:t>
            </a:r>
          </a:p>
          <a:p>
            <a:pPr marL="285750" indent="-285750">
              <a:buFont typeface="Arial" panose="020B0604020202020204" pitchFamily="34" charset="0"/>
              <a:buChar char="•"/>
            </a:pPr>
            <a:r>
              <a:rPr lang="he-IL" dirty="0">
                <a:latin typeface="Rubik" pitchFamily="2" charset="-79"/>
                <a:cs typeface="Rubik" pitchFamily="2" charset="-79"/>
              </a:rPr>
              <a:t>אל תעמיסו על השנה מהלכים כבדים מדי</a:t>
            </a:r>
          </a:p>
          <a:p>
            <a:pPr marL="285750" indent="-285750">
              <a:buFont typeface="Arial" panose="020B0604020202020204" pitchFamily="34" charset="0"/>
              <a:buChar char="•"/>
            </a:pPr>
            <a:r>
              <a:rPr lang="he-IL" dirty="0">
                <a:latin typeface="Rubik" pitchFamily="2" charset="-79"/>
                <a:cs typeface="Rubik" pitchFamily="2" charset="-79"/>
              </a:rPr>
              <a:t>ודאו שיש איזון בין “מהיר להשגה” לבין “מהלך אסטרטגי משמעותי”</a:t>
            </a:r>
          </a:p>
        </p:txBody>
      </p:sp>
    </p:spTree>
    <p:extLst>
      <p:ext uri="{BB962C8B-B14F-4D97-AF65-F5344CB8AC3E}">
        <p14:creationId xmlns:p14="http://schemas.microsoft.com/office/powerpoint/2010/main" val="4164909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571E-F587-719E-12A6-93189BEC721A}"/>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1F2C52C9-90F3-43BD-8033-690AC903EB09}"/>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תכנית העבודה שלי</a:t>
            </a:r>
          </a:p>
        </p:txBody>
      </p:sp>
      <p:sp>
        <p:nvSpPr>
          <p:cNvPr id="25" name="תיבת טקסט 24">
            <a:extLst>
              <a:ext uri="{FF2B5EF4-FFF2-40B4-BE49-F238E27FC236}">
                <a16:creationId xmlns:a16="http://schemas.microsoft.com/office/drawing/2014/main" id="{AC885FA2-446B-6A88-E119-60616A5647A5}"/>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ניהול מבוסס יעדים</a:t>
            </a:r>
            <a:endParaRPr lang="he-IL" sz="2800" i="0" dirty="0">
              <a:solidFill>
                <a:srgbClr val="000000"/>
              </a:solidFill>
              <a:effectLst/>
              <a:latin typeface="Rubik" pitchFamily="2" charset="-79"/>
              <a:cs typeface="Rubik" pitchFamily="2" charset="-79"/>
            </a:endParaRPr>
          </a:p>
        </p:txBody>
      </p:sp>
      <p:sp>
        <p:nvSpPr>
          <p:cNvPr id="7" name="תיבת טקסט 6">
            <a:extLst>
              <a:ext uri="{FF2B5EF4-FFF2-40B4-BE49-F238E27FC236}">
                <a16:creationId xmlns:a16="http://schemas.microsoft.com/office/drawing/2014/main" id="{16360CA5-0E97-CE34-98C5-2347147F5D2D}"/>
              </a:ext>
            </a:extLst>
          </p:cNvPr>
          <p:cNvSpPr txBox="1"/>
          <p:nvPr/>
        </p:nvSpPr>
        <p:spPr>
          <a:xfrm>
            <a:off x="1612899" y="1899758"/>
            <a:ext cx="10143553" cy="17088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תכנית עבודה נגזרת מהאסטרטגיה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כוללת יעדים מדידים</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נבחנת פעמיים בשנה (חציון וסוף שנה)</a:t>
            </a:r>
          </a:p>
          <a:p>
            <a:pPr marL="285750" indent="-285750">
              <a:lnSpc>
                <a:spcPct val="150000"/>
              </a:lnSpc>
              <a:buFont typeface="Arial" panose="020B0604020202020204" pitchFamily="34" charset="0"/>
              <a:buChar char="•"/>
            </a:pPr>
            <a:r>
              <a:rPr lang="he-IL" b="0" i="0" dirty="0">
                <a:solidFill>
                  <a:srgbClr val="000000"/>
                </a:solidFill>
                <a:effectLst/>
                <a:latin typeface="Rubik" pitchFamily="2" charset="-79"/>
                <a:cs typeface="Rubik" pitchFamily="2" charset="-79"/>
              </a:rPr>
              <a:t>מלווה במדדים ובבקרה</a:t>
            </a:r>
          </a:p>
        </p:txBody>
      </p:sp>
      <p:sp>
        <p:nvSpPr>
          <p:cNvPr id="9" name="Oval 27">
            <a:extLst>
              <a:ext uri="{FF2B5EF4-FFF2-40B4-BE49-F238E27FC236}">
                <a16:creationId xmlns:a16="http://schemas.microsoft.com/office/drawing/2014/main" id="{983A9E7F-5F04-3C9D-5865-C356C0523D07}"/>
              </a:ext>
            </a:extLst>
          </p:cNvPr>
          <p:cNvSpPr/>
          <p:nvPr/>
        </p:nvSpPr>
        <p:spPr>
          <a:xfrm>
            <a:off x="3803660" y="5519957"/>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מלבן: פינות מעוגלות 9">
            <a:extLst>
              <a:ext uri="{FF2B5EF4-FFF2-40B4-BE49-F238E27FC236}">
                <a16:creationId xmlns:a16="http://schemas.microsoft.com/office/drawing/2014/main" id="{1A6323F8-695C-B3EF-FD8C-5FC5F41A466E}"/>
              </a:ext>
            </a:extLst>
          </p:cNvPr>
          <p:cNvSpPr/>
          <p:nvPr/>
        </p:nvSpPr>
        <p:spPr>
          <a:xfrm>
            <a:off x="895110" y="5734948"/>
            <a:ext cx="3553428"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להורדת קובץ עזר לבניית </a:t>
            </a:r>
            <a:r>
              <a:rPr lang="he-IL" sz="1400" dirty="0" err="1">
                <a:solidFill>
                  <a:schemeClr val="bg1"/>
                </a:solidFill>
                <a:latin typeface="Rubik" pitchFamily="2" charset="-79"/>
                <a:cs typeface="Rubik" pitchFamily="2" charset="-79"/>
              </a:rPr>
              <a:t>תכניות</a:t>
            </a:r>
            <a:r>
              <a:rPr lang="he-IL" sz="1400" dirty="0">
                <a:solidFill>
                  <a:schemeClr val="bg1"/>
                </a:solidFill>
                <a:latin typeface="Rubik" pitchFamily="2" charset="-79"/>
                <a:cs typeface="Rubik" pitchFamily="2" charset="-79"/>
              </a:rPr>
              <a:t> עבודה</a:t>
            </a:r>
          </a:p>
        </p:txBody>
      </p:sp>
      <p:grpSp>
        <p:nvGrpSpPr>
          <p:cNvPr id="20" name="קבוצה 19">
            <a:extLst>
              <a:ext uri="{FF2B5EF4-FFF2-40B4-BE49-F238E27FC236}">
                <a16:creationId xmlns:a16="http://schemas.microsoft.com/office/drawing/2014/main" id="{6107061B-CD69-1C6A-5E94-99908DF0F853}"/>
              </a:ext>
            </a:extLst>
          </p:cNvPr>
          <p:cNvGrpSpPr/>
          <p:nvPr/>
        </p:nvGrpSpPr>
        <p:grpSpPr>
          <a:xfrm>
            <a:off x="7263813" y="4352425"/>
            <a:ext cx="4497343" cy="528644"/>
            <a:chOff x="7263813" y="4352425"/>
            <a:chExt cx="4497343" cy="528644"/>
          </a:xfrm>
        </p:grpSpPr>
        <p:sp>
          <p:nvSpPr>
            <p:cNvPr id="11" name="תיבת טקסט 10">
              <a:extLst>
                <a:ext uri="{FF2B5EF4-FFF2-40B4-BE49-F238E27FC236}">
                  <a16:creationId xmlns:a16="http://schemas.microsoft.com/office/drawing/2014/main" id="{CE4AD938-CAA1-B5DE-5E54-E49C6B5DE393}"/>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כיצד בנויה תכנית העבודה</a:t>
              </a:r>
              <a:endParaRPr lang="he-IL" sz="2400" i="0" dirty="0">
                <a:solidFill>
                  <a:srgbClr val="009CE1"/>
                </a:solidFill>
                <a:effectLst/>
                <a:latin typeface="Rubik" pitchFamily="2" charset="-79"/>
                <a:cs typeface="Rubik" pitchFamily="2" charset="-79"/>
              </a:endParaRPr>
            </a:p>
          </p:txBody>
        </p:sp>
        <p:grpSp>
          <p:nvGrpSpPr>
            <p:cNvPr id="12" name="קבוצה 11">
              <a:extLst>
                <a:ext uri="{FF2B5EF4-FFF2-40B4-BE49-F238E27FC236}">
                  <a16:creationId xmlns:a16="http://schemas.microsoft.com/office/drawing/2014/main" id="{C5BE1960-18DE-82F8-8F5D-171086486973}"/>
                </a:ext>
              </a:extLst>
            </p:cNvPr>
            <p:cNvGrpSpPr/>
            <p:nvPr/>
          </p:nvGrpSpPr>
          <p:grpSpPr>
            <a:xfrm>
              <a:off x="11232512" y="4352425"/>
              <a:ext cx="528644" cy="528644"/>
              <a:chOff x="11238905" y="4653366"/>
              <a:chExt cx="657179" cy="657179"/>
            </a:xfrm>
          </p:grpSpPr>
          <p:sp>
            <p:nvSpPr>
              <p:cNvPr id="13" name="אליפסה 12">
                <a:extLst>
                  <a:ext uri="{FF2B5EF4-FFF2-40B4-BE49-F238E27FC236}">
                    <a16:creationId xmlns:a16="http://schemas.microsoft.com/office/drawing/2014/main" id="{3FD86156-F13B-8F86-254F-A15E4BF3359D}"/>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4" name="תמונה 13" descr="תמונה שמכילה עיגול, סמל, גרפיקה, לבן&#10;&#10;התיאור נוצר באופן אוטומטי">
                <a:extLst>
                  <a:ext uri="{FF2B5EF4-FFF2-40B4-BE49-F238E27FC236}">
                    <a16:creationId xmlns:a16="http://schemas.microsoft.com/office/drawing/2014/main" id="{96B6A78E-F58D-9D33-DC60-F81E57D7A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5" name="תיבת טקסט 14">
            <a:extLst>
              <a:ext uri="{FF2B5EF4-FFF2-40B4-BE49-F238E27FC236}">
                <a16:creationId xmlns:a16="http://schemas.microsoft.com/office/drawing/2014/main" id="{323E0B26-2F78-07B6-F4F8-BF02096E37FB}"/>
              </a:ext>
            </a:extLst>
          </p:cNvPr>
          <p:cNvSpPr txBox="1"/>
          <p:nvPr/>
        </p:nvSpPr>
        <p:spPr>
          <a:xfrm>
            <a:off x="4698789" y="3908521"/>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grpSp>
        <p:nvGrpSpPr>
          <p:cNvPr id="21" name="קבוצה 20">
            <a:extLst>
              <a:ext uri="{FF2B5EF4-FFF2-40B4-BE49-F238E27FC236}">
                <a16:creationId xmlns:a16="http://schemas.microsoft.com/office/drawing/2014/main" id="{49C2D3B2-69D0-00D7-E43B-19A35E1C1038}"/>
              </a:ext>
            </a:extLst>
          </p:cNvPr>
          <p:cNvGrpSpPr/>
          <p:nvPr/>
        </p:nvGrpSpPr>
        <p:grpSpPr>
          <a:xfrm>
            <a:off x="7263813" y="5035003"/>
            <a:ext cx="4497343" cy="528644"/>
            <a:chOff x="7263813" y="4352425"/>
            <a:chExt cx="4497343" cy="528644"/>
          </a:xfrm>
        </p:grpSpPr>
        <p:sp>
          <p:nvSpPr>
            <p:cNvPr id="22" name="תיבת טקסט 21">
              <a:extLst>
                <a:ext uri="{FF2B5EF4-FFF2-40B4-BE49-F238E27FC236}">
                  <a16:creationId xmlns:a16="http://schemas.microsoft.com/office/drawing/2014/main" id="{EE400AE5-68AC-CD21-AEA5-78A731833AEA}"/>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עקרונות חשובים למנהלים חדשים	</a:t>
              </a:r>
              <a:endParaRPr lang="he-IL" sz="2400" i="0" dirty="0">
                <a:solidFill>
                  <a:srgbClr val="009CE1"/>
                </a:solidFill>
                <a:effectLst/>
                <a:latin typeface="Rubik" pitchFamily="2" charset="-79"/>
                <a:cs typeface="Rubik" pitchFamily="2" charset="-79"/>
              </a:endParaRPr>
            </a:p>
          </p:txBody>
        </p:sp>
        <p:grpSp>
          <p:nvGrpSpPr>
            <p:cNvPr id="23" name="קבוצה 22">
              <a:extLst>
                <a:ext uri="{FF2B5EF4-FFF2-40B4-BE49-F238E27FC236}">
                  <a16:creationId xmlns:a16="http://schemas.microsoft.com/office/drawing/2014/main" id="{22E74A59-6A9C-49E9-A806-34EA0167CF81}"/>
                </a:ext>
              </a:extLst>
            </p:cNvPr>
            <p:cNvGrpSpPr/>
            <p:nvPr/>
          </p:nvGrpSpPr>
          <p:grpSpPr>
            <a:xfrm>
              <a:off x="11232512" y="4352425"/>
              <a:ext cx="528644" cy="528644"/>
              <a:chOff x="11238905" y="4653366"/>
              <a:chExt cx="657179" cy="657179"/>
            </a:xfrm>
          </p:grpSpPr>
          <p:sp>
            <p:nvSpPr>
              <p:cNvPr id="26" name="אליפסה 25">
                <a:extLst>
                  <a:ext uri="{FF2B5EF4-FFF2-40B4-BE49-F238E27FC236}">
                    <a16:creationId xmlns:a16="http://schemas.microsoft.com/office/drawing/2014/main" id="{2BE3BCD3-3ED8-5973-2A9F-85AC98CC1A4B}"/>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9FC5E050-FDEB-2AFE-77B0-3F4D92E5F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grpSp>
        <p:nvGrpSpPr>
          <p:cNvPr id="28" name="קבוצה 27">
            <a:extLst>
              <a:ext uri="{FF2B5EF4-FFF2-40B4-BE49-F238E27FC236}">
                <a16:creationId xmlns:a16="http://schemas.microsoft.com/office/drawing/2014/main" id="{0101A957-89F0-CC99-C1F2-1365BAE63ECE}"/>
              </a:ext>
            </a:extLst>
          </p:cNvPr>
          <p:cNvGrpSpPr/>
          <p:nvPr/>
        </p:nvGrpSpPr>
        <p:grpSpPr>
          <a:xfrm>
            <a:off x="7263813" y="5717581"/>
            <a:ext cx="4497343" cy="528644"/>
            <a:chOff x="7263813" y="4352425"/>
            <a:chExt cx="4497343" cy="528644"/>
          </a:xfrm>
        </p:grpSpPr>
        <p:sp>
          <p:nvSpPr>
            <p:cNvPr id="29" name="תיבת טקסט 28">
              <a:extLst>
                <a:ext uri="{FF2B5EF4-FFF2-40B4-BE49-F238E27FC236}">
                  <a16:creationId xmlns:a16="http://schemas.microsoft.com/office/drawing/2014/main" id="{18EC8BE1-7ABC-9F52-4721-AE18C3EE08E1}"/>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Black" pitchFamily="2" charset="-79"/>
                  <a:cs typeface="Rubik Black" pitchFamily="2" charset="-79"/>
                </a:rPr>
                <a:t>כלים שיעזרו לכם</a:t>
              </a:r>
              <a:endParaRPr lang="he-IL" sz="2400" i="0" dirty="0">
                <a:solidFill>
                  <a:srgbClr val="009CE1"/>
                </a:solidFill>
                <a:effectLst/>
                <a:latin typeface="Rubik Black" pitchFamily="2" charset="-79"/>
                <a:cs typeface="Rubik Black" pitchFamily="2" charset="-79"/>
              </a:endParaRPr>
            </a:p>
          </p:txBody>
        </p:sp>
        <p:grpSp>
          <p:nvGrpSpPr>
            <p:cNvPr id="30" name="קבוצה 29">
              <a:extLst>
                <a:ext uri="{FF2B5EF4-FFF2-40B4-BE49-F238E27FC236}">
                  <a16:creationId xmlns:a16="http://schemas.microsoft.com/office/drawing/2014/main" id="{968BC31F-21EC-A602-17A3-67FD5A27AA10}"/>
                </a:ext>
              </a:extLst>
            </p:cNvPr>
            <p:cNvGrpSpPr/>
            <p:nvPr/>
          </p:nvGrpSpPr>
          <p:grpSpPr>
            <a:xfrm>
              <a:off x="11232512" y="4352425"/>
              <a:ext cx="528644" cy="528644"/>
              <a:chOff x="11238905" y="4653366"/>
              <a:chExt cx="657179" cy="657179"/>
            </a:xfrm>
          </p:grpSpPr>
          <p:sp>
            <p:nvSpPr>
              <p:cNvPr id="31" name="אליפסה 30">
                <a:extLst>
                  <a:ext uri="{FF2B5EF4-FFF2-40B4-BE49-F238E27FC236}">
                    <a16:creationId xmlns:a16="http://schemas.microsoft.com/office/drawing/2014/main" id="{AAD3B5C8-DE37-75A4-6F3E-1B8865E271FB}"/>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2" name="תמונה 31" descr="תמונה שמכילה עיגול, סמל, גרפיקה, לבן&#10;&#10;התיאור נוצר באופן אוטומטי">
                <a:extLst>
                  <a:ext uri="{FF2B5EF4-FFF2-40B4-BE49-F238E27FC236}">
                    <a16:creationId xmlns:a16="http://schemas.microsoft.com/office/drawing/2014/main" id="{8441D5FE-D72B-FEF5-D687-629080882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cxnSp>
        <p:nvCxnSpPr>
          <p:cNvPr id="34" name="מחבר ישר 33">
            <a:extLst>
              <a:ext uri="{FF2B5EF4-FFF2-40B4-BE49-F238E27FC236}">
                <a16:creationId xmlns:a16="http://schemas.microsoft.com/office/drawing/2014/main" id="{11A75683-DE6F-733E-5444-852C9E0B5E73}"/>
              </a:ext>
            </a:extLst>
          </p:cNvPr>
          <p:cNvCxnSpPr/>
          <p:nvPr/>
        </p:nvCxnSpPr>
        <p:spPr>
          <a:xfrm>
            <a:off x="7743463" y="4247075"/>
            <a:ext cx="0" cy="2119001"/>
          </a:xfrm>
          <a:prstGeom prst="line">
            <a:avLst/>
          </a:prstGeom>
        </p:spPr>
        <p:style>
          <a:lnRef idx="2">
            <a:schemeClr val="accent1"/>
          </a:lnRef>
          <a:fillRef idx="0">
            <a:schemeClr val="accent1"/>
          </a:fillRef>
          <a:effectRef idx="1">
            <a:schemeClr val="accent1"/>
          </a:effectRef>
          <a:fontRef idx="minor">
            <a:schemeClr val="tx1"/>
          </a:fontRef>
        </p:style>
      </p:cxnSp>
      <p:sp>
        <p:nvSpPr>
          <p:cNvPr id="2" name="תיבת טקסט 1">
            <a:extLst>
              <a:ext uri="{FF2B5EF4-FFF2-40B4-BE49-F238E27FC236}">
                <a16:creationId xmlns:a16="http://schemas.microsoft.com/office/drawing/2014/main" id="{88E47ADF-8DA0-F8EB-1B93-6F18D9FFBAA4}"/>
              </a:ext>
            </a:extLst>
          </p:cNvPr>
          <p:cNvSpPr txBox="1"/>
          <p:nvPr/>
        </p:nvSpPr>
        <p:spPr>
          <a:xfrm>
            <a:off x="3295114" y="450342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ניתוח </a:t>
            </a:r>
            <a:r>
              <a:rPr lang="en-US" b="0" i="0" dirty="0">
                <a:solidFill>
                  <a:srgbClr val="009CE1"/>
                </a:solidFill>
                <a:effectLst/>
                <a:latin typeface="Rubik" pitchFamily="2" charset="-79"/>
                <a:cs typeface="Rubik" pitchFamily="2" charset="-79"/>
              </a:rPr>
              <a:t>SWOT</a:t>
            </a:r>
            <a:endParaRPr lang="he-IL" sz="2400" i="0" dirty="0">
              <a:solidFill>
                <a:srgbClr val="009CE1"/>
              </a:solidFill>
              <a:effectLst/>
              <a:latin typeface="Rubik" pitchFamily="2" charset="-79"/>
              <a:cs typeface="Rubik" pitchFamily="2" charset="-79"/>
            </a:endParaRPr>
          </a:p>
        </p:txBody>
      </p:sp>
      <p:sp>
        <p:nvSpPr>
          <p:cNvPr id="3" name="תיבת טקסט 2">
            <a:extLst>
              <a:ext uri="{FF2B5EF4-FFF2-40B4-BE49-F238E27FC236}">
                <a16:creationId xmlns:a16="http://schemas.microsoft.com/office/drawing/2014/main" id="{BE3D2041-192A-D447-5CCA-EFEA772C5F4F}"/>
              </a:ext>
            </a:extLst>
          </p:cNvPr>
          <p:cNvSpPr txBox="1"/>
          <p:nvPr/>
        </p:nvSpPr>
        <p:spPr>
          <a:xfrm>
            <a:off x="3295114" y="4958745"/>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SMART</a:t>
            </a:r>
            <a:endParaRPr lang="he-IL" sz="2400" i="0" dirty="0">
              <a:solidFill>
                <a:srgbClr val="009CE1"/>
              </a:solidFill>
              <a:effectLst/>
              <a:latin typeface="Rubik" pitchFamily="2" charset="-79"/>
              <a:cs typeface="Rubik" pitchFamily="2" charset="-79"/>
            </a:endParaRPr>
          </a:p>
        </p:txBody>
      </p:sp>
      <p:sp>
        <p:nvSpPr>
          <p:cNvPr id="4" name="תיבת טקסט 3">
            <a:extLst>
              <a:ext uri="{FF2B5EF4-FFF2-40B4-BE49-F238E27FC236}">
                <a16:creationId xmlns:a16="http://schemas.microsoft.com/office/drawing/2014/main" id="{E65233B8-FBB2-0A50-00B1-684FC271C63D}"/>
              </a:ext>
            </a:extLst>
          </p:cNvPr>
          <p:cNvSpPr txBox="1"/>
          <p:nvPr/>
        </p:nvSpPr>
        <p:spPr>
          <a:xfrm>
            <a:off x="3295114" y="5414068"/>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מודל </a:t>
            </a:r>
            <a:r>
              <a:rPr lang="en-US" b="0" i="0" dirty="0">
                <a:solidFill>
                  <a:srgbClr val="009CE1"/>
                </a:solidFill>
                <a:effectLst/>
                <a:latin typeface="Rubik" pitchFamily="2" charset="-79"/>
                <a:cs typeface="Rubik" pitchFamily="2" charset="-79"/>
              </a:rPr>
              <a:t>KPI</a:t>
            </a:r>
            <a:endParaRPr lang="he-IL" sz="2400" i="0" dirty="0">
              <a:solidFill>
                <a:srgbClr val="009CE1"/>
              </a:solidFill>
              <a:effectLst/>
              <a:latin typeface="Rubik" pitchFamily="2" charset="-79"/>
              <a:cs typeface="Rubik" pitchFamily="2" charset="-79"/>
            </a:endParaRPr>
          </a:p>
        </p:txBody>
      </p:sp>
      <p:sp>
        <p:nvSpPr>
          <p:cNvPr id="5" name="תיבת טקסט 4">
            <a:extLst>
              <a:ext uri="{FF2B5EF4-FFF2-40B4-BE49-F238E27FC236}">
                <a16:creationId xmlns:a16="http://schemas.microsoft.com/office/drawing/2014/main" id="{2D1B3252-DE33-4640-56CE-96990FDFA723}"/>
              </a:ext>
            </a:extLst>
          </p:cNvPr>
          <p:cNvSpPr txBox="1"/>
          <p:nvPr/>
        </p:nvSpPr>
        <p:spPr>
          <a:xfrm>
            <a:off x="517314" y="3917205"/>
            <a:ext cx="7057663" cy="584775"/>
          </a:xfrm>
          <a:prstGeom prst="rect">
            <a:avLst/>
          </a:prstGeom>
          <a:noFill/>
        </p:spPr>
        <p:txBody>
          <a:bodyPr wrap="square">
            <a:spAutoFit/>
          </a:bodyPr>
          <a:lstStyle/>
          <a:p>
            <a:pPr>
              <a:buNone/>
            </a:pPr>
            <a:r>
              <a:rPr lang="he-IL" sz="1600" dirty="0">
                <a:latin typeface="Rubik" pitchFamily="2" charset="-79"/>
                <a:cs typeface="Rubik" pitchFamily="2" charset="-79"/>
              </a:rPr>
              <a:t>לעזרתם, מספר כלים ומודלים שיסייעו בתהליך הגדרת תכנית עבודה:</a:t>
            </a:r>
          </a:p>
          <a:p>
            <a:pPr>
              <a:buNone/>
            </a:pPr>
            <a:r>
              <a:rPr lang="he-IL" sz="1600" dirty="0">
                <a:latin typeface="Rubik" pitchFamily="2" charset="-79"/>
                <a:cs typeface="Rubik" pitchFamily="2" charset="-79"/>
              </a:rPr>
              <a:t>לחצו להרחבה.</a:t>
            </a:r>
          </a:p>
        </p:txBody>
      </p:sp>
      <p:sp>
        <p:nvSpPr>
          <p:cNvPr id="6" name="מלבן 5">
            <a:extLst>
              <a:ext uri="{FF2B5EF4-FFF2-40B4-BE49-F238E27FC236}">
                <a16:creationId xmlns:a16="http://schemas.microsoft.com/office/drawing/2014/main" id="{1E57850C-4EE0-2A89-4FA5-3D1DDC082725}"/>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מלבן: פינות מעוגלות 7">
            <a:extLst>
              <a:ext uri="{FF2B5EF4-FFF2-40B4-BE49-F238E27FC236}">
                <a16:creationId xmlns:a16="http://schemas.microsoft.com/office/drawing/2014/main" id="{3879796D-3205-775F-86FD-EA72C257282B}"/>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תיבת טקסט 15">
            <a:extLst>
              <a:ext uri="{FF2B5EF4-FFF2-40B4-BE49-F238E27FC236}">
                <a16:creationId xmlns:a16="http://schemas.microsoft.com/office/drawing/2014/main" id="{15B03C72-DA85-6F08-EE1E-7F4B407850E1}"/>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מודל </a:t>
            </a:r>
            <a:r>
              <a:rPr lang="en-US" sz="3200" dirty="0">
                <a:latin typeface="Rubik Black" pitchFamily="2" charset="-79"/>
                <a:cs typeface="Rubik Black" pitchFamily="2" charset="-79"/>
              </a:rPr>
              <a:t>SMART</a:t>
            </a:r>
            <a:endParaRPr lang="he-IL" sz="3200" dirty="0">
              <a:latin typeface="Rubik Black" pitchFamily="2" charset="-79"/>
              <a:cs typeface="Rubik Black" pitchFamily="2" charset="-79"/>
            </a:endParaRPr>
          </a:p>
        </p:txBody>
      </p:sp>
      <p:sp>
        <p:nvSpPr>
          <p:cNvPr id="17" name="תיבת טקסט 16">
            <a:extLst>
              <a:ext uri="{FF2B5EF4-FFF2-40B4-BE49-F238E27FC236}">
                <a16:creationId xmlns:a16="http://schemas.microsoft.com/office/drawing/2014/main" id="{815C9DE5-29C8-EEF0-C3D2-46F6223F465C}"/>
              </a:ext>
            </a:extLst>
          </p:cNvPr>
          <p:cNvSpPr txBox="1"/>
          <p:nvPr/>
        </p:nvSpPr>
        <p:spPr>
          <a:xfrm>
            <a:off x="493854" y="1381682"/>
            <a:ext cx="11204294" cy="369332"/>
          </a:xfrm>
          <a:prstGeom prst="rect">
            <a:avLst/>
          </a:prstGeom>
          <a:noFill/>
        </p:spPr>
        <p:txBody>
          <a:bodyPr wrap="square">
            <a:spAutoFit/>
          </a:bodyPr>
          <a:lstStyle/>
          <a:p>
            <a:pPr algn="ctr">
              <a:buNone/>
            </a:pPr>
            <a:r>
              <a:rPr lang="he-IL" b="1" dirty="0">
                <a:latin typeface="Rubik" pitchFamily="2" charset="-79"/>
                <a:cs typeface="Rubik" pitchFamily="2" charset="-79"/>
              </a:rPr>
              <a:t>כלי הגדרת יעדים</a:t>
            </a:r>
            <a:endParaRPr lang="en-US" dirty="0">
              <a:latin typeface="Rubik" pitchFamily="2" charset="-79"/>
              <a:cs typeface="Rubik" pitchFamily="2" charset="-79"/>
            </a:endParaRPr>
          </a:p>
        </p:txBody>
      </p:sp>
      <p:graphicFrame>
        <p:nvGraphicFramePr>
          <p:cNvPr id="18" name="טבלה 17">
            <a:extLst>
              <a:ext uri="{FF2B5EF4-FFF2-40B4-BE49-F238E27FC236}">
                <a16:creationId xmlns:a16="http://schemas.microsoft.com/office/drawing/2014/main" id="{8009E9F9-3B2D-ADED-C256-7478E5026C0C}"/>
              </a:ext>
            </a:extLst>
          </p:cNvPr>
          <p:cNvGraphicFramePr>
            <a:graphicFrameLocks noGrp="1"/>
          </p:cNvGraphicFramePr>
          <p:nvPr>
            <p:extLst>
              <p:ext uri="{D42A27DB-BD31-4B8C-83A1-F6EECF244321}">
                <p14:modId xmlns:p14="http://schemas.microsoft.com/office/powerpoint/2010/main" val="296160036"/>
              </p:ext>
            </p:extLst>
          </p:nvPr>
        </p:nvGraphicFramePr>
        <p:xfrm>
          <a:off x="627813" y="2014693"/>
          <a:ext cx="10936373" cy="3103027"/>
        </p:xfrm>
        <a:graphic>
          <a:graphicData uri="http://schemas.openxmlformats.org/drawingml/2006/table">
            <a:tbl>
              <a:tblPr rtl="1" firstRow="1" bandRow="1">
                <a:effectLst>
                  <a:outerShdw blurRad="342900" dist="38100" dir="8100000" algn="tr" rotWithShape="0">
                    <a:prstClr val="black">
                      <a:alpha val="17000"/>
                    </a:prstClr>
                  </a:outerShdw>
                </a:effectLst>
                <a:tableStyleId>{5C22544A-7EE6-4342-B048-85BDC9FD1C3A}</a:tableStyleId>
              </a:tblPr>
              <a:tblGrid>
                <a:gridCol w="1539710">
                  <a:extLst>
                    <a:ext uri="{9D8B030D-6E8A-4147-A177-3AD203B41FA5}">
                      <a16:colId xmlns:a16="http://schemas.microsoft.com/office/drawing/2014/main" val="1277209857"/>
                    </a:ext>
                  </a:extLst>
                </a:gridCol>
                <a:gridCol w="1130968">
                  <a:extLst>
                    <a:ext uri="{9D8B030D-6E8A-4147-A177-3AD203B41FA5}">
                      <a16:colId xmlns:a16="http://schemas.microsoft.com/office/drawing/2014/main" val="2426791847"/>
                    </a:ext>
                  </a:extLst>
                </a:gridCol>
                <a:gridCol w="2875547">
                  <a:extLst>
                    <a:ext uri="{9D8B030D-6E8A-4147-A177-3AD203B41FA5}">
                      <a16:colId xmlns:a16="http://schemas.microsoft.com/office/drawing/2014/main" val="2168403792"/>
                    </a:ext>
                  </a:extLst>
                </a:gridCol>
                <a:gridCol w="5390148">
                  <a:extLst>
                    <a:ext uri="{9D8B030D-6E8A-4147-A177-3AD203B41FA5}">
                      <a16:colId xmlns:a16="http://schemas.microsoft.com/office/drawing/2014/main" val="1696505055"/>
                    </a:ext>
                  </a:extLst>
                </a:gridCol>
              </a:tblGrid>
              <a:tr h="576314">
                <a:tc>
                  <a:txBody>
                    <a:bodyPr/>
                    <a:lstStyle/>
                    <a:p>
                      <a:pPr algn="l" rtl="1"/>
                      <a:r>
                        <a:rPr lang="en-US" sz="1600" b="1" dirty="0">
                          <a:solidFill>
                            <a:schemeClr val="bg1"/>
                          </a:solidFill>
                          <a:latin typeface="Rubik" pitchFamily="2" charset="-79"/>
                          <a:ea typeface="Calibri" panose="020F0502020204030204" pitchFamily="34" charset="0"/>
                          <a:cs typeface="Rubik" pitchFamily="2" charset="-79"/>
                        </a:rPr>
                        <a:t>S</a:t>
                      </a:r>
                      <a:r>
                        <a:rPr lang="en-US" sz="1600" b="0" dirty="0">
                          <a:solidFill>
                            <a:schemeClr val="bg1"/>
                          </a:solidFill>
                          <a:latin typeface="Rubik" pitchFamily="2" charset="-79"/>
                          <a:ea typeface="Calibri" panose="020F0502020204030204" pitchFamily="34" charset="0"/>
                          <a:cs typeface="Rubik" pitchFamily="2" charset="-79"/>
                        </a:rPr>
                        <a:t>pecific</a:t>
                      </a:r>
                      <a:endParaRPr lang="he-IL" sz="1600" b="0" dirty="0">
                        <a:solidFill>
                          <a:schemeClr val="bg1"/>
                        </a:solidFill>
                        <a:latin typeface="Rubik" pitchFamily="2" charset="-79"/>
                        <a:ea typeface="Calibri" panose="020F0502020204030204" pitchFamily="34" charset="0"/>
                        <a:cs typeface="Rubik" pitchFamily="2" charset="-79"/>
                      </a:endParaRPr>
                    </a:p>
                  </a:txBody>
                  <a:tcPr marL="142105" marR="142105" marT="71052" marB="71052" anchor="ctr">
                    <a:lnB w="12700" cap="flat" cmpd="sng" algn="ctr">
                      <a:solidFill>
                        <a:schemeClr val="bg1"/>
                      </a:solidFill>
                      <a:prstDash val="solid"/>
                      <a:round/>
                      <a:headEnd type="none" w="med" len="med"/>
                      <a:tailEnd type="none" w="med" len="med"/>
                    </a:lnB>
                    <a:solidFill>
                      <a:srgbClr val="009CE1"/>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ממוקד</a:t>
                      </a:r>
                    </a:p>
                  </a:txBody>
                  <a:tcPr marL="142105" marR="142105" marT="71052" marB="71052" anchor="ctr">
                    <a:lnB w="12700" cap="flat" cmpd="sng" algn="ctr">
                      <a:solidFill>
                        <a:schemeClr val="bg1"/>
                      </a:solidFill>
                      <a:prstDash val="solid"/>
                      <a:round/>
                      <a:headEnd type="none" w="med" len="med"/>
                      <a:tailEnd type="none" w="med" len="med"/>
                    </a:lnB>
                    <a:solidFill>
                      <a:srgbClr val="CCD2D8"/>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מוגדר בצורה מדויקת מה רוצים להשיג.</a:t>
                      </a:r>
                    </a:p>
                  </a:txBody>
                  <a:tcPr marL="142105" marR="142105" marT="71052" marB="71052" anchor="ctr">
                    <a:lnB w="12700" cap="flat" cmpd="sng" algn="ctr">
                      <a:solidFill>
                        <a:schemeClr val="bg1"/>
                      </a:solidFill>
                      <a:prstDash val="solid"/>
                      <a:round/>
                      <a:headEnd type="none" w="med" len="med"/>
                      <a:tailEnd type="none" w="med" len="med"/>
                    </a:lnB>
                    <a:solidFill>
                      <a:srgbClr val="E2E6EA"/>
                    </a:solidFill>
                  </a:tcPr>
                </a:tc>
                <a:tc>
                  <a:txBody>
                    <a:bodyPr/>
                    <a:lstStyle/>
                    <a:p>
                      <a:pPr rtl="1"/>
                      <a:r>
                        <a:rPr lang="he-IL" sz="1200" b="0" dirty="0">
                          <a:solidFill>
                            <a:schemeClr val="tx1"/>
                          </a:solidFill>
                          <a:latin typeface="Rubik" pitchFamily="2" charset="-79"/>
                          <a:ea typeface="Calibri" panose="020F0502020204030204" pitchFamily="34" charset="0"/>
                          <a:cs typeface="Rubik" pitchFamily="2" charset="-79"/>
                        </a:rPr>
                        <a:t>לא: "“לשפר את השירות במרפאה"</a:t>
                      </a:r>
                    </a:p>
                    <a:p>
                      <a:pPr rtl="1"/>
                      <a:r>
                        <a:rPr lang="he-IL" sz="1200" b="0" dirty="0">
                          <a:solidFill>
                            <a:schemeClr val="tx1"/>
                          </a:solidFill>
                          <a:latin typeface="Rubik" pitchFamily="2" charset="-79"/>
                          <a:ea typeface="Calibri" panose="020F0502020204030204" pitchFamily="34" charset="0"/>
                          <a:cs typeface="Rubik" pitchFamily="2" charset="-79"/>
                        </a:rPr>
                        <a:t>כן: "להעלות את ציון שביעות הרצון במרפאה מ־82 ל־87 עד סוף השנה"</a:t>
                      </a:r>
                    </a:p>
                  </a:txBody>
                  <a:tcPr marL="142105" marR="142105" marT="71052" marB="71052" anchor="ctr">
                    <a:lnB w="12700" cap="flat" cmpd="sng" algn="ctr">
                      <a:solidFill>
                        <a:schemeClr val="bg1"/>
                      </a:solidFill>
                      <a:prstDash val="solid"/>
                      <a:round/>
                      <a:headEnd type="none" w="med" len="med"/>
                      <a:tailEnd type="none" w="med" len="med"/>
                    </a:lnB>
                    <a:solidFill>
                      <a:srgbClr val="EBEEF1"/>
                    </a:solidFill>
                  </a:tcPr>
                </a:tc>
                <a:extLst>
                  <a:ext uri="{0D108BD9-81ED-4DB2-BD59-A6C34878D82A}">
                    <a16:rowId xmlns:a16="http://schemas.microsoft.com/office/drawing/2014/main" val="117944469"/>
                  </a:ext>
                </a:extLst>
              </a:tr>
              <a:tr h="805261">
                <a:tc>
                  <a:txBody>
                    <a:bodyPr/>
                    <a:lstStyle/>
                    <a:p>
                      <a:pPr algn="l" rtl="1"/>
                      <a:r>
                        <a:rPr lang="en-US" sz="1600" b="1" kern="1200" dirty="0">
                          <a:solidFill>
                            <a:schemeClr val="bg1"/>
                          </a:solidFill>
                          <a:latin typeface="Rubik" pitchFamily="2" charset="-79"/>
                          <a:ea typeface="Calibri" panose="020F0502020204030204" pitchFamily="34" charset="0"/>
                          <a:cs typeface="Rubik" pitchFamily="2" charset="-79"/>
                        </a:rPr>
                        <a:t>M</a:t>
                      </a:r>
                      <a:r>
                        <a:rPr lang="en-US" sz="1600" b="0" dirty="0">
                          <a:solidFill>
                            <a:schemeClr val="bg1"/>
                          </a:solidFill>
                          <a:latin typeface="Rubik" pitchFamily="2" charset="-79"/>
                          <a:ea typeface="Calibri" panose="020F0502020204030204" pitchFamily="34" charset="0"/>
                          <a:cs typeface="Rubik" pitchFamily="2" charset="-79"/>
                        </a:rPr>
                        <a:t>easurable</a:t>
                      </a:r>
                      <a:endParaRPr lang="he-IL" sz="1600" b="0" dirty="0">
                        <a:solidFill>
                          <a:schemeClr val="bg1"/>
                        </a:solidFill>
                        <a:latin typeface="Rubik" pitchFamily="2" charset="-79"/>
                        <a:ea typeface="Calibri" panose="020F0502020204030204" pitchFamily="34" charset="0"/>
                        <a:cs typeface="Rubik" pitchFamily="2" charset="-79"/>
                      </a:endParaRPr>
                    </a:p>
                  </a:txBody>
                  <a:tcPr marL="142105" marR="142105" marT="71052" marB="71052" anchor="ctr">
                    <a:lnT w="12700" cap="flat" cmpd="sng" algn="ctr">
                      <a:solidFill>
                        <a:schemeClr val="bg1"/>
                      </a:solidFill>
                      <a:prstDash val="solid"/>
                      <a:round/>
                      <a:headEnd type="none" w="med" len="med"/>
                      <a:tailEnd type="none" w="med" len="med"/>
                    </a:lnT>
                    <a:solidFill>
                      <a:srgbClr val="009CE1"/>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מדיד</a:t>
                      </a:r>
                    </a:p>
                  </a:txBody>
                  <a:tcPr marL="142105" marR="142105" marT="71052" marB="71052" anchor="ctr">
                    <a:lnT w="12700" cap="flat" cmpd="sng" algn="ctr">
                      <a:solidFill>
                        <a:schemeClr val="bg1"/>
                      </a:solidFill>
                      <a:prstDash val="solid"/>
                      <a:round/>
                      <a:headEnd type="none" w="med" len="med"/>
                      <a:tailEnd type="none" w="med" len="med"/>
                    </a:lnT>
                    <a:solidFill>
                      <a:srgbClr val="CCD2D8"/>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כולל קריטריון ברור להשגת המטרה, מדד הצלחה בתחומי העשייה של העובד.</a:t>
                      </a:r>
                    </a:p>
                  </a:txBody>
                  <a:tcPr marL="142105" marR="142105" marT="71052" marB="71052" anchor="ctr">
                    <a:lnT w="12700" cap="flat" cmpd="sng" algn="ctr">
                      <a:solidFill>
                        <a:schemeClr val="bg1"/>
                      </a:solidFill>
                      <a:prstDash val="solid"/>
                      <a:round/>
                      <a:headEnd type="none" w="med" len="med"/>
                      <a:tailEnd type="none" w="med" len="med"/>
                    </a:lnT>
                    <a:solidFill>
                      <a:srgbClr val="E2E6EA"/>
                    </a:solidFill>
                  </a:tcPr>
                </a:tc>
                <a:tc>
                  <a:txBody>
                    <a:bodyPr/>
                    <a:lstStyle/>
                    <a:p>
                      <a:pPr rtl="1"/>
                      <a:r>
                        <a:rPr lang="he-IL" sz="1200" b="0" dirty="0">
                          <a:solidFill>
                            <a:schemeClr val="tx1"/>
                          </a:solidFill>
                          <a:latin typeface="Rubik" pitchFamily="2" charset="-79"/>
                          <a:ea typeface="Calibri" panose="020F0502020204030204" pitchFamily="34" charset="0"/>
                          <a:cs typeface="Rubik" pitchFamily="2" charset="-79"/>
                        </a:rPr>
                        <a:t>לא: "לחזק את הקשר עם הצוות הרפואי"</a:t>
                      </a:r>
                    </a:p>
                    <a:p>
                      <a:pPr rtl="1"/>
                      <a:r>
                        <a:rPr lang="he-IL" sz="1200" b="0" dirty="0">
                          <a:solidFill>
                            <a:schemeClr val="tx1"/>
                          </a:solidFill>
                          <a:latin typeface="Rubik" pitchFamily="2" charset="-79"/>
                          <a:ea typeface="Calibri" panose="020F0502020204030204" pitchFamily="34" charset="0"/>
                          <a:cs typeface="Rubik" pitchFamily="2" charset="-79"/>
                        </a:rPr>
                        <a:t>כן: "לקיים 6 מפגשי צוות מקצועיים במהלך השנה ולמדוד השתתפות של לפחות 80% מהצוות"</a:t>
                      </a:r>
                    </a:p>
                  </a:txBody>
                  <a:tcPr marL="142105" marR="142105" marT="71052" marB="71052" anchor="ctr">
                    <a:lnT w="12700" cap="flat" cmpd="sng" algn="ctr">
                      <a:solidFill>
                        <a:schemeClr val="bg1"/>
                      </a:solidFill>
                      <a:prstDash val="solid"/>
                      <a:round/>
                      <a:headEnd type="none" w="med" len="med"/>
                      <a:tailEnd type="none" w="med" len="med"/>
                    </a:lnT>
                    <a:solidFill>
                      <a:srgbClr val="EBEEF1"/>
                    </a:solidFill>
                  </a:tcPr>
                </a:tc>
                <a:extLst>
                  <a:ext uri="{0D108BD9-81ED-4DB2-BD59-A6C34878D82A}">
                    <a16:rowId xmlns:a16="http://schemas.microsoft.com/office/drawing/2014/main" val="3788395591"/>
                  </a:ext>
                </a:extLst>
              </a:tr>
              <a:tr h="538129">
                <a:tc>
                  <a:txBody>
                    <a:bodyPr/>
                    <a:lstStyle/>
                    <a:p>
                      <a:pPr algn="l" rtl="1"/>
                      <a:r>
                        <a:rPr lang="en-US" sz="1600" b="1" kern="1200" dirty="0">
                          <a:solidFill>
                            <a:schemeClr val="bg1"/>
                          </a:solidFill>
                          <a:latin typeface="Rubik" pitchFamily="2" charset="-79"/>
                          <a:ea typeface="Calibri" panose="020F0502020204030204" pitchFamily="34" charset="0"/>
                          <a:cs typeface="Rubik" pitchFamily="2" charset="-79"/>
                        </a:rPr>
                        <a:t>A</a:t>
                      </a:r>
                      <a:r>
                        <a:rPr lang="en-US" sz="1600" b="0" dirty="0">
                          <a:solidFill>
                            <a:schemeClr val="bg1"/>
                          </a:solidFill>
                          <a:latin typeface="Rubik" pitchFamily="2" charset="-79"/>
                          <a:ea typeface="Calibri" panose="020F0502020204030204" pitchFamily="34" charset="0"/>
                          <a:cs typeface="Rubik" pitchFamily="2" charset="-79"/>
                        </a:rPr>
                        <a:t>ctionable</a:t>
                      </a:r>
                      <a:endParaRPr lang="he-IL" sz="1600" b="0" dirty="0">
                        <a:solidFill>
                          <a:schemeClr val="bg1"/>
                        </a:solidFill>
                        <a:latin typeface="Rubik" pitchFamily="2" charset="-79"/>
                        <a:ea typeface="Calibri" panose="020F0502020204030204" pitchFamily="34" charset="0"/>
                        <a:cs typeface="Rubik" pitchFamily="2" charset="-79"/>
                      </a:endParaRPr>
                    </a:p>
                  </a:txBody>
                  <a:tcPr marL="142105" marR="142105" marT="71052" marB="71052" anchor="ctr">
                    <a:solidFill>
                      <a:srgbClr val="009CE1"/>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בר ביצוע</a:t>
                      </a:r>
                    </a:p>
                  </a:txBody>
                  <a:tcPr marL="142105" marR="142105" marT="71052" marB="71052" anchor="ctr">
                    <a:solidFill>
                      <a:srgbClr val="CCD2D8"/>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בר השגה בלוחות הזמנים שהוגדרו ובאמצעים הקיימים.</a:t>
                      </a:r>
                    </a:p>
                  </a:txBody>
                  <a:tcPr marL="142105" marR="142105" marT="71052" marB="71052" anchor="ctr">
                    <a:solidFill>
                      <a:srgbClr val="E2E6EA"/>
                    </a:solidFill>
                  </a:tcPr>
                </a:tc>
                <a:tc>
                  <a:txBody>
                    <a:bodyPr/>
                    <a:lstStyle/>
                    <a:p>
                      <a:pPr rtl="1"/>
                      <a:r>
                        <a:rPr lang="he-IL" sz="1200" b="0" dirty="0">
                          <a:solidFill>
                            <a:schemeClr val="tx1"/>
                          </a:solidFill>
                          <a:latin typeface="Rubik" pitchFamily="2" charset="-79"/>
                          <a:ea typeface="Calibri" panose="020F0502020204030204" pitchFamily="34" charset="0"/>
                          <a:cs typeface="Rubik" pitchFamily="2" charset="-79"/>
                        </a:rPr>
                        <a:t>לא: "להפוך למרפאה מובילה באזור"</a:t>
                      </a:r>
                    </a:p>
                    <a:p>
                      <a:pPr rtl="1"/>
                      <a:r>
                        <a:rPr lang="he-IL" sz="1200" b="0" dirty="0">
                          <a:solidFill>
                            <a:schemeClr val="tx1"/>
                          </a:solidFill>
                          <a:latin typeface="Rubik" pitchFamily="2" charset="-79"/>
                          <a:ea typeface="Calibri" panose="020F0502020204030204" pitchFamily="34" charset="0"/>
                          <a:cs typeface="Rubik" pitchFamily="2" charset="-79"/>
                        </a:rPr>
                        <a:t>כן: "להוסיף 2 ימי רפואה ייעודיים לילדים עד רבעון שלישי בהתאם ליעד האסטרטגי"</a:t>
                      </a:r>
                    </a:p>
                  </a:txBody>
                  <a:tcPr marL="142105" marR="142105" marT="71052" marB="71052" anchor="ctr">
                    <a:solidFill>
                      <a:srgbClr val="EBEEF1"/>
                    </a:solidFill>
                  </a:tcPr>
                </a:tc>
                <a:extLst>
                  <a:ext uri="{0D108BD9-81ED-4DB2-BD59-A6C34878D82A}">
                    <a16:rowId xmlns:a16="http://schemas.microsoft.com/office/drawing/2014/main" val="2824776695"/>
                  </a:ext>
                </a:extLst>
              </a:tr>
              <a:tr h="576314">
                <a:tc>
                  <a:txBody>
                    <a:bodyPr/>
                    <a:lstStyle/>
                    <a:p>
                      <a:pPr algn="l" rtl="1"/>
                      <a:r>
                        <a:rPr lang="en-US" sz="1600" b="1" kern="1200" dirty="0">
                          <a:solidFill>
                            <a:schemeClr val="bg1"/>
                          </a:solidFill>
                          <a:latin typeface="Rubik" pitchFamily="2" charset="-79"/>
                          <a:ea typeface="Calibri" panose="020F0502020204030204" pitchFamily="34" charset="0"/>
                          <a:cs typeface="Rubik" pitchFamily="2" charset="-79"/>
                        </a:rPr>
                        <a:t>R</a:t>
                      </a:r>
                      <a:r>
                        <a:rPr lang="en-US" sz="1600" b="0" dirty="0">
                          <a:solidFill>
                            <a:schemeClr val="bg1"/>
                          </a:solidFill>
                          <a:latin typeface="Rubik" pitchFamily="2" charset="-79"/>
                          <a:ea typeface="Calibri" panose="020F0502020204030204" pitchFamily="34" charset="0"/>
                          <a:cs typeface="Rubik" pitchFamily="2" charset="-79"/>
                        </a:rPr>
                        <a:t>elevant</a:t>
                      </a:r>
                      <a:endParaRPr lang="he-IL" sz="1600" b="0" dirty="0">
                        <a:solidFill>
                          <a:schemeClr val="bg1"/>
                        </a:solidFill>
                        <a:latin typeface="Rubik" pitchFamily="2" charset="-79"/>
                        <a:ea typeface="Calibri" panose="020F0502020204030204" pitchFamily="34" charset="0"/>
                        <a:cs typeface="Rubik" pitchFamily="2" charset="-79"/>
                      </a:endParaRPr>
                    </a:p>
                  </a:txBody>
                  <a:tcPr marL="142105" marR="142105" marT="71052" marB="71052" anchor="ctr">
                    <a:solidFill>
                      <a:srgbClr val="009CE1"/>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רלוונטי</a:t>
                      </a:r>
                    </a:p>
                  </a:txBody>
                  <a:tcPr marL="142105" marR="142105" marT="71052" marB="71052" anchor="ctr">
                    <a:solidFill>
                      <a:srgbClr val="CCD2D8"/>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מטרה/אתגר בעל ערך לעובד ולארגון.</a:t>
                      </a:r>
                    </a:p>
                  </a:txBody>
                  <a:tcPr marL="142105" marR="142105" marT="71052" marB="71052" anchor="ctr">
                    <a:solidFill>
                      <a:srgbClr val="E2E6EA"/>
                    </a:solidFill>
                  </a:tcPr>
                </a:tc>
                <a:tc>
                  <a:txBody>
                    <a:bodyPr/>
                    <a:lstStyle/>
                    <a:p>
                      <a:pPr rtl="1"/>
                      <a:r>
                        <a:rPr lang="he-IL" sz="1200" b="0" dirty="0">
                          <a:solidFill>
                            <a:schemeClr val="tx1"/>
                          </a:solidFill>
                          <a:latin typeface="Rubik" pitchFamily="2" charset="-79"/>
                          <a:ea typeface="Calibri" panose="020F0502020204030204" pitchFamily="34" charset="0"/>
                          <a:cs typeface="Rubik" pitchFamily="2" charset="-79"/>
                        </a:rPr>
                        <a:t>לא: "לשדרג את עיצוב חדר ההמתנה"</a:t>
                      </a:r>
                    </a:p>
                    <a:p>
                      <a:pPr rtl="1"/>
                      <a:r>
                        <a:rPr lang="he-IL" sz="1200" b="0" dirty="0">
                          <a:solidFill>
                            <a:schemeClr val="tx1"/>
                          </a:solidFill>
                          <a:latin typeface="Rubik" pitchFamily="2" charset="-79"/>
                          <a:ea typeface="Calibri" panose="020F0502020204030204" pitchFamily="34" charset="0"/>
                          <a:cs typeface="Rubik" pitchFamily="2" charset="-79"/>
                        </a:rPr>
                        <a:t>כן: "לקצר את זמן ההמתנה הממוצע ב־10% כחלק מהתייעלות ושיפור חוויית שירות"</a:t>
                      </a:r>
                    </a:p>
                  </a:txBody>
                  <a:tcPr marL="142105" marR="142105" marT="71052" marB="71052" anchor="ctr">
                    <a:solidFill>
                      <a:srgbClr val="EBEEF1"/>
                    </a:solidFill>
                  </a:tcPr>
                </a:tc>
                <a:extLst>
                  <a:ext uri="{0D108BD9-81ED-4DB2-BD59-A6C34878D82A}">
                    <a16:rowId xmlns:a16="http://schemas.microsoft.com/office/drawing/2014/main" val="2040098853"/>
                  </a:ext>
                </a:extLst>
              </a:tr>
              <a:tr h="576314">
                <a:tc>
                  <a:txBody>
                    <a:bodyPr/>
                    <a:lstStyle/>
                    <a:p>
                      <a:pPr algn="l" rtl="1"/>
                      <a:r>
                        <a:rPr lang="en-US" sz="1600" b="1" kern="1200" dirty="0">
                          <a:solidFill>
                            <a:schemeClr val="bg1"/>
                          </a:solidFill>
                          <a:latin typeface="Rubik" pitchFamily="2" charset="-79"/>
                          <a:ea typeface="Calibri" panose="020F0502020204030204" pitchFamily="34" charset="0"/>
                          <a:cs typeface="Rubik" pitchFamily="2" charset="-79"/>
                        </a:rPr>
                        <a:t>T</a:t>
                      </a:r>
                      <a:r>
                        <a:rPr lang="en-US" sz="1600" b="0" dirty="0">
                          <a:solidFill>
                            <a:schemeClr val="bg1"/>
                          </a:solidFill>
                          <a:latin typeface="Rubik" pitchFamily="2" charset="-79"/>
                          <a:ea typeface="Calibri" panose="020F0502020204030204" pitchFamily="34" charset="0"/>
                          <a:cs typeface="Rubik" pitchFamily="2" charset="-79"/>
                        </a:rPr>
                        <a:t>imed-bond</a:t>
                      </a:r>
                      <a:endParaRPr lang="he-IL" sz="1600" b="0" dirty="0">
                        <a:solidFill>
                          <a:schemeClr val="bg1"/>
                        </a:solidFill>
                        <a:latin typeface="Rubik" pitchFamily="2" charset="-79"/>
                        <a:ea typeface="Calibri" panose="020F0502020204030204" pitchFamily="34" charset="0"/>
                        <a:cs typeface="Rubik" pitchFamily="2" charset="-79"/>
                      </a:endParaRPr>
                    </a:p>
                  </a:txBody>
                  <a:tcPr marL="142105" marR="142105" marT="71052" marB="71052" anchor="ctr">
                    <a:solidFill>
                      <a:srgbClr val="009CE1"/>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מתוזמן</a:t>
                      </a:r>
                    </a:p>
                  </a:txBody>
                  <a:tcPr marL="142105" marR="142105" marT="71052" marB="71052" anchor="ctr">
                    <a:solidFill>
                      <a:srgbClr val="CCD2D8"/>
                    </a:solidFill>
                  </a:tcPr>
                </a:tc>
                <a:tc>
                  <a:txBody>
                    <a:bodyPr/>
                    <a:lstStyle/>
                    <a:p>
                      <a:pPr rtl="1"/>
                      <a:r>
                        <a:rPr lang="he-IL" sz="1400" b="0">
                          <a:solidFill>
                            <a:schemeClr val="tx1"/>
                          </a:solidFill>
                          <a:latin typeface="Rubik" pitchFamily="2" charset="-79"/>
                          <a:ea typeface="Calibri" panose="020F0502020204030204" pitchFamily="34" charset="0"/>
                          <a:cs typeface="Rubik" pitchFamily="2" charset="-79"/>
                        </a:rPr>
                        <a:t>תחום בזמן.</a:t>
                      </a:r>
                    </a:p>
                  </a:txBody>
                  <a:tcPr marL="142105" marR="142105" marT="71052" marB="71052" anchor="ctr">
                    <a:solidFill>
                      <a:srgbClr val="E2E6EA"/>
                    </a:solidFill>
                  </a:tcPr>
                </a:tc>
                <a:tc>
                  <a:txBody>
                    <a:bodyPr/>
                    <a:lstStyle/>
                    <a:p>
                      <a:pPr rtl="1"/>
                      <a:r>
                        <a:rPr lang="he-IL" sz="1200" b="0" dirty="0">
                          <a:solidFill>
                            <a:schemeClr val="tx1"/>
                          </a:solidFill>
                          <a:latin typeface="Rubik" pitchFamily="2" charset="-79"/>
                          <a:ea typeface="Calibri" panose="020F0502020204030204" pitchFamily="34" charset="0"/>
                          <a:cs typeface="Rubik" pitchFamily="2" charset="-79"/>
                        </a:rPr>
                        <a:t>לא: "להגדיל את מספר המבוטחים"</a:t>
                      </a:r>
                    </a:p>
                    <a:p>
                      <a:pPr rtl="1"/>
                      <a:r>
                        <a:rPr lang="he-IL" sz="1200" b="0" dirty="0">
                          <a:solidFill>
                            <a:schemeClr val="tx1"/>
                          </a:solidFill>
                          <a:latin typeface="Rubik" pitchFamily="2" charset="-79"/>
                          <a:ea typeface="Calibri" panose="020F0502020204030204" pitchFamily="34" charset="0"/>
                          <a:cs typeface="Rubik" pitchFamily="2" charset="-79"/>
                        </a:rPr>
                        <a:t>כן: "להגדיל את מספר המבוטחים ב־3% עד סוף רבעון רביעי"</a:t>
                      </a:r>
                    </a:p>
                  </a:txBody>
                  <a:tcPr marL="142105" marR="142105" marT="71052" marB="71052" anchor="ctr">
                    <a:solidFill>
                      <a:srgbClr val="EBEEF1"/>
                    </a:solidFill>
                  </a:tcPr>
                </a:tc>
                <a:extLst>
                  <a:ext uri="{0D108BD9-81ED-4DB2-BD59-A6C34878D82A}">
                    <a16:rowId xmlns:a16="http://schemas.microsoft.com/office/drawing/2014/main" val="1981526512"/>
                  </a:ext>
                </a:extLst>
              </a:tr>
            </a:tbl>
          </a:graphicData>
        </a:graphic>
      </p:graphicFrame>
    </p:spTree>
    <p:extLst>
      <p:ext uri="{BB962C8B-B14F-4D97-AF65-F5344CB8AC3E}">
        <p14:creationId xmlns:p14="http://schemas.microsoft.com/office/powerpoint/2010/main" val="948015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0903-FAD0-333F-8A48-281AE66522D0}"/>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DD448F29-E7CD-7352-D2CB-DF8FA59017E1}"/>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363580D3-E86E-42D0-7B68-FAEBCA655365}"/>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מתי נכנס לעולם הרכש? ומה באחריותנו?</a:t>
            </a:r>
            <a:endParaRPr lang="he-IL" sz="2800" i="0" dirty="0">
              <a:solidFill>
                <a:srgbClr val="000000"/>
              </a:solidFill>
              <a:effectLst/>
              <a:latin typeface="Rubik" pitchFamily="2" charset="-79"/>
              <a:cs typeface="Rubik" pitchFamily="2" charset="-79"/>
            </a:endParaRPr>
          </a:p>
        </p:txBody>
      </p:sp>
      <p:sp>
        <p:nvSpPr>
          <p:cNvPr id="2" name="תיבת טקסט 1">
            <a:extLst>
              <a:ext uri="{FF2B5EF4-FFF2-40B4-BE49-F238E27FC236}">
                <a16:creationId xmlns:a16="http://schemas.microsoft.com/office/drawing/2014/main" id="{8AE39C09-B3E3-FF00-83F5-CD5B7FCEE32D}"/>
              </a:ext>
            </a:extLst>
          </p:cNvPr>
          <p:cNvSpPr txBox="1"/>
          <p:nvPr/>
        </p:nvSpPr>
        <p:spPr>
          <a:xfrm>
            <a:off x="1612899" y="1899758"/>
            <a:ext cx="10143553" cy="2585323"/>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כל התקשרות כספית שאנו יוזמים או מאשרים = תהליך רכש.</a:t>
            </a:r>
          </a:p>
          <a:p>
            <a:endParaRPr lang="he-IL" sz="1400" dirty="0">
              <a:solidFill>
                <a:srgbClr val="000000"/>
              </a:solidFill>
              <a:latin typeface="Rubik" pitchFamily="2" charset="-79"/>
              <a:cs typeface="Rubik" pitchFamily="2" charset="-79"/>
            </a:endParaRPr>
          </a:p>
          <a:p>
            <a:r>
              <a:rPr lang="he-IL" i="0" dirty="0">
                <a:solidFill>
                  <a:srgbClr val="000000"/>
                </a:solidFill>
                <a:effectLst/>
                <a:latin typeface="Rubik" pitchFamily="2" charset="-79"/>
                <a:cs typeface="Rubik" pitchFamily="2" charset="-79"/>
              </a:rPr>
              <a:t>זה כולל:</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ספק שירות חדש למחלקה</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יועץ חיצוני</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רכישת ציוד</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הארכת חוזה קיים</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עבודה חד־פעמית</a:t>
            </a:r>
          </a:p>
          <a:p>
            <a:pPr marL="342900" indent="-342900">
              <a:buFont typeface="Arial" panose="020B0604020202020204" pitchFamily="34" charset="0"/>
              <a:buChar char="•"/>
            </a:pPr>
            <a:r>
              <a:rPr lang="he-IL" sz="1600" i="0" dirty="0">
                <a:solidFill>
                  <a:srgbClr val="000000"/>
                </a:solidFill>
                <a:effectLst/>
                <a:latin typeface="Rubik" pitchFamily="2" charset="-79"/>
                <a:cs typeface="Rubik" pitchFamily="2" charset="-79"/>
              </a:rPr>
              <a:t>התקשרות מקומית במחוז</a:t>
            </a:r>
          </a:p>
          <a:p>
            <a:r>
              <a:rPr lang="he-IL" sz="1600" dirty="0">
                <a:solidFill>
                  <a:srgbClr val="000000"/>
                </a:solidFill>
                <a:latin typeface="Rubik" pitchFamily="2" charset="-79"/>
                <a:cs typeface="Rubik" pitchFamily="2" charset="-79"/>
              </a:rPr>
              <a:t>ועוד..</a:t>
            </a:r>
            <a:endParaRPr lang="he-IL" sz="1600" i="0" dirty="0">
              <a:solidFill>
                <a:srgbClr val="000000"/>
              </a:solidFill>
              <a:effectLst/>
              <a:latin typeface="Rubik" pitchFamily="2" charset="-79"/>
              <a:cs typeface="Rubik" pitchFamily="2" charset="-79"/>
            </a:endParaRPr>
          </a:p>
        </p:txBody>
      </p:sp>
      <p:sp>
        <p:nvSpPr>
          <p:cNvPr id="4" name="Oval 27">
            <a:extLst>
              <a:ext uri="{FF2B5EF4-FFF2-40B4-BE49-F238E27FC236}">
                <a16:creationId xmlns:a16="http://schemas.microsoft.com/office/drawing/2014/main" id="{0253E006-4950-3022-53A2-BC9168F09263}"/>
              </a:ext>
            </a:extLst>
          </p:cNvPr>
          <p:cNvSpPr/>
          <p:nvPr/>
        </p:nvSpPr>
        <p:spPr>
          <a:xfrm>
            <a:off x="3744174" y="3479840"/>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מלבן: פינות מעוגלות 4">
            <a:extLst>
              <a:ext uri="{FF2B5EF4-FFF2-40B4-BE49-F238E27FC236}">
                <a16:creationId xmlns:a16="http://schemas.microsoft.com/office/drawing/2014/main" id="{F9DD8A7B-7708-CB28-2ED9-F8EF8058388C}"/>
              </a:ext>
            </a:extLst>
          </p:cNvPr>
          <p:cNvSpPr/>
          <p:nvPr/>
        </p:nvSpPr>
        <p:spPr>
          <a:xfrm>
            <a:off x="1118376" y="3694831"/>
            <a:ext cx="3415307"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לצפייה בנוהל רכש והתקשרויות המלא</a:t>
            </a:r>
            <a:endParaRPr lang="LID4096" sz="1400" dirty="0">
              <a:solidFill>
                <a:schemeClr val="bg1"/>
              </a:solidFill>
              <a:latin typeface="Rubik" pitchFamily="2" charset="-79"/>
              <a:cs typeface="Rubik" pitchFamily="2" charset="-79"/>
            </a:endParaRPr>
          </a:p>
        </p:txBody>
      </p:sp>
      <p:sp>
        <p:nvSpPr>
          <p:cNvPr id="6" name="תיבת טקסט 5">
            <a:extLst>
              <a:ext uri="{FF2B5EF4-FFF2-40B4-BE49-F238E27FC236}">
                <a16:creationId xmlns:a16="http://schemas.microsoft.com/office/drawing/2014/main" id="{0394D636-A78C-97E6-761E-D7F41675D809}"/>
              </a:ext>
            </a:extLst>
          </p:cNvPr>
          <p:cNvSpPr txBox="1"/>
          <p:nvPr/>
        </p:nvSpPr>
        <p:spPr>
          <a:xfrm>
            <a:off x="435548" y="1704670"/>
            <a:ext cx="4756957" cy="738664"/>
          </a:xfrm>
          <a:prstGeom prst="rect">
            <a:avLst/>
          </a:prstGeom>
          <a:noFill/>
        </p:spPr>
        <p:txBody>
          <a:bodyPr wrap="square">
            <a:spAutoFit/>
          </a:bodyPr>
          <a:lstStyle/>
          <a:p>
            <a:r>
              <a:rPr lang="he-IL" sz="1400" b="1" dirty="0">
                <a:latin typeface="Rubik" pitchFamily="2" charset="-79"/>
                <a:cs typeface="Rubik" pitchFamily="2" charset="-79"/>
              </a:rPr>
              <a:t>במאוחדת עובדים לפי נוהל רכש </a:t>
            </a:r>
            <a:r>
              <a:rPr lang="he-IL" sz="1400" b="1" dirty="0" err="1">
                <a:latin typeface="Rubik" pitchFamily="2" charset="-79"/>
                <a:cs typeface="Rubik" pitchFamily="2" charset="-79"/>
              </a:rPr>
              <a:t>והתקשורויות</a:t>
            </a:r>
            <a:r>
              <a:rPr lang="he-IL" sz="1400" dirty="0">
                <a:latin typeface="Rubik Light" pitchFamily="2" charset="-79"/>
                <a:cs typeface="Rubik Light" pitchFamily="2" charset="-79"/>
              </a:rPr>
              <a:t>. הנוהל מסדיר את כל דרכי ההתקשרות, הרכש והעבודה עם ספקים ונותני שירות בקופה, בהתאם לדין ולתקנות חובת המכרזים. </a:t>
            </a:r>
          </a:p>
        </p:txBody>
      </p:sp>
      <p:sp>
        <p:nvSpPr>
          <p:cNvPr id="8" name="תיבת טקסט 7">
            <a:extLst>
              <a:ext uri="{FF2B5EF4-FFF2-40B4-BE49-F238E27FC236}">
                <a16:creationId xmlns:a16="http://schemas.microsoft.com/office/drawing/2014/main" id="{490294FA-F077-81A4-870E-137B340D708C}"/>
              </a:ext>
            </a:extLst>
          </p:cNvPr>
          <p:cNvSpPr txBox="1"/>
          <p:nvPr/>
        </p:nvSpPr>
        <p:spPr>
          <a:xfrm>
            <a:off x="531845" y="2546088"/>
            <a:ext cx="4660660" cy="738664"/>
          </a:xfrm>
          <a:prstGeom prst="rect">
            <a:avLst/>
          </a:prstGeom>
          <a:noFill/>
        </p:spPr>
        <p:txBody>
          <a:bodyPr wrap="square">
            <a:spAutoFit/>
          </a:bodyPr>
          <a:lstStyle/>
          <a:p>
            <a:r>
              <a:rPr lang="he-IL" sz="1400" dirty="0">
                <a:latin typeface="Rubik Light" pitchFamily="2" charset="-79"/>
                <a:cs typeface="Rubik Light" pitchFamily="2" charset="-79"/>
              </a:rPr>
              <a:t>כמנהלים חדשים – זהו אחד הנהלים החשובים ביותר שתידרש להכיר, משום שהוא מגדיר מה מותר, מי מוסמך, כיצד מבצעים רכש, ומהם הסיכונים הארגוניים / המשפטיים שיש להימנע מהם.</a:t>
            </a:r>
            <a:endParaRPr lang="he-IL" sz="1400" dirty="0"/>
          </a:p>
        </p:txBody>
      </p:sp>
      <p:sp>
        <p:nvSpPr>
          <p:cNvPr id="9" name="תיבת טקסט 8">
            <a:extLst>
              <a:ext uri="{FF2B5EF4-FFF2-40B4-BE49-F238E27FC236}">
                <a16:creationId xmlns:a16="http://schemas.microsoft.com/office/drawing/2014/main" id="{C45C3EF7-E3DF-B48C-A558-8F101AD532CE}"/>
              </a:ext>
            </a:extLst>
          </p:cNvPr>
          <p:cNvSpPr txBox="1"/>
          <p:nvPr/>
        </p:nvSpPr>
        <p:spPr>
          <a:xfrm>
            <a:off x="3823518" y="5289162"/>
            <a:ext cx="3968699" cy="369332"/>
          </a:xfrm>
          <a:prstGeom prst="rect">
            <a:avLst/>
          </a:prstGeom>
          <a:noFill/>
        </p:spPr>
        <p:txBody>
          <a:bodyPr wrap="square" rtlCol="0">
            <a:spAutoFit/>
          </a:bodyPr>
          <a:lstStyle/>
          <a:p>
            <a:r>
              <a:rPr lang="he-IL" dirty="0">
                <a:solidFill>
                  <a:srgbClr val="009CE1"/>
                </a:solidFill>
                <a:latin typeface="Rubik" pitchFamily="2" charset="-79"/>
                <a:cs typeface="Rubik" pitchFamily="2" charset="-79"/>
              </a:rPr>
              <a:t>תהליך רכש תקין – ב-6 צעדים</a:t>
            </a:r>
            <a:endParaRPr lang="he-IL" sz="2400" dirty="0">
              <a:solidFill>
                <a:srgbClr val="009CE1"/>
              </a:solidFill>
              <a:latin typeface="Rubik" pitchFamily="2" charset="-79"/>
              <a:cs typeface="Rubik" pitchFamily="2" charset="-79"/>
            </a:endParaRPr>
          </a:p>
        </p:txBody>
      </p:sp>
      <p:grpSp>
        <p:nvGrpSpPr>
          <p:cNvPr id="10" name="קבוצה 9">
            <a:extLst>
              <a:ext uri="{FF2B5EF4-FFF2-40B4-BE49-F238E27FC236}">
                <a16:creationId xmlns:a16="http://schemas.microsoft.com/office/drawing/2014/main" id="{C11E478C-18F9-4883-6C81-683F96BC027F}"/>
              </a:ext>
            </a:extLst>
          </p:cNvPr>
          <p:cNvGrpSpPr/>
          <p:nvPr/>
        </p:nvGrpSpPr>
        <p:grpSpPr>
          <a:xfrm>
            <a:off x="7792217" y="5185214"/>
            <a:ext cx="528644" cy="528644"/>
            <a:chOff x="11238905" y="4653366"/>
            <a:chExt cx="657179" cy="657179"/>
          </a:xfrm>
        </p:grpSpPr>
        <p:sp>
          <p:nvSpPr>
            <p:cNvPr id="11" name="אליפסה 10">
              <a:extLst>
                <a:ext uri="{FF2B5EF4-FFF2-40B4-BE49-F238E27FC236}">
                  <a16:creationId xmlns:a16="http://schemas.microsoft.com/office/drawing/2014/main" id="{C26D969D-DEDA-9892-548C-74B8F0956AAC}"/>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2" name="תמונה 11" descr="תמונה שמכילה עיגול, סמל, גרפיקה, לבן&#10;&#10;התיאור נוצר באופן אוטומטי">
              <a:extLst>
                <a:ext uri="{FF2B5EF4-FFF2-40B4-BE49-F238E27FC236}">
                  <a16:creationId xmlns:a16="http://schemas.microsoft.com/office/drawing/2014/main" id="{775CA3D5-EDE6-D9A9-5F84-E7F2E5787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13" name="תיבת טקסט 12">
            <a:extLst>
              <a:ext uri="{FF2B5EF4-FFF2-40B4-BE49-F238E27FC236}">
                <a16:creationId xmlns:a16="http://schemas.microsoft.com/office/drawing/2014/main" id="{BDE933E9-7A2F-4C61-F140-755B7D2D9CA3}"/>
              </a:ext>
            </a:extLst>
          </p:cNvPr>
          <p:cNvSpPr txBox="1"/>
          <p:nvPr/>
        </p:nvSpPr>
        <p:spPr>
          <a:xfrm>
            <a:off x="2567169" y="4667523"/>
            <a:ext cx="7057663" cy="338554"/>
          </a:xfrm>
          <a:prstGeom prst="rect">
            <a:avLst/>
          </a:prstGeom>
          <a:noFill/>
        </p:spPr>
        <p:txBody>
          <a:bodyPr wrap="square">
            <a:spAutoFit/>
          </a:bodyPr>
          <a:lstStyle/>
          <a:p>
            <a:pPr algn="ctr">
              <a:buNone/>
            </a:pPr>
            <a:r>
              <a:rPr lang="he-IL" sz="1600" dirty="0">
                <a:latin typeface="Rubik" pitchFamily="2" charset="-79"/>
                <a:cs typeface="Rubik" pitchFamily="2" charset="-79"/>
              </a:rPr>
              <a:t>לחצו להרחבה.</a:t>
            </a:r>
          </a:p>
        </p:txBody>
      </p:sp>
      <p:sp>
        <p:nvSpPr>
          <p:cNvPr id="14" name="תיבת טקסט 13">
            <a:extLst>
              <a:ext uri="{FF2B5EF4-FFF2-40B4-BE49-F238E27FC236}">
                <a16:creationId xmlns:a16="http://schemas.microsoft.com/office/drawing/2014/main" id="{3891120A-6D72-4EC2-F7B1-5C74EFE14196}"/>
              </a:ext>
            </a:extLst>
          </p:cNvPr>
          <p:cNvSpPr txBox="1"/>
          <p:nvPr/>
        </p:nvSpPr>
        <p:spPr>
          <a:xfrm>
            <a:off x="6206876" y="5289162"/>
            <a:ext cx="5018689" cy="369332"/>
          </a:xfrm>
          <a:prstGeom prst="rect">
            <a:avLst/>
          </a:prstGeom>
          <a:noFill/>
        </p:spPr>
        <p:txBody>
          <a:bodyPr wrap="square" rtlCol="0">
            <a:spAutoFit/>
          </a:bodyPr>
          <a:lstStyle>
            <a:defPPr>
              <a:defRPr lang="LID4096"/>
            </a:defPPr>
            <a:lvl1pPr>
              <a:defRPr b="0" i="0">
                <a:solidFill>
                  <a:srgbClr val="009CE1"/>
                </a:solidFill>
                <a:effectLst/>
                <a:latin typeface="Rubik" pitchFamily="2" charset="-79"/>
                <a:cs typeface="Rubik" pitchFamily="2" charset="-79"/>
              </a:defRPr>
            </a:lvl1pPr>
          </a:lstStyle>
          <a:p>
            <a:r>
              <a:rPr lang="he-IL" dirty="0"/>
              <a:t>מי מטפל ברכש?</a:t>
            </a:r>
          </a:p>
        </p:txBody>
      </p:sp>
      <p:grpSp>
        <p:nvGrpSpPr>
          <p:cNvPr id="15" name="קבוצה 14">
            <a:extLst>
              <a:ext uri="{FF2B5EF4-FFF2-40B4-BE49-F238E27FC236}">
                <a16:creationId xmlns:a16="http://schemas.microsoft.com/office/drawing/2014/main" id="{315F9D68-0FF8-E859-CB1C-AC559CDA8999}"/>
              </a:ext>
            </a:extLst>
          </p:cNvPr>
          <p:cNvGrpSpPr/>
          <p:nvPr/>
        </p:nvGrpSpPr>
        <p:grpSpPr>
          <a:xfrm>
            <a:off x="11225565" y="5185214"/>
            <a:ext cx="528644" cy="528644"/>
            <a:chOff x="11238905" y="4653366"/>
            <a:chExt cx="657179" cy="657179"/>
          </a:xfrm>
        </p:grpSpPr>
        <p:sp>
          <p:nvSpPr>
            <p:cNvPr id="16" name="אליפסה 15">
              <a:extLst>
                <a:ext uri="{FF2B5EF4-FFF2-40B4-BE49-F238E27FC236}">
                  <a16:creationId xmlns:a16="http://schemas.microsoft.com/office/drawing/2014/main" id="{E905144D-4999-DF04-0A73-1460DBBC0243}"/>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7" name="תמונה 16" descr="תמונה שמכילה עיגול, סמל, גרפיקה, לבן&#10;&#10;התיאור נוצר באופן אוטומטי">
              <a:extLst>
                <a:ext uri="{FF2B5EF4-FFF2-40B4-BE49-F238E27FC236}">
                  <a16:creationId xmlns:a16="http://schemas.microsoft.com/office/drawing/2014/main" id="{5245D92C-7DC8-7AF3-C029-02BD3DDC7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18" name="תיבת טקסט 17">
            <a:extLst>
              <a:ext uri="{FF2B5EF4-FFF2-40B4-BE49-F238E27FC236}">
                <a16:creationId xmlns:a16="http://schemas.microsoft.com/office/drawing/2014/main" id="{F6A549F5-58E3-8BC8-0551-AB1EDFF16DEE}"/>
              </a:ext>
            </a:extLst>
          </p:cNvPr>
          <p:cNvSpPr txBox="1"/>
          <p:nvPr/>
        </p:nvSpPr>
        <p:spPr>
          <a:xfrm>
            <a:off x="2773528" y="6150777"/>
            <a:ext cx="5018689" cy="369332"/>
          </a:xfrm>
          <a:prstGeom prst="rect">
            <a:avLst/>
          </a:prstGeom>
          <a:noFill/>
        </p:spPr>
        <p:txBody>
          <a:bodyPr wrap="square" rtlCol="0">
            <a:spAutoFit/>
          </a:bodyPr>
          <a:lstStyle/>
          <a:p>
            <a:r>
              <a:rPr lang="he-IL" dirty="0">
                <a:solidFill>
                  <a:srgbClr val="009CE1"/>
                </a:solidFill>
                <a:latin typeface="Rubik" pitchFamily="2" charset="-79"/>
                <a:cs typeface="Rubik" pitchFamily="2" charset="-79"/>
              </a:rPr>
              <a:t>עקרונות יסוד – 5 כללי זהב למנהל</a:t>
            </a:r>
            <a:endParaRPr lang="he-IL" sz="2400" dirty="0">
              <a:solidFill>
                <a:srgbClr val="009CE1"/>
              </a:solidFill>
              <a:latin typeface="Rubik" pitchFamily="2" charset="-79"/>
              <a:cs typeface="Rubik" pitchFamily="2" charset="-79"/>
            </a:endParaRPr>
          </a:p>
        </p:txBody>
      </p:sp>
      <p:grpSp>
        <p:nvGrpSpPr>
          <p:cNvPr id="19" name="קבוצה 18">
            <a:extLst>
              <a:ext uri="{FF2B5EF4-FFF2-40B4-BE49-F238E27FC236}">
                <a16:creationId xmlns:a16="http://schemas.microsoft.com/office/drawing/2014/main" id="{C21F771A-1BDD-8B8A-F62F-AA676554A4AA}"/>
              </a:ext>
            </a:extLst>
          </p:cNvPr>
          <p:cNvGrpSpPr/>
          <p:nvPr/>
        </p:nvGrpSpPr>
        <p:grpSpPr>
          <a:xfrm>
            <a:off x="7792217" y="6046829"/>
            <a:ext cx="528644" cy="528644"/>
            <a:chOff x="11238905" y="4653366"/>
            <a:chExt cx="657179" cy="657179"/>
          </a:xfrm>
        </p:grpSpPr>
        <p:sp>
          <p:nvSpPr>
            <p:cNvPr id="20" name="אליפסה 19">
              <a:extLst>
                <a:ext uri="{FF2B5EF4-FFF2-40B4-BE49-F238E27FC236}">
                  <a16:creationId xmlns:a16="http://schemas.microsoft.com/office/drawing/2014/main" id="{9BB6C58B-5325-5A16-A3E5-12B805D0E018}"/>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1" name="תמונה 20" descr="תמונה שמכילה עיגול, סמל, גרפיקה, לבן&#10;&#10;התיאור נוצר באופן אוטומטי">
              <a:extLst>
                <a:ext uri="{FF2B5EF4-FFF2-40B4-BE49-F238E27FC236}">
                  <a16:creationId xmlns:a16="http://schemas.microsoft.com/office/drawing/2014/main" id="{0A7375DF-4A0B-211D-FB9C-2916AAD09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22" name="תיבת טקסט 21">
            <a:extLst>
              <a:ext uri="{FF2B5EF4-FFF2-40B4-BE49-F238E27FC236}">
                <a16:creationId xmlns:a16="http://schemas.microsoft.com/office/drawing/2014/main" id="{D22C9F92-59D7-1220-2B0F-E42DBF888F05}"/>
              </a:ext>
            </a:extLst>
          </p:cNvPr>
          <p:cNvSpPr txBox="1"/>
          <p:nvPr/>
        </p:nvSpPr>
        <p:spPr>
          <a:xfrm>
            <a:off x="6211119" y="6100891"/>
            <a:ext cx="5018689" cy="369332"/>
          </a:xfrm>
          <a:prstGeom prst="rect">
            <a:avLst/>
          </a:prstGeom>
          <a:noFill/>
        </p:spPr>
        <p:txBody>
          <a:bodyPr wrap="square" rtlCol="0">
            <a:spAutoFit/>
          </a:bodyPr>
          <a:lstStyle>
            <a:defPPr>
              <a:defRPr lang="LID4096"/>
            </a:defPPr>
            <a:lvl1pPr>
              <a:defRPr b="0" i="0">
                <a:solidFill>
                  <a:srgbClr val="009CE1"/>
                </a:solidFill>
                <a:effectLst/>
                <a:latin typeface="Rubik" pitchFamily="2" charset="-79"/>
                <a:cs typeface="Rubik" pitchFamily="2" charset="-79"/>
              </a:defRPr>
            </a:lvl1pPr>
          </a:lstStyle>
          <a:p>
            <a:r>
              <a:rPr lang="he-IL" dirty="0"/>
              <a:t>מהם סוגי ההליכים?</a:t>
            </a:r>
          </a:p>
        </p:txBody>
      </p:sp>
      <p:grpSp>
        <p:nvGrpSpPr>
          <p:cNvPr id="23" name="קבוצה 22">
            <a:extLst>
              <a:ext uri="{FF2B5EF4-FFF2-40B4-BE49-F238E27FC236}">
                <a16:creationId xmlns:a16="http://schemas.microsoft.com/office/drawing/2014/main" id="{2E0148C0-E468-1A74-2D8E-35B044FA1E6B}"/>
              </a:ext>
            </a:extLst>
          </p:cNvPr>
          <p:cNvGrpSpPr/>
          <p:nvPr/>
        </p:nvGrpSpPr>
        <p:grpSpPr>
          <a:xfrm>
            <a:off x="11229808" y="5996943"/>
            <a:ext cx="528644" cy="528644"/>
            <a:chOff x="11238905" y="4653366"/>
            <a:chExt cx="657179" cy="657179"/>
          </a:xfrm>
        </p:grpSpPr>
        <p:sp>
          <p:nvSpPr>
            <p:cNvPr id="26" name="אליפסה 25">
              <a:extLst>
                <a:ext uri="{FF2B5EF4-FFF2-40B4-BE49-F238E27FC236}">
                  <a16:creationId xmlns:a16="http://schemas.microsoft.com/office/drawing/2014/main" id="{D0A2417C-0D3B-9A55-F192-8F2ED94430B8}"/>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7" name="תמונה 26" descr="תמונה שמכילה עיגול, סמל, גרפיקה, לבן&#10;&#10;התיאור נוצר באופן אוטומטי">
              <a:extLst>
                <a:ext uri="{FF2B5EF4-FFF2-40B4-BE49-F238E27FC236}">
                  <a16:creationId xmlns:a16="http://schemas.microsoft.com/office/drawing/2014/main" id="{31D98F97-86CC-9D44-536A-D35BA3FE98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
        <p:nvSpPr>
          <p:cNvPr id="28" name="תיבת טקסט 27">
            <a:extLst>
              <a:ext uri="{FF2B5EF4-FFF2-40B4-BE49-F238E27FC236}">
                <a16:creationId xmlns:a16="http://schemas.microsoft.com/office/drawing/2014/main" id="{5E451B54-0198-7E01-06CE-6B42B06D514A}"/>
              </a:ext>
            </a:extLst>
          </p:cNvPr>
          <p:cNvSpPr txBox="1"/>
          <p:nvPr/>
        </p:nvSpPr>
        <p:spPr>
          <a:xfrm>
            <a:off x="-355528" y="5313694"/>
            <a:ext cx="3968699" cy="369332"/>
          </a:xfrm>
          <a:prstGeom prst="rect">
            <a:avLst/>
          </a:prstGeom>
          <a:noFill/>
        </p:spPr>
        <p:txBody>
          <a:bodyPr wrap="square" rtlCol="0">
            <a:spAutoFit/>
          </a:bodyPr>
          <a:lstStyle/>
          <a:p>
            <a:r>
              <a:rPr lang="he-IL" dirty="0">
                <a:solidFill>
                  <a:srgbClr val="009CE1"/>
                </a:solidFill>
                <a:latin typeface="Rubik" pitchFamily="2" charset="-79"/>
                <a:cs typeface="Rubik" pitchFamily="2" charset="-79"/>
              </a:rPr>
              <a:t>הכירו טעויות נפוצות</a:t>
            </a:r>
            <a:endParaRPr lang="he-IL" sz="2400" dirty="0">
              <a:solidFill>
                <a:srgbClr val="009CE1"/>
              </a:solidFill>
              <a:latin typeface="Rubik" pitchFamily="2" charset="-79"/>
              <a:cs typeface="Rubik" pitchFamily="2" charset="-79"/>
            </a:endParaRPr>
          </a:p>
        </p:txBody>
      </p:sp>
      <p:grpSp>
        <p:nvGrpSpPr>
          <p:cNvPr id="29" name="קבוצה 28">
            <a:extLst>
              <a:ext uri="{FF2B5EF4-FFF2-40B4-BE49-F238E27FC236}">
                <a16:creationId xmlns:a16="http://schemas.microsoft.com/office/drawing/2014/main" id="{C04B9E80-66AA-F161-6026-F734CF9E2ED8}"/>
              </a:ext>
            </a:extLst>
          </p:cNvPr>
          <p:cNvGrpSpPr/>
          <p:nvPr/>
        </p:nvGrpSpPr>
        <p:grpSpPr>
          <a:xfrm>
            <a:off x="3613171" y="5209746"/>
            <a:ext cx="528644" cy="528644"/>
            <a:chOff x="11238905" y="4653366"/>
            <a:chExt cx="657179" cy="657179"/>
          </a:xfrm>
        </p:grpSpPr>
        <p:sp>
          <p:nvSpPr>
            <p:cNvPr id="30" name="אליפסה 29">
              <a:extLst>
                <a:ext uri="{FF2B5EF4-FFF2-40B4-BE49-F238E27FC236}">
                  <a16:creationId xmlns:a16="http://schemas.microsoft.com/office/drawing/2014/main" id="{983FD378-3F95-1C91-73BE-E1BE44A781C4}"/>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31" name="תמונה 30" descr="תמונה שמכילה עיגול, סמל, גרפיקה, לבן&#10;&#10;התיאור נוצר באופן אוטומטי">
              <a:extLst>
                <a:ext uri="{FF2B5EF4-FFF2-40B4-BE49-F238E27FC236}">
                  <a16:creationId xmlns:a16="http://schemas.microsoft.com/office/drawing/2014/main" id="{1B3A93FB-9209-D300-A0C6-48FF62356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spTree>
    <p:extLst>
      <p:ext uri="{BB962C8B-B14F-4D97-AF65-F5344CB8AC3E}">
        <p14:creationId xmlns:p14="http://schemas.microsoft.com/office/powerpoint/2010/main" val="4067522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73F2-62F8-C45F-BC45-D0EB2A182D89}"/>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B420D2CC-5642-06AC-9E21-AC8AC9DB1C59}"/>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1BAB52CC-D791-C3C0-C577-597FBFC9BAF8}"/>
              </a:ext>
            </a:extLst>
          </p:cNvPr>
          <p:cNvSpPr txBox="1"/>
          <p:nvPr/>
        </p:nvSpPr>
        <p:spPr>
          <a:xfrm>
            <a:off x="1612900" y="1082088"/>
            <a:ext cx="10143553" cy="400110"/>
          </a:xfrm>
          <a:prstGeom prst="rect">
            <a:avLst/>
          </a:prstGeom>
          <a:noFill/>
        </p:spPr>
        <p:txBody>
          <a:bodyPr wrap="square" rtlCol="0">
            <a:spAutoFit/>
          </a:bodyPr>
          <a:lstStyle/>
          <a:p>
            <a:r>
              <a:rPr lang="he-IL" sz="2000" dirty="0">
                <a:solidFill>
                  <a:srgbClr val="000000"/>
                </a:solidFill>
                <a:latin typeface="Rubik" pitchFamily="2" charset="-79"/>
                <a:cs typeface="Rubik" pitchFamily="2" charset="-79"/>
              </a:rPr>
              <a:t>מתי נכנס לעולם הרכש? ומה באחריותנו?</a:t>
            </a:r>
            <a:endParaRPr lang="he-IL" sz="2800" dirty="0">
              <a:solidFill>
                <a:srgbClr val="000000"/>
              </a:solidFill>
              <a:latin typeface="Rubik" pitchFamily="2" charset="-79"/>
              <a:cs typeface="Rubik" pitchFamily="2" charset="-79"/>
            </a:endParaRPr>
          </a:p>
        </p:txBody>
      </p:sp>
      <p:sp>
        <p:nvSpPr>
          <p:cNvPr id="3" name="מלבן 2">
            <a:extLst>
              <a:ext uri="{FF2B5EF4-FFF2-40B4-BE49-F238E27FC236}">
                <a16:creationId xmlns:a16="http://schemas.microsoft.com/office/drawing/2014/main" id="{E7A4AFEA-026F-30AB-75B2-89702FDABB22}"/>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3CA0D6F3-7CA9-23BE-4247-55788C81AED0}"/>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4DECA2D5-61B5-153F-4F4A-033EA5944DFC}"/>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מי מטפל ברכש?</a:t>
            </a:r>
          </a:p>
        </p:txBody>
      </p:sp>
      <p:sp>
        <p:nvSpPr>
          <p:cNvPr id="2" name="תיבת טקסט 1">
            <a:extLst>
              <a:ext uri="{FF2B5EF4-FFF2-40B4-BE49-F238E27FC236}">
                <a16:creationId xmlns:a16="http://schemas.microsoft.com/office/drawing/2014/main" id="{C7DA93D5-6AF3-FF99-CF0E-0FF966C47FDF}"/>
              </a:ext>
            </a:extLst>
          </p:cNvPr>
          <p:cNvSpPr txBox="1"/>
          <p:nvPr/>
        </p:nvSpPr>
        <p:spPr>
          <a:xfrm>
            <a:off x="493854" y="1323808"/>
            <a:ext cx="11204294" cy="369332"/>
          </a:xfrm>
          <a:prstGeom prst="rect">
            <a:avLst/>
          </a:prstGeom>
          <a:noFill/>
        </p:spPr>
        <p:txBody>
          <a:bodyPr wrap="square">
            <a:spAutoFit/>
          </a:bodyPr>
          <a:lstStyle/>
          <a:p>
            <a:pPr algn="ctr">
              <a:buNone/>
            </a:pPr>
            <a:r>
              <a:rPr lang="he-IL" b="1" dirty="0">
                <a:latin typeface="Rubik" pitchFamily="2" charset="-79"/>
                <a:cs typeface="Rubik" pitchFamily="2" charset="-79"/>
              </a:rPr>
              <a:t>מי עושה מה?</a:t>
            </a:r>
            <a:endParaRPr lang="en-US" b="1"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EA5A8AFD-6E3D-E9EA-D4E8-156798E8065B}"/>
              </a:ext>
            </a:extLst>
          </p:cNvPr>
          <p:cNvSpPr txBox="1"/>
          <p:nvPr/>
        </p:nvSpPr>
        <p:spPr>
          <a:xfrm>
            <a:off x="9339943" y="2902906"/>
            <a:ext cx="1956711" cy="1323439"/>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ועדת המכרזים</a:t>
            </a:r>
          </a:p>
          <a:p>
            <a:r>
              <a:rPr lang="he-IL" sz="1600" i="0" dirty="0">
                <a:solidFill>
                  <a:srgbClr val="000000"/>
                </a:solidFill>
                <a:effectLst/>
                <a:latin typeface="Rubik" pitchFamily="2" charset="-79"/>
                <a:cs typeface="Rubik" pitchFamily="2" charset="-79"/>
              </a:rPr>
              <a:t>הגוף המרכזי שמאשר מכרזים, פטורים, בחירת ספקים והחלטות מהותיות.</a:t>
            </a:r>
          </a:p>
        </p:txBody>
      </p:sp>
      <p:sp>
        <p:nvSpPr>
          <p:cNvPr id="6" name="תיבת טקסט 5">
            <a:extLst>
              <a:ext uri="{FF2B5EF4-FFF2-40B4-BE49-F238E27FC236}">
                <a16:creationId xmlns:a16="http://schemas.microsoft.com/office/drawing/2014/main" id="{4E3CF4E8-137D-47E1-12E0-53DD044885E3}"/>
              </a:ext>
            </a:extLst>
          </p:cNvPr>
          <p:cNvSpPr txBox="1"/>
          <p:nvPr/>
        </p:nvSpPr>
        <p:spPr>
          <a:xfrm>
            <a:off x="6784346" y="2902906"/>
            <a:ext cx="1956712" cy="1323439"/>
          </a:xfrm>
          <a:prstGeom prst="rect">
            <a:avLst/>
          </a:prstGeom>
          <a:noFill/>
        </p:spPr>
        <p:txBody>
          <a:bodyPr wrap="square" rtlCol="0">
            <a:spAutoFit/>
          </a:bodyPr>
          <a:lstStyle/>
          <a:p>
            <a:r>
              <a:rPr lang="he-IL" sz="1600" b="1" dirty="0">
                <a:solidFill>
                  <a:srgbClr val="000000"/>
                </a:solidFill>
                <a:latin typeface="Rubik" pitchFamily="2" charset="-79"/>
                <a:cs typeface="Rubik" pitchFamily="2" charset="-79"/>
              </a:rPr>
              <a:t>ועדת רכש מחוזית/חטיבתית </a:t>
            </a:r>
            <a:r>
              <a:rPr lang="he-IL" sz="1600" i="0" dirty="0">
                <a:solidFill>
                  <a:srgbClr val="000000"/>
                </a:solidFill>
                <a:effectLst/>
                <a:latin typeface="Rubik" pitchFamily="2" charset="-79"/>
                <a:cs typeface="Rubik" pitchFamily="2" charset="-79"/>
              </a:rPr>
              <a:t>מאשרת פטורי מכרז בטווחי סכומים מוגדרים</a:t>
            </a:r>
          </a:p>
        </p:txBody>
      </p:sp>
      <p:sp>
        <p:nvSpPr>
          <p:cNvPr id="8" name="תיבת טקסט 7">
            <a:extLst>
              <a:ext uri="{FF2B5EF4-FFF2-40B4-BE49-F238E27FC236}">
                <a16:creationId xmlns:a16="http://schemas.microsoft.com/office/drawing/2014/main" id="{2116DEAB-1361-43BB-3A0E-52D0BFB5CC32}"/>
              </a:ext>
            </a:extLst>
          </p:cNvPr>
          <p:cNvSpPr txBox="1"/>
          <p:nvPr/>
        </p:nvSpPr>
        <p:spPr>
          <a:xfrm>
            <a:off x="569168" y="2902906"/>
            <a:ext cx="2990462" cy="1323439"/>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אגפי רכש</a:t>
            </a:r>
          </a:p>
          <a:p>
            <a:pPr marL="285750" indent="-285750">
              <a:buFont typeface="Arial" panose="020B0604020202020204" pitchFamily="34" charset="0"/>
              <a:buChar char="•"/>
            </a:pPr>
            <a:r>
              <a:rPr lang="he-IL" sz="1600" i="0" dirty="0">
                <a:solidFill>
                  <a:srgbClr val="000000"/>
                </a:solidFill>
                <a:effectLst/>
                <a:latin typeface="Rubik" pitchFamily="2" charset="-79"/>
                <a:cs typeface="Rubik" pitchFamily="2" charset="-79"/>
              </a:rPr>
              <a:t>רכש כללי – אגף הרכש</a:t>
            </a:r>
          </a:p>
          <a:p>
            <a:pPr marL="285750" indent="-285750">
              <a:buFont typeface="Arial" panose="020B0604020202020204" pitchFamily="34" charset="0"/>
              <a:buChar char="•"/>
            </a:pPr>
            <a:r>
              <a:rPr lang="he-IL" sz="1600" i="0" dirty="0">
                <a:solidFill>
                  <a:srgbClr val="000000"/>
                </a:solidFill>
                <a:effectLst/>
                <a:latin typeface="Rubik" pitchFamily="2" charset="-79"/>
                <a:cs typeface="Rubik" pitchFamily="2" charset="-79"/>
              </a:rPr>
              <a:t>שירותים רפואיים – אגף רכש ובקרת שירותים רפואיים</a:t>
            </a:r>
          </a:p>
          <a:p>
            <a:pPr marL="285750" indent="-285750">
              <a:buFont typeface="Arial" panose="020B0604020202020204" pitchFamily="34" charset="0"/>
              <a:buChar char="•"/>
            </a:pPr>
            <a:r>
              <a:rPr lang="he-IL" sz="1600" i="0" dirty="0">
                <a:solidFill>
                  <a:srgbClr val="000000"/>
                </a:solidFill>
                <a:effectLst/>
                <a:latin typeface="Rubik" pitchFamily="2" charset="-79"/>
                <a:cs typeface="Rubik" pitchFamily="2" charset="-79"/>
              </a:rPr>
              <a:t>מקרקעין – יחידת נכסים</a:t>
            </a:r>
          </a:p>
        </p:txBody>
      </p:sp>
    </p:spTree>
    <p:extLst>
      <p:ext uri="{BB962C8B-B14F-4D97-AF65-F5344CB8AC3E}">
        <p14:creationId xmlns:p14="http://schemas.microsoft.com/office/powerpoint/2010/main" val="2875489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40D76-02BD-B76E-39A4-72CC406153D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E2C5ADDD-EF81-E370-6001-CE761A4B38F4}"/>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F49B4121-DA79-F6C1-9A05-05A51EEEC8F5}"/>
              </a:ext>
            </a:extLst>
          </p:cNvPr>
          <p:cNvSpPr txBox="1"/>
          <p:nvPr/>
        </p:nvSpPr>
        <p:spPr>
          <a:xfrm>
            <a:off x="1612900" y="1082088"/>
            <a:ext cx="10143553" cy="400110"/>
          </a:xfrm>
          <a:prstGeom prst="rect">
            <a:avLst/>
          </a:prstGeom>
          <a:noFill/>
        </p:spPr>
        <p:txBody>
          <a:bodyPr wrap="square" rtlCol="0">
            <a:spAutoFit/>
          </a:bodyPr>
          <a:lstStyle/>
          <a:p>
            <a:r>
              <a:rPr lang="he-IL" sz="2000" dirty="0">
                <a:solidFill>
                  <a:srgbClr val="000000"/>
                </a:solidFill>
                <a:latin typeface="Rubik" pitchFamily="2" charset="-79"/>
                <a:cs typeface="Rubik" pitchFamily="2" charset="-79"/>
              </a:rPr>
              <a:t>מתי נכנס לעולם הרכש? ומה באחריותנו?</a:t>
            </a:r>
            <a:endParaRPr lang="he-IL" sz="2800" dirty="0">
              <a:solidFill>
                <a:srgbClr val="000000"/>
              </a:solidFill>
              <a:latin typeface="Rubik" pitchFamily="2" charset="-79"/>
              <a:cs typeface="Rubik" pitchFamily="2" charset="-79"/>
            </a:endParaRPr>
          </a:p>
        </p:txBody>
      </p:sp>
      <p:sp>
        <p:nvSpPr>
          <p:cNvPr id="3" name="מלבן 2">
            <a:extLst>
              <a:ext uri="{FF2B5EF4-FFF2-40B4-BE49-F238E27FC236}">
                <a16:creationId xmlns:a16="http://schemas.microsoft.com/office/drawing/2014/main" id="{024C9E39-9450-5BFF-4232-43B35A5E016B}"/>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BDEE88BE-EAE1-39AA-D6E3-206E23751774}"/>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D58FA2DD-61F0-93A6-D747-9B71FB7D8CB2}"/>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מהם סוגי ההליכים?</a:t>
            </a:r>
          </a:p>
        </p:txBody>
      </p:sp>
      <p:sp>
        <p:nvSpPr>
          <p:cNvPr id="2" name="תיבת טקסט 1">
            <a:extLst>
              <a:ext uri="{FF2B5EF4-FFF2-40B4-BE49-F238E27FC236}">
                <a16:creationId xmlns:a16="http://schemas.microsoft.com/office/drawing/2014/main" id="{6F654CE1-C354-B687-6522-D65B37C8AE01}"/>
              </a:ext>
            </a:extLst>
          </p:cNvPr>
          <p:cNvSpPr txBox="1"/>
          <p:nvPr/>
        </p:nvSpPr>
        <p:spPr>
          <a:xfrm>
            <a:off x="493854" y="1323808"/>
            <a:ext cx="11204294" cy="2955361"/>
          </a:xfrm>
          <a:prstGeom prst="rect">
            <a:avLst/>
          </a:prstGeom>
          <a:noFill/>
        </p:spPr>
        <p:txBody>
          <a:bodyPr wrap="square">
            <a:spAutoFit/>
          </a:bodyPr>
          <a:lstStyle/>
          <a:p>
            <a:pPr algn="ctr">
              <a:buNone/>
            </a:pPr>
            <a:r>
              <a:rPr lang="he-IL" b="1" dirty="0">
                <a:latin typeface="Rubik" pitchFamily="2" charset="-79"/>
                <a:cs typeface="Rubik" pitchFamily="2" charset="-79"/>
              </a:rPr>
              <a:t>סוגי ההתקשרויות המרכזיים:</a:t>
            </a:r>
          </a:p>
          <a:p>
            <a:pPr algn="ctr">
              <a:buNone/>
            </a:pPr>
            <a:endParaRPr lang="he-IL" dirty="0">
              <a:latin typeface="Rubik" pitchFamily="2" charset="-79"/>
              <a:cs typeface="Rubik" pitchFamily="2" charset="-79"/>
            </a:endParaRPr>
          </a:p>
          <a:p>
            <a:pPr algn="ctr">
              <a:buNone/>
            </a:pPr>
            <a:endParaRPr lang="he-IL" dirty="0">
              <a:latin typeface="Rubik" pitchFamily="2" charset="-79"/>
              <a:cs typeface="Rubik" pitchFamily="2" charset="-79"/>
            </a:endParaRPr>
          </a:p>
          <a:p>
            <a:pPr algn="ctr">
              <a:lnSpc>
                <a:spcPct val="150000"/>
              </a:lnSpc>
              <a:buNone/>
            </a:pPr>
            <a:r>
              <a:rPr lang="he-IL" b="1" dirty="0">
                <a:latin typeface="Rubik" pitchFamily="2" charset="-79"/>
                <a:cs typeface="Rubik" pitchFamily="2" charset="-79"/>
              </a:rPr>
              <a:t>מכרז פומבי – </a:t>
            </a:r>
            <a:r>
              <a:rPr lang="he-IL" dirty="0">
                <a:latin typeface="Rubik" pitchFamily="2" charset="-79"/>
                <a:cs typeface="Rubik" pitchFamily="2" charset="-79"/>
              </a:rPr>
              <a:t>ברירת המחדל</a:t>
            </a:r>
          </a:p>
          <a:p>
            <a:pPr algn="ctr">
              <a:lnSpc>
                <a:spcPct val="150000"/>
              </a:lnSpc>
              <a:buNone/>
            </a:pPr>
            <a:r>
              <a:rPr lang="he-IL" b="1" dirty="0">
                <a:latin typeface="Rubik" pitchFamily="2" charset="-79"/>
                <a:cs typeface="Rubik" pitchFamily="2" charset="-79"/>
              </a:rPr>
              <a:t>מכרז סגור – </a:t>
            </a:r>
            <a:r>
              <a:rPr lang="he-IL" dirty="0">
                <a:latin typeface="Rubik" pitchFamily="2" charset="-79"/>
                <a:cs typeface="Rubik" pitchFamily="2" charset="-79"/>
              </a:rPr>
              <a:t>לספקים מסוימים בלבד</a:t>
            </a:r>
          </a:p>
          <a:p>
            <a:pPr algn="ctr">
              <a:lnSpc>
                <a:spcPct val="150000"/>
              </a:lnSpc>
              <a:buNone/>
            </a:pPr>
            <a:r>
              <a:rPr lang="he-IL" b="1" dirty="0">
                <a:latin typeface="Rubik" pitchFamily="2" charset="-79"/>
                <a:cs typeface="Rubik" pitchFamily="2" charset="-79"/>
              </a:rPr>
              <a:t>מכרז ממוכן / מהיר – </a:t>
            </a:r>
            <a:r>
              <a:rPr lang="he-IL" dirty="0">
                <a:latin typeface="Rubik" pitchFamily="2" charset="-79"/>
                <a:cs typeface="Rubik" pitchFamily="2" charset="-79"/>
              </a:rPr>
              <a:t>הליך אלקטרוני</a:t>
            </a:r>
          </a:p>
          <a:p>
            <a:pPr algn="ctr">
              <a:lnSpc>
                <a:spcPct val="150000"/>
              </a:lnSpc>
              <a:buNone/>
            </a:pPr>
            <a:r>
              <a:rPr lang="he-IL" b="1" dirty="0">
                <a:latin typeface="Rubik" pitchFamily="2" charset="-79"/>
                <a:cs typeface="Rubik" pitchFamily="2" charset="-79"/>
              </a:rPr>
              <a:t>מכרז מסגרת – </a:t>
            </a:r>
            <a:r>
              <a:rPr lang="he-IL" dirty="0">
                <a:latin typeface="Rubik" pitchFamily="2" charset="-79"/>
                <a:cs typeface="Rubik" pitchFamily="2" charset="-79"/>
              </a:rPr>
              <a:t>התקשרות ארוכת טווח עם מספר ספקים</a:t>
            </a:r>
          </a:p>
          <a:p>
            <a:pPr algn="ctr">
              <a:lnSpc>
                <a:spcPct val="150000"/>
              </a:lnSpc>
              <a:buNone/>
            </a:pPr>
            <a:r>
              <a:rPr lang="he-IL" b="1" dirty="0">
                <a:latin typeface="Rubik" pitchFamily="2" charset="-79"/>
                <a:cs typeface="Rubik" pitchFamily="2" charset="-79"/>
              </a:rPr>
              <a:t>פטור ממכרז – </a:t>
            </a:r>
            <a:r>
              <a:rPr lang="he-IL" dirty="0">
                <a:latin typeface="Rubik" pitchFamily="2" charset="-79"/>
                <a:cs typeface="Rubik" pitchFamily="2" charset="-79"/>
              </a:rPr>
              <a:t>רק באישור ועדה מוסמכת ובתיעוד מלא</a:t>
            </a:r>
            <a:endParaRPr lang="en-US" dirty="0">
              <a:latin typeface="Rubik" pitchFamily="2" charset="-79"/>
              <a:cs typeface="Rubik" pitchFamily="2" charset="-79"/>
            </a:endParaRPr>
          </a:p>
        </p:txBody>
      </p:sp>
    </p:spTree>
    <p:extLst>
      <p:ext uri="{BB962C8B-B14F-4D97-AF65-F5344CB8AC3E}">
        <p14:creationId xmlns:p14="http://schemas.microsoft.com/office/powerpoint/2010/main" val="1600935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7143-506E-2234-E8B0-D5E42EABAFE9}"/>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57E98512-365C-F7DC-606F-F353933FCFB8}"/>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F7E40C32-02B5-4C67-0F6F-302CEC85DBA8}"/>
              </a:ext>
            </a:extLst>
          </p:cNvPr>
          <p:cNvSpPr txBox="1"/>
          <p:nvPr/>
        </p:nvSpPr>
        <p:spPr>
          <a:xfrm>
            <a:off x="1612900" y="1082088"/>
            <a:ext cx="10143553" cy="400110"/>
          </a:xfrm>
          <a:prstGeom prst="rect">
            <a:avLst/>
          </a:prstGeom>
          <a:noFill/>
        </p:spPr>
        <p:txBody>
          <a:bodyPr wrap="square" rtlCol="0">
            <a:spAutoFit/>
          </a:bodyPr>
          <a:lstStyle/>
          <a:p>
            <a:r>
              <a:rPr lang="he-IL" sz="2000" dirty="0">
                <a:solidFill>
                  <a:srgbClr val="000000"/>
                </a:solidFill>
                <a:latin typeface="Rubik" pitchFamily="2" charset="-79"/>
                <a:cs typeface="Rubik" pitchFamily="2" charset="-79"/>
              </a:rPr>
              <a:t>מתי נכנס לעולם הרכש? ומה באחריותנו?</a:t>
            </a:r>
            <a:endParaRPr lang="he-IL" sz="2800" dirty="0">
              <a:solidFill>
                <a:srgbClr val="000000"/>
              </a:solidFill>
              <a:latin typeface="Rubik" pitchFamily="2" charset="-79"/>
              <a:cs typeface="Rubik" pitchFamily="2" charset="-79"/>
            </a:endParaRPr>
          </a:p>
        </p:txBody>
      </p:sp>
      <p:sp>
        <p:nvSpPr>
          <p:cNvPr id="3" name="מלבן 2">
            <a:extLst>
              <a:ext uri="{FF2B5EF4-FFF2-40B4-BE49-F238E27FC236}">
                <a16:creationId xmlns:a16="http://schemas.microsoft.com/office/drawing/2014/main" id="{B36984CE-75BC-4EFD-C580-58C9CE24A853}"/>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08B4A512-6EB0-21FC-DC4D-4CCC64C64BA8}"/>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A479D64F-2C5D-EACC-9C29-6F0DF89DC042}"/>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תהליך רכש תקין – ב-6 צעדים</a:t>
            </a:r>
          </a:p>
        </p:txBody>
      </p:sp>
      <p:sp>
        <p:nvSpPr>
          <p:cNvPr id="2" name="תיבת טקסט 1">
            <a:extLst>
              <a:ext uri="{FF2B5EF4-FFF2-40B4-BE49-F238E27FC236}">
                <a16:creationId xmlns:a16="http://schemas.microsoft.com/office/drawing/2014/main" id="{D306767D-452A-2381-4119-0D8B487BA62B}"/>
              </a:ext>
            </a:extLst>
          </p:cNvPr>
          <p:cNvSpPr txBox="1"/>
          <p:nvPr/>
        </p:nvSpPr>
        <p:spPr>
          <a:xfrm>
            <a:off x="9760551" y="2902906"/>
            <a:ext cx="1536103"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1</a:t>
            </a:r>
          </a:p>
          <a:p>
            <a:r>
              <a:rPr lang="he-IL" sz="1600" i="0" dirty="0">
                <a:solidFill>
                  <a:srgbClr val="000000"/>
                </a:solidFill>
                <a:effectLst/>
                <a:latin typeface="Rubik" pitchFamily="2" charset="-79"/>
                <a:cs typeface="Rubik" pitchFamily="2" charset="-79"/>
              </a:rPr>
              <a:t>זיהוי צורך ואישורו (“הכרה בצורך”)</a:t>
            </a:r>
          </a:p>
        </p:txBody>
      </p:sp>
      <p:sp>
        <p:nvSpPr>
          <p:cNvPr id="4" name="תיבת טקסט 3">
            <a:extLst>
              <a:ext uri="{FF2B5EF4-FFF2-40B4-BE49-F238E27FC236}">
                <a16:creationId xmlns:a16="http://schemas.microsoft.com/office/drawing/2014/main" id="{766C5820-C05A-2FFD-7600-9DD744CFEA49}"/>
              </a:ext>
            </a:extLst>
          </p:cNvPr>
          <p:cNvSpPr txBox="1"/>
          <p:nvPr/>
        </p:nvSpPr>
        <p:spPr>
          <a:xfrm>
            <a:off x="6469319"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3</a:t>
            </a:r>
          </a:p>
          <a:p>
            <a:r>
              <a:rPr lang="he-IL" sz="1600" i="0" dirty="0">
                <a:solidFill>
                  <a:srgbClr val="000000"/>
                </a:solidFill>
                <a:effectLst/>
                <a:latin typeface="Rubik" pitchFamily="2" charset="-79"/>
                <a:cs typeface="Rubik" pitchFamily="2" charset="-79"/>
              </a:rPr>
              <a:t>פנייה לאגף הרכש הרלוונטי</a:t>
            </a:r>
          </a:p>
        </p:txBody>
      </p:sp>
      <p:sp>
        <p:nvSpPr>
          <p:cNvPr id="5" name="תיבת טקסט 4">
            <a:extLst>
              <a:ext uri="{FF2B5EF4-FFF2-40B4-BE49-F238E27FC236}">
                <a16:creationId xmlns:a16="http://schemas.microsoft.com/office/drawing/2014/main" id="{7DE20B95-61D0-2C28-FB48-FE5951780DE9}"/>
              </a:ext>
            </a:extLst>
          </p:cNvPr>
          <p:cNvSpPr txBox="1"/>
          <p:nvPr/>
        </p:nvSpPr>
        <p:spPr>
          <a:xfrm>
            <a:off x="8281221"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2</a:t>
            </a:r>
          </a:p>
          <a:p>
            <a:r>
              <a:rPr lang="he-IL" sz="1600" i="0" dirty="0">
                <a:solidFill>
                  <a:srgbClr val="000000"/>
                </a:solidFill>
                <a:effectLst/>
                <a:latin typeface="Rubik" pitchFamily="2" charset="-79"/>
                <a:cs typeface="Rubik" pitchFamily="2" charset="-79"/>
              </a:rPr>
              <a:t>בדיקת מסגרת תקציבית</a:t>
            </a:r>
          </a:p>
        </p:txBody>
      </p:sp>
      <p:sp>
        <p:nvSpPr>
          <p:cNvPr id="6" name="תיבת טקסט 5">
            <a:extLst>
              <a:ext uri="{FF2B5EF4-FFF2-40B4-BE49-F238E27FC236}">
                <a16:creationId xmlns:a16="http://schemas.microsoft.com/office/drawing/2014/main" id="{253157ED-9E1C-74E3-4191-2E32F34D691B}"/>
              </a:ext>
            </a:extLst>
          </p:cNvPr>
          <p:cNvSpPr txBox="1"/>
          <p:nvPr/>
        </p:nvSpPr>
        <p:spPr>
          <a:xfrm>
            <a:off x="4657417"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4</a:t>
            </a:r>
          </a:p>
          <a:p>
            <a:r>
              <a:rPr lang="he-IL" sz="1600" i="0" dirty="0">
                <a:solidFill>
                  <a:srgbClr val="000000"/>
                </a:solidFill>
                <a:effectLst/>
                <a:latin typeface="Rubik" pitchFamily="2" charset="-79"/>
                <a:cs typeface="Rubik" pitchFamily="2" charset="-79"/>
              </a:rPr>
              <a:t>בחירת סוג הליך (מכרז / פטור וכו')</a:t>
            </a:r>
          </a:p>
        </p:txBody>
      </p:sp>
      <p:sp>
        <p:nvSpPr>
          <p:cNvPr id="8" name="תיבת טקסט 7">
            <a:extLst>
              <a:ext uri="{FF2B5EF4-FFF2-40B4-BE49-F238E27FC236}">
                <a16:creationId xmlns:a16="http://schemas.microsoft.com/office/drawing/2014/main" id="{F80B5C7F-0828-CB89-F5D7-C9CAE654EF51}"/>
              </a:ext>
            </a:extLst>
          </p:cNvPr>
          <p:cNvSpPr txBox="1"/>
          <p:nvPr/>
        </p:nvSpPr>
        <p:spPr>
          <a:xfrm>
            <a:off x="701040" y="2902906"/>
            <a:ext cx="1536103" cy="1323439"/>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6</a:t>
            </a:r>
          </a:p>
          <a:p>
            <a:r>
              <a:rPr lang="he-IL" sz="1600" i="0" dirty="0">
                <a:solidFill>
                  <a:srgbClr val="000000"/>
                </a:solidFill>
                <a:effectLst/>
                <a:latin typeface="Rubik" pitchFamily="2" charset="-79"/>
                <a:cs typeface="Rubik" pitchFamily="2" charset="-79"/>
              </a:rPr>
              <a:t>חתימה והזמנת עבודה במערכת לפני תחילת השירות</a:t>
            </a:r>
          </a:p>
        </p:txBody>
      </p:sp>
      <p:sp>
        <p:nvSpPr>
          <p:cNvPr id="10" name="תיבת טקסט 9">
            <a:extLst>
              <a:ext uri="{FF2B5EF4-FFF2-40B4-BE49-F238E27FC236}">
                <a16:creationId xmlns:a16="http://schemas.microsoft.com/office/drawing/2014/main" id="{7AA3ADEA-41CC-3A61-7006-5CEBA19B5E0B}"/>
              </a:ext>
            </a:extLst>
          </p:cNvPr>
          <p:cNvSpPr txBox="1"/>
          <p:nvPr/>
        </p:nvSpPr>
        <p:spPr>
          <a:xfrm>
            <a:off x="2512942" y="2902906"/>
            <a:ext cx="1536103"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5</a:t>
            </a:r>
          </a:p>
          <a:p>
            <a:r>
              <a:rPr lang="he-IL" sz="1600" i="0" dirty="0">
                <a:solidFill>
                  <a:srgbClr val="000000"/>
                </a:solidFill>
                <a:effectLst/>
                <a:latin typeface="Rubik" pitchFamily="2" charset="-79"/>
                <a:cs typeface="Rubik" pitchFamily="2" charset="-79"/>
              </a:rPr>
              <a:t>אישור ועדה מוסמכת במידת הצורך</a:t>
            </a:r>
          </a:p>
        </p:txBody>
      </p:sp>
    </p:spTree>
    <p:extLst>
      <p:ext uri="{BB962C8B-B14F-4D97-AF65-F5344CB8AC3E}">
        <p14:creationId xmlns:p14="http://schemas.microsoft.com/office/powerpoint/2010/main" val="3087338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16EF-63BD-85BA-8D46-F8384754DB13}"/>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E7A72352-A1D9-67D4-422B-1F980C6E2DB8}"/>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D7849C19-A2E1-4B66-CBCC-12658A4CE7EB}"/>
              </a:ext>
            </a:extLst>
          </p:cNvPr>
          <p:cNvSpPr txBox="1"/>
          <p:nvPr/>
        </p:nvSpPr>
        <p:spPr>
          <a:xfrm>
            <a:off x="1612900" y="1082088"/>
            <a:ext cx="10143553" cy="400110"/>
          </a:xfrm>
          <a:prstGeom prst="rect">
            <a:avLst/>
          </a:prstGeom>
          <a:noFill/>
        </p:spPr>
        <p:txBody>
          <a:bodyPr wrap="square" rtlCol="0">
            <a:spAutoFit/>
          </a:bodyPr>
          <a:lstStyle/>
          <a:p>
            <a:r>
              <a:rPr lang="he-IL" sz="2000" dirty="0">
                <a:solidFill>
                  <a:srgbClr val="000000"/>
                </a:solidFill>
                <a:latin typeface="Rubik" pitchFamily="2" charset="-79"/>
                <a:cs typeface="Rubik" pitchFamily="2" charset="-79"/>
              </a:rPr>
              <a:t>מתי נכנס לעולם הרכש? ומה באחריותנו?</a:t>
            </a:r>
            <a:endParaRPr lang="he-IL" sz="2800" dirty="0">
              <a:solidFill>
                <a:srgbClr val="000000"/>
              </a:solidFill>
              <a:latin typeface="Rubik" pitchFamily="2" charset="-79"/>
              <a:cs typeface="Rubik" pitchFamily="2" charset="-79"/>
            </a:endParaRPr>
          </a:p>
        </p:txBody>
      </p:sp>
      <p:sp>
        <p:nvSpPr>
          <p:cNvPr id="3" name="מלבן 2">
            <a:extLst>
              <a:ext uri="{FF2B5EF4-FFF2-40B4-BE49-F238E27FC236}">
                <a16:creationId xmlns:a16="http://schemas.microsoft.com/office/drawing/2014/main" id="{0192DDA4-C1DB-1812-3C86-A1F64A6A0978}"/>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F365583D-2791-D379-E899-423C274919B3}"/>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9314D556-7579-D099-C227-BC58B7CF34E4}"/>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עקרונות יסוד – 5 כללי זהב למנהל</a:t>
            </a:r>
          </a:p>
        </p:txBody>
      </p:sp>
      <p:sp>
        <p:nvSpPr>
          <p:cNvPr id="11" name="תיבת טקסט 10">
            <a:extLst>
              <a:ext uri="{FF2B5EF4-FFF2-40B4-BE49-F238E27FC236}">
                <a16:creationId xmlns:a16="http://schemas.microsoft.com/office/drawing/2014/main" id="{FC1C4DA0-F8D4-8A0C-2D60-F30CC0D67E0B}"/>
              </a:ext>
            </a:extLst>
          </p:cNvPr>
          <p:cNvSpPr txBox="1"/>
          <p:nvPr/>
        </p:nvSpPr>
        <p:spPr>
          <a:xfrm>
            <a:off x="10093124"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1</a:t>
            </a:r>
          </a:p>
          <a:p>
            <a:r>
              <a:rPr lang="he-IL" sz="1600" i="0" dirty="0">
                <a:solidFill>
                  <a:srgbClr val="000000"/>
                </a:solidFill>
                <a:effectLst/>
                <a:latin typeface="Rubik" pitchFamily="2" charset="-79"/>
                <a:cs typeface="Rubik" pitchFamily="2" charset="-79"/>
              </a:rPr>
              <a:t>ברירת המחדל היא מכרז פומבי</a:t>
            </a:r>
          </a:p>
        </p:txBody>
      </p:sp>
      <p:sp>
        <p:nvSpPr>
          <p:cNvPr id="12" name="תיבת טקסט 11">
            <a:extLst>
              <a:ext uri="{FF2B5EF4-FFF2-40B4-BE49-F238E27FC236}">
                <a16:creationId xmlns:a16="http://schemas.microsoft.com/office/drawing/2014/main" id="{04E26775-950A-CD37-25FD-2487CFBB8717}"/>
              </a:ext>
            </a:extLst>
          </p:cNvPr>
          <p:cNvSpPr txBox="1"/>
          <p:nvPr/>
        </p:nvSpPr>
        <p:spPr>
          <a:xfrm>
            <a:off x="5563369"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3</a:t>
            </a:r>
          </a:p>
          <a:p>
            <a:r>
              <a:rPr lang="he-IL" sz="1600" i="0" dirty="0">
                <a:solidFill>
                  <a:srgbClr val="000000"/>
                </a:solidFill>
                <a:effectLst/>
                <a:latin typeface="Rubik" pitchFamily="2" charset="-79"/>
                <a:cs typeface="Rubik" pitchFamily="2" charset="-79"/>
              </a:rPr>
              <a:t>ברירת המחדל היא מכרז פומבי</a:t>
            </a:r>
          </a:p>
        </p:txBody>
      </p:sp>
      <p:sp>
        <p:nvSpPr>
          <p:cNvPr id="13" name="תיבת טקסט 12">
            <a:extLst>
              <a:ext uri="{FF2B5EF4-FFF2-40B4-BE49-F238E27FC236}">
                <a16:creationId xmlns:a16="http://schemas.microsoft.com/office/drawing/2014/main" id="{02E525E4-42D1-6396-9592-F7397FE23E8D}"/>
              </a:ext>
            </a:extLst>
          </p:cNvPr>
          <p:cNvSpPr txBox="1"/>
          <p:nvPr/>
        </p:nvSpPr>
        <p:spPr>
          <a:xfrm>
            <a:off x="7828247"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2</a:t>
            </a:r>
          </a:p>
          <a:p>
            <a:r>
              <a:rPr lang="he-IL" sz="1600" i="0" dirty="0">
                <a:solidFill>
                  <a:srgbClr val="000000"/>
                </a:solidFill>
                <a:effectLst/>
                <a:latin typeface="Rubik" pitchFamily="2" charset="-79"/>
                <a:cs typeface="Rubik" pitchFamily="2" charset="-79"/>
              </a:rPr>
              <a:t>ברירת המחדל היא מכרז פומבי</a:t>
            </a:r>
          </a:p>
        </p:txBody>
      </p:sp>
      <p:sp>
        <p:nvSpPr>
          <p:cNvPr id="15" name="תיבת טקסט 14">
            <a:extLst>
              <a:ext uri="{FF2B5EF4-FFF2-40B4-BE49-F238E27FC236}">
                <a16:creationId xmlns:a16="http://schemas.microsoft.com/office/drawing/2014/main" id="{C56E053B-7569-1A91-C8EC-1584B809F447}"/>
              </a:ext>
            </a:extLst>
          </p:cNvPr>
          <p:cNvSpPr txBox="1"/>
          <p:nvPr/>
        </p:nvSpPr>
        <p:spPr>
          <a:xfrm>
            <a:off x="3298491"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4</a:t>
            </a:r>
          </a:p>
          <a:p>
            <a:r>
              <a:rPr lang="he-IL" sz="1600" i="0" dirty="0">
                <a:solidFill>
                  <a:srgbClr val="000000"/>
                </a:solidFill>
                <a:effectLst/>
                <a:latin typeface="Rubik" pitchFamily="2" charset="-79"/>
                <a:cs typeface="Rubik" pitchFamily="2" charset="-79"/>
              </a:rPr>
              <a:t>ברירת המחדל היא מכרז פומבי</a:t>
            </a:r>
          </a:p>
        </p:txBody>
      </p:sp>
      <p:sp>
        <p:nvSpPr>
          <p:cNvPr id="16" name="תיבת טקסט 15">
            <a:extLst>
              <a:ext uri="{FF2B5EF4-FFF2-40B4-BE49-F238E27FC236}">
                <a16:creationId xmlns:a16="http://schemas.microsoft.com/office/drawing/2014/main" id="{B18C0CBC-8B62-355A-9589-9B44E1952013}"/>
              </a:ext>
            </a:extLst>
          </p:cNvPr>
          <p:cNvSpPr txBox="1"/>
          <p:nvPr/>
        </p:nvSpPr>
        <p:spPr>
          <a:xfrm>
            <a:off x="1033613" y="2902906"/>
            <a:ext cx="1203530" cy="1077218"/>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5</a:t>
            </a:r>
          </a:p>
          <a:p>
            <a:r>
              <a:rPr lang="he-IL" sz="1600" i="0" dirty="0">
                <a:solidFill>
                  <a:srgbClr val="000000"/>
                </a:solidFill>
                <a:effectLst/>
                <a:latin typeface="Rubik" pitchFamily="2" charset="-79"/>
                <a:cs typeface="Rubik" pitchFamily="2" charset="-79"/>
              </a:rPr>
              <a:t>ברירת המחדל היא מכרז פומבי</a:t>
            </a:r>
          </a:p>
        </p:txBody>
      </p:sp>
    </p:spTree>
    <p:extLst>
      <p:ext uri="{BB962C8B-B14F-4D97-AF65-F5344CB8AC3E}">
        <p14:creationId xmlns:p14="http://schemas.microsoft.com/office/powerpoint/2010/main" val="3343757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3C73F-F433-463B-0B3C-323D98E3F820}"/>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BF974D47-1086-909E-4678-C3696B94E004}"/>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יסודות הרכש</a:t>
            </a:r>
          </a:p>
        </p:txBody>
      </p:sp>
      <p:sp>
        <p:nvSpPr>
          <p:cNvPr id="25" name="תיבת טקסט 24">
            <a:extLst>
              <a:ext uri="{FF2B5EF4-FFF2-40B4-BE49-F238E27FC236}">
                <a16:creationId xmlns:a16="http://schemas.microsoft.com/office/drawing/2014/main" id="{593BE012-A8A3-368B-84E2-E9846826DFE7}"/>
              </a:ext>
            </a:extLst>
          </p:cNvPr>
          <p:cNvSpPr txBox="1"/>
          <p:nvPr/>
        </p:nvSpPr>
        <p:spPr>
          <a:xfrm>
            <a:off x="1612900" y="1082088"/>
            <a:ext cx="10143553" cy="400110"/>
          </a:xfrm>
          <a:prstGeom prst="rect">
            <a:avLst/>
          </a:prstGeom>
          <a:noFill/>
        </p:spPr>
        <p:txBody>
          <a:bodyPr wrap="square" rtlCol="0">
            <a:spAutoFit/>
          </a:bodyPr>
          <a:lstStyle/>
          <a:p>
            <a:r>
              <a:rPr lang="he-IL" sz="2000" dirty="0">
                <a:solidFill>
                  <a:srgbClr val="000000"/>
                </a:solidFill>
                <a:latin typeface="Rubik" pitchFamily="2" charset="-79"/>
                <a:cs typeface="Rubik" pitchFamily="2" charset="-79"/>
              </a:rPr>
              <a:t>מתי נכנס לעולם הרכש? ומה באחריותנו?</a:t>
            </a:r>
            <a:endParaRPr lang="he-IL" sz="2800" dirty="0">
              <a:solidFill>
                <a:srgbClr val="000000"/>
              </a:solidFill>
              <a:latin typeface="Rubik" pitchFamily="2" charset="-79"/>
              <a:cs typeface="Rubik" pitchFamily="2" charset="-79"/>
            </a:endParaRPr>
          </a:p>
        </p:txBody>
      </p:sp>
      <p:sp>
        <p:nvSpPr>
          <p:cNvPr id="3" name="מלבן 2">
            <a:extLst>
              <a:ext uri="{FF2B5EF4-FFF2-40B4-BE49-F238E27FC236}">
                <a16:creationId xmlns:a16="http://schemas.microsoft.com/office/drawing/2014/main" id="{58F8137A-E948-0FB1-4DD3-D2772C3F7307}"/>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DD9916F2-0F81-CF14-FFA7-7675C5024CA2}"/>
              </a:ext>
            </a:extLst>
          </p:cNvPr>
          <p:cNvSpPr/>
          <p:nvPr/>
        </p:nvSpPr>
        <p:spPr>
          <a:xfrm>
            <a:off x="493853" y="362392"/>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DB7B35FC-6BC5-9C5C-30F1-2DAED8513D52}"/>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המנעו מטעויות נפוצות</a:t>
            </a:r>
          </a:p>
        </p:txBody>
      </p:sp>
      <p:sp>
        <p:nvSpPr>
          <p:cNvPr id="11" name="תיבת טקסט 10">
            <a:extLst>
              <a:ext uri="{FF2B5EF4-FFF2-40B4-BE49-F238E27FC236}">
                <a16:creationId xmlns:a16="http://schemas.microsoft.com/office/drawing/2014/main" id="{C351B6F9-9D23-763C-9735-9EF615B37B28}"/>
              </a:ext>
            </a:extLst>
          </p:cNvPr>
          <p:cNvSpPr txBox="1"/>
          <p:nvPr/>
        </p:nvSpPr>
        <p:spPr>
          <a:xfrm>
            <a:off x="2804160" y="1947866"/>
            <a:ext cx="8492494" cy="1815882"/>
          </a:xfrm>
          <a:prstGeom prst="rect">
            <a:avLst/>
          </a:prstGeom>
          <a:noFill/>
        </p:spPr>
        <p:txBody>
          <a:bodyPr wrap="square" rtlCol="0">
            <a:spAutoFit/>
          </a:bodyPr>
          <a:lstStyle/>
          <a:p>
            <a:r>
              <a:rPr lang="he-IL" sz="1600" i="0" dirty="0">
                <a:solidFill>
                  <a:srgbClr val="000000"/>
                </a:solidFill>
                <a:effectLst/>
                <a:latin typeface="Rubik" pitchFamily="2" charset="-79"/>
                <a:cs typeface="Rubik" pitchFamily="2" charset="-79"/>
              </a:rPr>
              <a:t>🚫 מתחילים לעבוד עם ספק לפני חתימה</a:t>
            </a:r>
          </a:p>
          <a:p>
            <a:r>
              <a:rPr lang="he-IL" sz="1600" i="0" dirty="0">
                <a:solidFill>
                  <a:srgbClr val="000000"/>
                </a:solidFill>
                <a:effectLst/>
                <a:latin typeface="Rubik" pitchFamily="2" charset="-79"/>
                <a:cs typeface="Rubik" pitchFamily="2" charset="-79"/>
              </a:rPr>
              <a:t>🚫 מסכמים בעל פה "ונסדיר אחר כך"</a:t>
            </a:r>
          </a:p>
          <a:p>
            <a:r>
              <a:rPr lang="he-IL" sz="1600" i="0" dirty="0">
                <a:solidFill>
                  <a:srgbClr val="000000"/>
                </a:solidFill>
                <a:effectLst/>
                <a:latin typeface="Rubik" pitchFamily="2" charset="-79"/>
                <a:cs typeface="Rubik" pitchFamily="2" charset="-79"/>
              </a:rPr>
              <a:t>🚫 מאריכים חוזה בלי לבדוק תוקף ואישור</a:t>
            </a:r>
          </a:p>
          <a:p>
            <a:r>
              <a:rPr lang="he-IL" sz="1600" i="0" dirty="0">
                <a:solidFill>
                  <a:srgbClr val="000000"/>
                </a:solidFill>
                <a:effectLst/>
                <a:latin typeface="Rubik" pitchFamily="2" charset="-79"/>
                <a:cs typeface="Rubik" pitchFamily="2" charset="-79"/>
              </a:rPr>
              <a:t>🚫 מפצלים הזמנה כדי לא לעבור סף</a:t>
            </a:r>
          </a:p>
          <a:p>
            <a:r>
              <a:rPr lang="he-IL" sz="1600" i="0" dirty="0">
                <a:solidFill>
                  <a:srgbClr val="000000"/>
                </a:solidFill>
                <a:effectLst/>
                <a:latin typeface="Rubik" pitchFamily="2" charset="-79"/>
                <a:cs typeface="Rubik" pitchFamily="2" charset="-79"/>
              </a:rPr>
              <a:t>🚫 לא בודקים אם קיים מכרז רוחבי</a:t>
            </a:r>
          </a:p>
          <a:p>
            <a:endParaRPr lang="he-IL" sz="1600" dirty="0">
              <a:solidFill>
                <a:srgbClr val="000000"/>
              </a:solidFill>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 כל חריגה קטנה עלולה להפוך לסיכון משפטי/רגולטורי.</a:t>
            </a:r>
          </a:p>
        </p:txBody>
      </p:sp>
      <p:sp>
        <p:nvSpPr>
          <p:cNvPr id="2" name="תיבת טקסט 1">
            <a:extLst>
              <a:ext uri="{FF2B5EF4-FFF2-40B4-BE49-F238E27FC236}">
                <a16:creationId xmlns:a16="http://schemas.microsoft.com/office/drawing/2014/main" id="{0F9428A2-A7E5-814D-BCA8-06AF93D147BF}"/>
              </a:ext>
            </a:extLst>
          </p:cNvPr>
          <p:cNvSpPr txBox="1"/>
          <p:nvPr/>
        </p:nvSpPr>
        <p:spPr>
          <a:xfrm>
            <a:off x="493854" y="1323808"/>
            <a:ext cx="11204294" cy="369332"/>
          </a:xfrm>
          <a:prstGeom prst="rect">
            <a:avLst/>
          </a:prstGeom>
          <a:noFill/>
        </p:spPr>
        <p:txBody>
          <a:bodyPr wrap="square">
            <a:spAutoFit/>
          </a:bodyPr>
          <a:lstStyle/>
          <a:p>
            <a:pPr algn="ctr">
              <a:buNone/>
            </a:pPr>
            <a:r>
              <a:rPr lang="he-IL" b="1" dirty="0">
                <a:latin typeface="Rubik" pitchFamily="2" charset="-79"/>
                <a:cs typeface="Rubik" pitchFamily="2" charset="-79"/>
              </a:rPr>
              <a:t>טעויות שמנהלים חדשים עושים – ואסור שיקרו</a:t>
            </a:r>
            <a:endParaRPr lang="en-US" b="1" dirty="0">
              <a:latin typeface="Rubik" pitchFamily="2" charset="-79"/>
              <a:cs typeface="Rubik" pitchFamily="2" charset="-79"/>
            </a:endParaRPr>
          </a:p>
        </p:txBody>
      </p:sp>
    </p:spTree>
    <p:extLst>
      <p:ext uri="{BB962C8B-B14F-4D97-AF65-F5344CB8AC3E}">
        <p14:creationId xmlns:p14="http://schemas.microsoft.com/office/powerpoint/2010/main" val="2434123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D3C0E-7A7C-6465-B3C2-53FB02B2F4A1}"/>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A5816095-4A65-DF70-D6E9-3F61C3CF897E}"/>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הערכת ביצועים</a:t>
            </a:r>
          </a:p>
        </p:txBody>
      </p:sp>
      <p:sp>
        <p:nvSpPr>
          <p:cNvPr id="25" name="תיבת טקסט 24">
            <a:extLst>
              <a:ext uri="{FF2B5EF4-FFF2-40B4-BE49-F238E27FC236}">
                <a16:creationId xmlns:a16="http://schemas.microsoft.com/office/drawing/2014/main" id="{6F81703C-50F3-C074-8CAE-DE044F96E05E}"/>
              </a:ext>
            </a:extLst>
          </p:cNvPr>
          <p:cNvSpPr txBox="1"/>
          <p:nvPr/>
        </p:nvSpPr>
        <p:spPr>
          <a:xfrm>
            <a:off x="1612900" y="1082088"/>
            <a:ext cx="10143553" cy="400110"/>
          </a:xfrm>
          <a:prstGeom prst="rect">
            <a:avLst/>
          </a:prstGeom>
          <a:noFill/>
        </p:spPr>
        <p:txBody>
          <a:bodyPr wrap="square" rtlCol="0">
            <a:spAutoFit/>
          </a:bodyPr>
          <a:lstStyle/>
          <a:p>
            <a:r>
              <a:rPr lang="he-IL" sz="2000" b="0" i="0" dirty="0">
                <a:solidFill>
                  <a:srgbClr val="000000"/>
                </a:solidFill>
                <a:effectLst/>
                <a:latin typeface="Rubik" pitchFamily="2" charset="-79"/>
                <a:cs typeface="Rubik" pitchFamily="2" charset="-79"/>
              </a:rPr>
              <a:t>מהי הערכת ביצועים במאוחדת?</a:t>
            </a:r>
            <a:endParaRPr lang="he-IL" sz="2800" i="0" dirty="0">
              <a:solidFill>
                <a:srgbClr val="000000"/>
              </a:solidFill>
              <a:effectLst/>
              <a:latin typeface="Rubik" pitchFamily="2" charset="-79"/>
              <a:cs typeface="Rubik" pitchFamily="2" charset="-79"/>
            </a:endParaRPr>
          </a:p>
        </p:txBody>
      </p:sp>
      <p:sp>
        <p:nvSpPr>
          <p:cNvPr id="2" name="תיבת טקסט 1">
            <a:extLst>
              <a:ext uri="{FF2B5EF4-FFF2-40B4-BE49-F238E27FC236}">
                <a16:creationId xmlns:a16="http://schemas.microsoft.com/office/drawing/2014/main" id="{5E7F514A-FAC4-DD66-454C-B41E1C26A844}"/>
              </a:ext>
            </a:extLst>
          </p:cNvPr>
          <p:cNvSpPr txBox="1"/>
          <p:nvPr/>
        </p:nvSpPr>
        <p:spPr>
          <a:xfrm>
            <a:off x="5190495" y="1482198"/>
            <a:ext cx="6565958" cy="4924425"/>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תהליך הערכה שנתי ומובנה מהווה הזדמנות לשיחה אישית עם המנהל הישיר, להעמקת ההיכרות, לשיח על התפתחות, לחגיגת הצלחות וללמידה מהאתגרים שחווינו בשנה החולפת – בדרך להצבת יעדים לשנה הקרובה.</a:t>
            </a:r>
          </a:p>
          <a:p>
            <a:endParaRPr lang="he-IL" sz="1400" b="1" i="0" dirty="0">
              <a:solidFill>
                <a:srgbClr val="000000"/>
              </a:solidFill>
              <a:effectLst/>
              <a:latin typeface="Rubik" pitchFamily="2" charset="-79"/>
              <a:cs typeface="Rubik" pitchFamily="2" charset="-79"/>
            </a:endParaRPr>
          </a:p>
          <a:p>
            <a:r>
              <a:rPr lang="he-IL" sz="1400" b="1" i="0" dirty="0">
                <a:solidFill>
                  <a:srgbClr val="000000"/>
                </a:solidFill>
                <a:effectLst/>
                <a:latin typeface="Rubik" pitchFamily="2" charset="-79"/>
                <a:cs typeface="Rubik" pitchFamily="2" charset="-79"/>
              </a:rPr>
              <a:t>מטרות התהליך:</a:t>
            </a:r>
          </a:p>
          <a:p>
            <a:pPr marL="285750" indent="-285750">
              <a:buFont typeface="Arial" panose="020B0604020202020204" pitchFamily="34" charset="0"/>
              <a:buChar char="•"/>
            </a:pPr>
            <a:r>
              <a:rPr lang="he-IL" sz="1400" b="0" i="0" dirty="0">
                <a:solidFill>
                  <a:srgbClr val="000000"/>
                </a:solidFill>
                <a:effectLst/>
                <a:latin typeface="Rubik" pitchFamily="2" charset="-79"/>
                <a:cs typeface="Rubik" pitchFamily="2" charset="-79"/>
              </a:rPr>
              <a:t>שיפור ביצועים וקידום מטרות הארגון</a:t>
            </a:r>
          </a:p>
          <a:p>
            <a:pPr marL="285750" indent="-285750">
              <a:buFont typeface="Arial" panose="020B0604020202020204" pitchFamily="34" charset="0"/>
              <a:buChar char="•"/>
            </a:pPr>
            <a:r>
              <a:rPr lang="he-IL" sz="1400" dirty="0">
                <a:solidFill>
                  <a:srgbClr val="000000"/>
                </a:solidFill>
                <a:latin typeface="Rubik" pitchFamily="2" charset="-79"/>
                <a:cs typeface="Rubik" pitchFamily="2" charset="-79"/>
              </a:rPr>
              <a:t>קיום שיחה איכותית בין העובד המוערך למנהל הישיר</a:t>
            </a:r>
          </a:p>
          <a:p>
            <a:pPr marL="285750" indent="-285750">
              <a:buFont typeface="Arial" panose="020B0604020202020204" pitchFamily="34" charset="0"/>
              <a:buChar char="•"/>
            </a:pPr>
            <a:r>
              <a:rPr lang="he-IL" sz="1400" b="0" i="0" dirty="0">
                <a:solidFill>
                  <a:srgbClr val="000000"/>
                </a:solidFill>
                <a:effectLst/>
                <a:latin typeface="Rubik" pitchFamily="2" charset="-79"/>
                <a:cs typeface="Rubik" pitchFamily="2" charset="-79"/>
              </a:rPr>
              <a:t>כלי תומך בקבלת החלטות ניהוליות (קידום והתפתחות, תהליכי שימוע וכו')</a:t>
            </a:r>
          </a:p>
          <a:p>
            <a:pPr marL="285750" indent="-285750">
              <a:buFont typeface="Arial" panose="020B0604020202020204" pitchFamily="34" charset="0"/>
              <a:buChar char="•"/>
            </a:pPr>
            <a:endParaRPr lang="he-IL" sz="1400" dirty="0">
              <a:solidFill>
                <a:srgbClr val="000000"/>
              </a:solidFill>
              <a:latin typeface="Rubik" pitchFamily="2" charset="-79"/>
              <a:cs typeface="Rubik" pitchFamily="2" charset="-79"/>
            </a:endParaRPr>
          </a:p>
          <a:p>
            <a:r>
              <a:rPr lang="he-IL" sz="1400" b="1" dirty="0">
                <a:solidFill>
                  <a:srgbClr val="000000"/>
                </a:solidFill>
                <a:latin typeface="Rubik" pitchFamily="2" charset="-79"/>
                <a:cs typeface="Rubik" pitchFamily="2" charset="-79"/>
              </a:rPr>
              <a:t>מתי מתקיים?</a:t>
            </a:r>
            <a:r>
              <a:rPr lang="he-IL" sz="1400" dirty="0">
                <a:solidFill>
                  <a:srgbClr val="000000"/>
                </a:solidFill>
                <a:latin typeface="Rubik" pitchFamily="2" charset="-79"/>
                <a:cs typeface="Rubik" pitchFamily="2" charset="-79"/>
              </a:rPr>
              <a:t>	</a:t>
            </a:r>
          </a:p>
          <a:p>
            <a:r>
              <a:rPr lang="he-IL" sz="1400" dirty="0">
                <a:solidFill>
                  <a:srgbClr val="000000"/>
                </a:solidFill>
                <a:latin typeface="Rubik" pitchFamily="2" charset="-79"/>
                <a:cs typeface="Rubik" pitchFamily="2" charset="-79"/>
              </a:rPr>
              <a:t>אחת לשנה, בדרך כלל בין דצמבר לפברואר.</a:t>
            </a:r>
          </a:p>
          <a:p>
            <a:endParaRPr lang="he-IL" sz="1400" i="0" dirty="0">
              <a:solidFill>
                <a:srgbClr val="000000"/>
              </a:solidFill>
              <a:effectLst/>
              <a:latin typeface="Rubik" pitchFamily="2" charset="-79"/>
              <a:cs typeface="Rubik" pitchFamily="2" charset="-79"/>
            </a:endParaRPr>
          </a:p>
          <a:p>
            <a:r>
              <a:rPr lang="he-IL" sz="1400" b="1" dirty="0">
                <a:solidFill>
                  <a:srgbClr val="000000"/>
                </a:solidFill>
                <a:latin typeface="Rubik" pitchFamily="2" charset="-79"/>
                <a:cs typeface="Rubik" pitchFamily="2" charset="-79"/>
              </a:rPr>
              <a:t>מה </a:t>
            </a:r>
            <a:r>
              <a:rPr lang="he-IL" sz="1400" b="1" dirty="0" err="1">
                <a:solidFill>
                  <a:srgbClr val="000000"/>
                </a:solidFill>
                <a:latin typeface="Rubik" pitchFamily="2" charset="-79"/>
                <a:cs typeface="Rubik" pitchFamily="2" charset="-79"/>
              </a:rPr>
              <a:t>אתםצריך</a:t>
            </a:r>
            <a:r>
              <a:rPr lang="he-IL" sz="1400" b="1" dirty="0">
                <a:solidFill>
                  <a:srgbClr val="000000"/>
                </a:solidFill>
                <a:latin typeface="Rubik" pitchFamily="2" charset="-79"/>
                <a:cs typeface="Rubik" pitchFamily="2" charset="-79"/>
              </a:rPr>
              <a:t> לעשות עם זה?</a:t>
            </a:r>
          </a:p>
          <a:p>
            <a:r>
              <a:rPr lang="he-IL" sz="1400" dirty="0">
                <a:solidFill>
                  <a:srgbClr val="000000"/>
                </a:solidFill>
                <a:latin typeface="Rubik" pitchFamily="2" charset="-79"/>
                <a:cs typeface="Rubik" pitchFamily="2" charset="-79"/>
              </a:rPr>
              <a:t>כרגע כלום. אל תדאגו, כשזה יהיה רלוונטי (לפני שהתהליך מתחיל) נדאג לתת לכם את המידע ולהזמין אותכם להדרכות כדי שיהיה לכם את כל המידע שצריך</a:t>
            </a:r>
          </a:p>
          <a:p>
            <a:endParaRPr lang="he-IL" sz="1400" i="0" dirty="0">
              <a:solidFill>
                <a:srgbClr val="000000"/>
              </a:solidFill>
              <a:effectLst/>
              <a:latin typeface="Rubik" pitchFamily="2" charset="-79"/>
              <a:cs typeface="Rubik" pitchFamily="2" charset="-79"/>
            </a:endParaRPr>
          </a:p>
          <a:p>
            <a:r>
              <a:rPr lang="he-IL" sz="1400" b="1" dirty="0">
                <a:solidFill>
                  <a:srgbClr val="000000"/>
                </a:solidFill>
                <a:latin typeface="Rubik" pitchFamily="2" charset="-79"/>
                <a:cs typeface="Rubik" pitchFamily="2" charset="-79"/>
              </a:rPr>
              <a:t>מה זה אומר מבחינתכם כמנהלים?</a:t>
            </a:r>
          </a:p>
          <a:p>
            <a:r>
              <a:rPr lang="he-IL" sz="1400" dirty="0">
                <a:solidFill>
                  <a:srgbClr val="000000"/>
                </a:solidFill>
                <a:latin typeface="Rubik" pitchFamily="2" charset="-79"/>
                <a:cs typeface="Rubik" pitchFamily="2" charset="-79"/>
              </a:rPr>
              <a:t>בשלב הזה בעיקר חשוב להכיר את התהליך ולהבין שהוא חלק ממחזור העבודה השנתי. אין צורך להיערך אליו כבר עכשיו או לבצע פעולות מיוחדות. כשהמועד יתקרב והתהליך יהיה רלוונטי עבורך, נדאג לשתף את כל המידע הנדרש, נסביר מה מצופה ממך בכל שלב ונזמין אותך להדרכות שייתנו לך את כל הכלים והידע שתצטרך.</a:t>
            </a:r>
          </a:p>
          <a:p>
            <a:endParaRPr lang="he-IL" sz="1400" i="0" dirty="0">
              <a:solidFill>
                <a:srgbClr val="000000"/>
              </a:solidFill>
              <a:effectLst/>
              <a:latin typeface="Rubik" pitchFamily="2" charset="-79"/>
              <a:cs typeface="Rubik" pitchFamily="2" charset="-79"/>
            </a:endParaRPr>
          </a:p>
        </p:txBody>
      </p:sp>
      <p:sp>
        <p:nvSpPr>
          <p:cNvPr id="4" name="Oval 27">
            <a:extLst>
              <a:ext uri="{FF2B5EF4-FFF2-40B4-BE49-F238E27FC236}">
                <a16:creationId xmlns:a16="http://schemas.microsoft.com/office/drawing/2014/main" id="{94163079-BDF8-6AEC-B8B9-1A7B9B1378D8}"/>
              </a:ext>
            </a:extLst>
          </p:cNvPr>
          <p:cNvSpPr/>
          <p:nvPr/>
        </p:nvSpPr>
        <p:spPr>
          <a:xfrm>
            <a:off x="3320881" y="2288228"/>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3" name="קבוצה 2">
            <a:extLst>
              <a:ext uri="{FF2B5EF4-FFF2-40B4-BE49-F238E27FC236}">
                <a16:creationId xmlns:a16="http://schemas.microsoft.com/office/drawing/2014/main" id="{6CBD1B9F-667A-E098-3623-E735D0FD9138}"/>
              </a:ext>
            </a:extLst>
          </p:cNvPr>
          <p:cNvGrpSpPr/>
          <p:nvPr/>
        </p:nvGrpSpPr>
        <p:grpSpPr>
          <a:xfrm>
            <a:off x="-163147" y="1199872"/>
            <a:ext cx="4497343" cy="528644"/>
            <a:chOff x="7263813" y="4352425"/>
            <a:chExt cx="4497343" cy="528644"/>
          </a:xfrm>
        </p:grpSpPr>
        <p:sp>
          <p:nvSpPr>
            <p:cNvPr id="6" name="תיבת טקסט 5">
              <a:extLst>
                <a:ext uri="{FF2B5EF4-FFF2-40B4-BE49-F238E27FC236}">
                  <a16:creationId xmlns:a16="http://schemas.microsoft.com/office/drawing/2014/main" id="{BBAEBE99-9B6C-3B63-F7CE-DB1A08117E66}"/>
                </a:ext>
              </a:extLst>
            </p:cNvPr>
            <p:cNvSpPr txBox="1"/>
            <p:nvPr/>
          </p:nvSpPr>
          <p:spPr>
            <a:xfrm>
              <a:off x="7263813" y="4456373"/>
              <a:ext cx="3968699"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שלבי תהליך הערכת ביצועים</a:t>
              </a:r>
              <a:endParaRPr lang="he-IL" sz="2400" i="0" dirty="0">
                <a:solidFill>
                  <a:srgbClr val="009CE1"/>
                </a:solidFill>
                <a:effectLst/>
                <a:latin typeface="Rubik" pitchFamily="2" charset="-79"/>
                <a:cs typeface="Rubik" pitchFamily="2" charset="-79"/>
              </a:endParaRPr>
            </a:p>
          </p:txBody>
        </p:sp>
        <p:grpSp>
          <p:nvGrpSpPr>
            <p:cNvPr id="7" name="קבוצה 6">
              <a:extLst>
                <a:ext uri="{FF2B5EF4-FFF2-40B4-BE49-F238E27FC236}">
                  <a16:creationId xmlns:a16="http://schemas.microsoft.com/office/drawing/2014/main" id="{31B7A741-2373-65B0-1257-E9FB597011D4}"/>
                </a:ext>
              </a:extLst>
            </p:cNvPr>
            <p:cNvGrpSpPr/>
            <p:nvPr/>
          </p:nvGrpSpPr>
          <p:grpSpPr>
            <a:xfrm>
              <a:off x="11232512" y="4352425"/>
              <a:ext cx="528644" cy="528644"/>
              <a:chOff x="11238905" y="4653366"/>
              <a:chExt cx="657179" cy="657179"/>
            </a:xfrm>
          </p:grpSpPr>
          <p:sp>
            <p:nvSpPr>
              <p:cNvPr id="8" name="אליפסה 7">
                <a:extLst>
                  <a:ext uri="{FF2B5EF4-FFF2-40B4-BE49-F238E27FC236}">
                    <a16:creationId xmlns:a16="http://schemas.microsoft.com/office/drawing/2014/main" id="{C97032D2-9EA1-55C3-CA95-73A00B776B90}"/>
                  </a:ext>
                </a:extLst>
              </p:cNvPr>
              <p:cNvSpPr/>
              <p:nvPr/>
            </p:nvSpPr>
            <p:spPr>
              <a:xfrm>
                <a:off x="11238905" y="4653366"/>
                <a:ext cx="657179" cy="657179"/>
              </a:xfrm>
              <a:prstGeom prst="ellipse">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9" name="תמונה 8" descr="תמונה שמכילה עיגול, סמל, גרפיקה, לבן&#10;&#10;התיאור נוצר באופן אוטומטי">
                <a:extLst>
                  <a:ext uri="{FF2B5EF4-FFF2-40B4-BE49-F238E27FC236}">
                    <a16:creationId xmlns:a16="http://schemas.microsoft.com/office/drawing/2014/main" id="{F88ECEAF-8496-47CA-8FFD-C5421E271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516" y="4796977"/>
                <a:ext cx="369956" cy="369956"/>
              </a:xfrm>
              <a:prstGeom prst="rect">
                <a:avLst/>
              </a:prstGeom>
            </p:spPr>
          </p:pic>
        </p:grpSp>
      </p:grpSp>
      <p:sp>
        <p:nvSpPr>
          <p:cNvPr id="10" name="תיבת טקסט 9">
            <a:extLst>
              <a:ext uri="{FF2B5EF4-FFF2-40B4-BE49-F238E27FC236}">
                <a16:creationId xmlns:a16="http://schemas.microsoft.com/office/drawing/2014/main" id="{CD8C3B66-B730-A17A-2ACA-CE2229751AD6}"/>
              </a:ext>
            </a:extLst>
          </p:cNvPr>
          <p:cNvSpPr txBox="1"/>
          <p:nvPr/>
        </p:nvSpPr>
        <p:spPr>
          <a:xfrm>
            <a:off x="-2728171" y="755968"/>
            <a:ext cx="7057663" cy="338554"/>
          </a:xfrm>
          <a:prstGeom prst="rect">
            <a:avLst/>
          </a:prstGeom>
          <a:noFill/>
        </p:spPr>
        <p:txBody>
          <a:bodyPr wrap="square">
            <a:spAutoFit/>
          </a:bodyPr>
          <a:lstStyle/>
          <a:p>
            <a:pPr>
              <a:buNone/>
            </a:pPr>
            <a:r>
              <a:rPr lang="he-IL" sz="1600" dirty="0">
                <a:latin typeface="Rubik" pitchFamily="2" charset="-79"/>
                <a:cs typeface="Rubik" pitchFamily="2" charset="-79"/>
              </a:rPr>
              <a:t>לחצו להרחבה.</a:t>
            </a:r>
          </a:p>
        </p:txBody>
      </p:sp>
      <p:cxnSp>
        <p:nvCxnSpPr>
          <p:cNvPr id="21" name="מחבר ישר 20">
            <a:extLst>
              <a:ext uri="{FF2B5EF4-FFF2-40B4-BE49-F238E27FC236}">
                <a16:creationId xmlns:a16="http://schemas.microsoft.com/office/drawing/2014/main" id="{C29294A1-878B-AF3B-F024-FD3C94C404EC}"/>
              </a:ext>
            </a:extLst>
          </p:cNvPr>
          <p:cNvCxnSpPr>
            <a:cxnSpLocks/>
          </p:cNvCxnSpPr>
          <p:nvPr/>
        </p:nvCxnSpPr>
        <p:spPr>
          <a:xfrm>
            <a:off x="4756423" y="664528"/>
            <a:ext cx="0" cy="6112192"/>
          </a:xfrm>
          <a:prstGeom prst="line">
            <a:avLst/>
          </a:prstGeom>
        </p:spPr>
        <p:style>
          <a:lnRef idx="2">
            <a:schemeClr val="accent1"/>
          </a:lnRef>
          <a:fillRef idx="0">
            <a:schemeClr val="accent1"/>
          </a:fillRef>
          <a:effectRef idx="1">
            <a:schemeClr val="accent1"/>
          </a:effectRef>
          <a:fontRef idx="minor">
            <a:schemeClr val="tx1"/>
          </a:fontRef>
        </p:style>
      </p:cxnSp>
      <p:sp>
        <p:nvSpPr>
          <p:cNvPr id="20" name="תיבת טקסט 19">
            <a:extLst>
              <a:ext uri="{FF2B5EF4-FFF2-40B4-BE49-F238E27FC236}">
                <a16:creationId xmlns:a16="http://schemas.microsoft.com/office/drawing/2014/main" id="{7E3B91CD-B923-9409-03F8-FA7245DDFB38}"/>
              </a:ext>
            </a:extLst>
          </p:cNvPr>
          <p:cNvSpPr txBox="1"/>
          <p:nvPr/>
        </p:nvSpPr>
        <p:spPr>
          <a:xfrm>
            <a:off x="624845" y="2957257"/>
            <a:ext cx="3180708" cy="830997"/>
          </a:xfrm>
          <a:prstGeom prst="rect">
            <a:avLst/>
          </a:prstGeom>
          <a:noFill/>
        </p:spPr>
        <p:txBody>
          <a:bodyPr wrap="square">
            <a:spAutoFit/>
          </a:bodyPr>
          <a:lstStyle/>
          <a:p>
            <a:r>
              <a:rPr lang="he-IL" sz="1600" dirty="0">
                <a:solidFill>
                  <a:srgbClr val="000000"/>
                </a:solidFill>
                <a:latin typeface="Rubik" pitchFamily="2" charset="-79"/>
                <a:cs typeface="Rubik" pitchFamily="2" charset="-79"/>
              </a:rPr>
              <a:t>להרחבה על התהליך, צפייה בלומדה וקבלת כלים – חפשו "הערכת ביצועים" בקליקה.</a:t>
            </a:r>
            <a:endParaRPr lang="he-IL" sz="2000" i="0" dirty="0">
              <a:solidFill>
                <a:srgbClr val="000000"/>
              </a:solidFill>
              <a:effectLst/>
              <a:latin typeface="Rubik" pitchFamily="2" charset="-79"/>
              <a:cs typeface="Rubik" pitchFamily="2" charset="-79"/>
            </a:endParaRPr>
          </a:p>
        </p:txBody>
      </p:sp>
    </p:spTree>
    <p:extLst>
      <p:ext uri="{BB962C8B-B14F-4D97-AF65-F5344CB8AC3E}">
        <p14:creationId xmlns:p14="http://schemas.microsoft.com/office/powerpoint/2010/main" val="221456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AC32-7BE6-98E8-9F02-D4B897B608BF}"/>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3EEF22CB-D990-54B7-BA5E-B4C80225D83F}"/>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הערכת ביצועים</a:t>
            </a:r>
          </a:p>
        </p:txBody>
      </p:sp>
      <p:sp>
        <p:nvSpPr>
          <p:cNvPr id="8" name="Oval 1">
            <a:extLst>
              <a:ext uri="{FF2B5EF4-FFF2-40B4-BE49-F238E27FC236}">
                <a16:creationId xmlns:a16="http://schemas.microsoft.com/office/drawing/2014/main" id="{17DD57D6-D98B-64AF-561B-B4C974A61246}"/>
              </a:ext>
            </a:extLst>
          </p:cNvPr>
          <p:cNvSpPr/>
          <p:nvPr/>
        </p:nvSpPr>
        <p:spPr>
          <a:xfrm rot="6356543">
            <a:off x="7428623" y="2632518"/>
            <a:ext cx="427677" cy="300826"/>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0" name="Oval 1">
            <a:extLst>
              <a:ext uri="{FF2B5EF4-FFF2-40B4-BE49-F238E27FC236}">
                <a16:creationId xmlns:a16="http://schemas.microsoft.com/office/drawing/2014/main" id="{29BC0773-1BAC-C7B2-2280-1F40BAEE836D}"/>
              </a:ext>
            </a:extLst>
          </p:cNvPr>
          <p:cNvSpPr/>
          <p:nvPr/>
        </p:nvSpPr>
        <p:spPr>
          <a:xfrm rot="6356543">
            <a:off x="4254885" y="2632518"/>
            <a:ext cx="427677" cy="300826"/>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38" name="קבוצה 37">
            <a:extLst>
              <a:ext uri="{FF2B5EF4-FFF2-40B4-BE49-F238E27FC236}">
                <a16:creationId xmlns:a16="http://schemas.microsoft.com/office/drawing/2014/main" id="{6878C9A7-D682-F18E-6962-704B06B560BA}"/>
              </a:ext>
            </a:extLst>
          </p:cNvPr>
          <p:cNvGrpSpPr/>
          <p:nvPr/>
        </p:nvGrpSpPr>
        <p:grpSpPr>
          <a:xfrm>
            <a:off x="8334221" y="2184565"/>
            <a:ext cx="1869585" cy="1196733"/>
            <a:chOff x="7934171" y="1878293"/>
            <a:chExt cx="1869585" cy="1196733"/>
          </a:xfrm>
        </p:grpSpPr>
        <p:sp>
          <p:nvSpPr>
            <p:cNvPr id="21" name="תיבת טקסט 20">
              <a:extLst>
                <a:ext uri="{FF2B5EF4-FFF2-40B4-BE49-F238E27FC236}">
                  <a16:creationId xmlns:a16="http://schemas.microsoft.com/office/drawing/2014/main" id="{6AFF798C-7535-C5A7-3D5D-1767156A77F1}"/>
                </a:ext>
              </a:extLst>
            </p:cNvPr>
            <p:cNvSpPr txBox="1"/>
            <p:nvPr/>
          </p:nvSpPr>
          <p:spPr>
            <a:xfrm>
              <a:off x="7934171" y="2705694"/>
              <a:ext cx="1869585" cy="369332"/>
            </a:xfrm>
            <a:prstGeom prst="rect">
              <a:avLst/>
            </a:prstGeom>
            <a:noFill/>
          </p:spPr>
          <p:txBody>
            <a:bodyPr wrap="square" rtlCol="0">
              <a:spAutoFit/>
            </a:bodyPr>
            <a:lstStyle/>
            <a:p>
              <a:pPr algn="ctr"/>
              <a:r>
                <a:rPr lang="he-IL" b="1" i="0" dirty="0">
                  <a:solidFill>
                    <a:srgbClr val="000000"/>
                  </a:solidFill>
                  <a:effectLst/>
                  <a:latin typeface="Rubik" pitchFamily="2" charset="-79"/>
                  <a:cs typeface="Rubik" pitchFamily="2" charset="-79"/>
                </a:rPr>
                <a:t>מילוי הערכות</a:t>
              </a:r>
              <a:endParaRPr lang="he-IL" sz="2400" b="1" i="0" dirty="0">
                <a:solidFill>
                  <a:srgbClr val="000000"/>
                </a:solidFill>
                <a:effectLst/>
                <a:latin typeface="Rubik" pitchFamily="2" charset="-79"/>
                <a:cs typeface="Rubik" pitchFamily="2" charset="-79"/>
              </a:endParaRPr>
            </a:p>
          </p:txBody>
        </p:sp>
        <p:grpSp>
          <p:nvGrpSpPr>
            <p:cNvPr id="31" name="קבוצה 30">
              <a:extLst>
                <a:ext uri="{FF2B5EF4-FFF2-40B4-BE49-F238E27FC236}">
                  <a16:creationId xmlns:a16="http://schemas.microsoft.com/office/drawing/2014/main" id="{37232927-5CC8-2361-91C5-CAF4230D8FA8}"/>
                </a:ext>
              </a:extLst>
            </p:cNvPr>
            <p:cNvGrpSpPr/>
            <p:nvPr/>
          </p:nvGrpSpPr>
          <p:grpSpPr>
            <a:xfrm>
              <a:off x="7942990" y="1878293"/>
              <a:ext cx="1851949" cy="1196733"/>
              <a:chOff x="7942990" y="1878293"/>
              <a:chExt cx="1851949" cy="1196733"/>
            </a:xfrm>
          </p:grpSpPr>
          <p:sp>
            <p:nvSpPr>
              <p:cNvPr id="7" name="מלבן: פינות מעוגלות 6">
                <a:extLst>
                  <a:ext uri="{FF2B5EF4-FFF2-40B4-BE49-F238E27FC236}">
                    <a16:creationId xmlns:a16="http://schemas.microsoft.com/office/drawing/2014/main" id="{04B36545-D877-7881-8F7C-D3DB594AC631}"/>
                  </a:ext>
                </a:extLst>
              </p:cNvPr>
              <p:cNvSpPr/>
              <p:nvPr/>
            </p:nvSpPr>
            <p:spPr>
              <a:xfrm>
                <a:off x="8173306" y="1878293"/>
                <a:ext cx="1391317" cy="64430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latin typeface="Rubik" pitchFamily="2" charset="-79"/>
                    <a:cs typeface="Rubik" pitchFamily="2" charset="-79"/>
                  </a:rPr>
                  <a:t>שלב 1</a:t>
                </a:r>
                <a:endParaRPr lang="LID4096" dirty="0">
                  <a:latin typeface="Rubik" pitchFamily="2" charset="-79"/>
                  <a:cs typeface="Rubik" pitchFamily="2" charset="-79"/>
                </a:endParaRPr>
              </a:p>
            </p:txBody>
          </p:sp>
          <p:cxnSp>
            <p:nvCxnSpPr>
              <p:cNvPr id="27" name="מחבר ישר 26">
                <a:extLst>
                  <a:ext uri="{FF2B5EF4-FFF2-40B4-BE49-F238E27FC236}">
                    <a16:creationId xmlns:a16="http://schemas.microsoft.com/office/drawing/2014/main" id="{9ABEB6B8-73E0-B012-5A8D-EF8A6EFA4FCE}"/>
                  </a:ext>
                </a:extLst>
              </p:cNvPr>
              <p:cNvCxnSpPr>
                <a:cxnSpLocks/>
              </p:cNvCxnSpPr>
              <p:nvPr/>
            </p:nvCxnSpPr>
            <p:spPr>
              <a:xfrm flipH="1">
                <a:off x="7942990" y="3075026"/>
                <a:ext cx="1851949" cy="0"/>
              </a:xfrm>
              <a:prstGeom prst="line">
                <a:avLst/>
              </a:prstGeom>
              <a:ln>
                <a:solidFill>
                  <a:srgbClr val="FAAF54"/>
                </a:solidFill>
              </a:ln>
            </p:spPr>
            <p:style>
              <a:lnRef idx="2">
                <a:schemeClr val="accent1"/>
              </a:lnRef>
              <a:fillRef idx="0">
                <a:schemeClr val="accent1"/>
              </a:fillRef>
              <a:effectRef idx="1">
                <a:schemeClr val="accent1"/>
              </a:effectRef>
              <a:fontRef idx="minor">
                <a:schemeClr val="tx1"/>
              </a:fontRef>
            </p:style>
          </p:cxnSp>
        </p:grpSp>
      </p:grpSp>
      <p:grpSp>
        <p:nvGrpSpPr>
          <p:cNvPr id="6" name="קבוצה 5">
            <a:extLst>
              <a:ext uri="{FF2B5EF4-FFF2-40B4-BE49-F238E27FC236}">
                <a16:creationId xmlns:a16="http://schemas.microsoft.com/office/drawing/2014/main" id="{3B386543-2A74-AE1D-30FE-8A727B49B0A8}"/>
              </a:ext>
            </a:extLst>
          </p:cNvPr>
          <p:cNvGrpSpPr/>
          <p:nvPr/>
        </p:nvGrpSpPr>
        <p:grpSpPr>
          <a:xfrm>
            <a:off x="5160484" y="2169175"/>
            <a:ext cx="1790218" cy="1227512"/>
            <a:chOff x="4305782" y="1878292"/>
            <a:chExt cx="1790218" cy="1227512"/>
          </a:xfrm>
        </p:grpSpPr>
        <p:sp>
          <p:nvSpPr>
            <p:cNvPr id="9" name="מלבן: פינות מעוגלות 8">
              <a:extLst>
                <a:ext uri="{FF2B5EF4-FFF2-40B4-BE49-F238E27FC236}">
                  <a16:creationId xmlns:a16="http://schemas.microsoft.com/office/drawing/2014/main" id="{F3E5E64A-F943-37C4-7CFA-3BB7D16046D3}"/>
                </a:ext>
              </a:extLst>
            </p:cNvPr>
            <p:cNvSpPr/>
            <p:nvPr/>
          </p:nvSpPr>
          <p:spPr>
            <a:xfrm>
              <a:off x="4505233" y="1878292"/>
              <a:ext cx="1391317" cy="64430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latin typeface="Rubik" pitchFamily="2" charset="-79"/>
                  <a:cs typeface="Rubik" pitchFamily="2" charset="-79"/>
                </a:rPr>
                <a:t>שלב </a:t>
              </a:r>
              <a:r>
                <a:rPr lang="en-US" dirty="0">
                  <a:latin typeface="Rubik" pitchFamily="2" charset="-79"/>
                  <a:cs typeface="Rubik" pitchFamily="2" charset="-79"/>
                </a:rPr>
                <a:t>2</a:t>
              </a:r>
              <a:endParaRPr lang="LID4096" dirty="0">
                <a:latin typeface="Rubik" pitchFamily="2" charset="-79"/>
                <a:cs typeface="Rubik" pitchFamily="2" charset="-79"/>
              </a:endParaRPr>
            </a:p>
          </p:txBody>
        </p:sp>
        <p:sp>
          <p:nvSpPr>
            <p:cNvPr id="22" name="תיבת טקסט 21">
              <a:extLst>
                <a:ext uri="{FF2B5EF4-FFF2-40B4-BE49-F238E27FC236}">
                  <a16:creationId xmlns:a16="http://schemas.microsoft.com/office/drawing/2014/main" id="{DC08E4F3-1589-1908-1AE9-61D81567311D}"/>
                </a:ext>
              </a:extLst>
            </p:cNvPr>
            <p:cNvSpPr txBox="1"/>
            <p:nvPr/>
          </p:nvSpPr>
          <p:spPr>
            <a:xfrm>
              <a:off x="4505233" y="2705694"/>
              <a:ext cx="1391317" cy="369332"/>
            </a:xfrm>
            <a:prstGeom prst="rect">
              <a:avLst/>
            </a:prstGeom>
            <a:noFill/>
          </p:spPr>
          <p:txBody>
            <a:bodyPr wrap="square" rtlCol="0">
              <a:spAutoFit/>
            </a:bodyPr>
            <a:lstStyle/>
            <a:p>
              <a:pPr algn="ctr"/>
              <a:r>
                <a:rPr lang="he-IL" b="1" i="0" dirty="0">
                  <a:solidFill>
                    <a:srgbClr val="000000"/>
                  </a:solidFill>
                  <a:effectLst/>
                  <a:latin typeface="Rubik" pitchFamily="2" charset="-79"/>
                  <a:cs typeface="Rubik" pitchFamily="2" charset="-79"/>
                </a:rPr>
                <a:t>שיחת משוב</a:t>
              </a:r>
              <a:endParaRPr lang="he-IL" sz="2400" b="1" i="0" dirty="0">
                <a:solidFill>
                  <a:srgbClr val="000000"/>
                </a:solidFill>
                <a:effectLst/>
                <a:latin typeface="Rubik" pitchFamily="2" charset="-79"/>
                <a:cs typeface="Rubik" pitchFamily="2" charset="-79"/>
              </a:endParaRPr>
            </a:p>
          </p:txBody>
        </p:sp>
        <p:cxnSp>
          <p:nvCxnSpPr>
            <p:cNvPr id="28" name="מחבר ישר 27">
              <a:extLst>
                <a:ext uri="{FF2B5EF4-FFF2-40B4-BE49-F238E27FC236}">
                  <a16:creationId xmlns:a16="http://schemas.microsoft.com/office/drawing/2014/main" id="{3816457F-AE8B-9CF2-D4F5-432C3EE4D7BA}"/>
                </a:ext>
              </a:extLst>
            </p:cNvPr>
            <p:cNvCxnSpPr>
              <a:cxnSpLocks/>
            </p:cNvCxnSpPr>
            <p:nvPr/>
          </p:nvCxnSpPr>
          <p:spPr>
            <a:xfrm flipH="1">
              <a:off x="4305782" y="3105804"/>
              <a:ext cx="1790218" cy="0"/>
            </a:xfrm>
            <a:prstGeom prst="line">
              <a:avLst/>
            </a:prstGeom>
            <a:ln>
              <a:solidFill>
                <a:srgbClr val="FAAF54"/>
              </a:solidFill>
            </a:ln>
          </p:spPr>
          <p:style>
            <a:lnRef idx="2">
              <a:schemeClr val="accent1"/>
            </a:lnRef>
            <a:fillRef idx="0">
              <a:schemeClr val="accent1"/>
            </a:fillRef>
            <a:effectRef idx="1">
              <a:schemeClr val="accent1"/>
            </a:effectRef>
            <a:fontRef idx="minor">
              <a:schemeClr val="tx1"/>
            </a:fontRef>
          </p:style>
        </p:cxnSp>
      </p:grpSp>
      <p:grpSp>
        <p:nvGrpSpPr>
          <p:cNvPr id="39" name="קבוצה 38">
            <a:extLst>
              <a:ext uri="{FF2B5EF4-FFF2-40B4-BE49-F238E27FC236}">
                <a16:creationId xmlns:a16="http://schemas.microsoft.com/office/drawing/2014/main" id="{9E92FA8B-083C-8377-FAD2-5F3EDE092C5F}"/>
              </a:ext>
            </a:extLst>
          </p:cNvPr>
          <p:cNvGrpSpPr/>
          <p:nvPr/>
        </p:nvGrpSpPr>
        <p:grpSpPr>
          <a:xfrm>
            <a:off x="1811961" y="2136863"/>
            <a:ext cx="1965004" cy="1292136"/>
            <a:chOff x="1411911" y="1813668"/>
            <a:chExt cx="1965004" cy="1292136"/>
          </a:xfrm>
        </p:grpSpPr>
        <p:sp>
          <p:nvSpPr>
            <p:cNvPr id="11" name="מלבן: פינות מעוגלות 10">
              <a:extLst>
                <a:ext uri="{FF2B5EF4-FFF2-40B4-BE49-F238E27FC236}">
                  <a16:creationId xmlns:a16="http://schemas.microsoft.com/office/drawing/2014/main" id="{47E9F6FD-B552-458B-F62D-301311E26D36}"/>
                </a:ext>
              </a:extLst>
            </p:cNvPr>
            <p:cNvSpPr/>
            <p:nvPr/>
          </p:nvSpPr>
          <p:spPr>
            <a:xfrm>
              <a:off x="1698755" y="1813668"/>
              <a:ext cx="1391317" cy="644307"/>
            </a:xfrm>
            <a:prstGeom prst="roundRect">
              <a:avLst>
                <a:gd name="adj" fmla="val 4565"/>
              </a:avLst>
            </a:prstGeom>
            <a:solidFill>
              <a:srgbClr val="009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latin typeface="Rubik" pitchFamily="2" charset="-79"/>
                  <a:cs typeface="Rubik" pitchFamily="2" charset="-79"/>
                </a:rPr>
                <a:t>שלב </a:t>
              </a:r>
              <a:r>
                <a:rPr lang="en-US" dirty="0">
                  <a:latin typeface="Rubik" pitchFamily="2" charset="-79"/>
                  <a:cs typeface="Rubik" pitchFamily="2" charset="-79"/>
                </a:rPr>
                <a:t>3</a:t>
              </a:r>
              <a:endParaRPr lang="LID4096" dirty="0">
                <a:latin typeface="Rubik" pitchFamily="2" charset="-79"/>
                <a:cs typeface="Rubik" pitchFamily="2" charset="-79"/>
              </a:endParaRPr>
            </a:p>
          </p:txBody>
        </p:sp>
        <p:sp>
          <p:nvSpPr>
            <p:cNvPr id="23" name="תיבת טקסט 22">
              <a:extLst>
                <a:ext uri="{FF2B5EF4-FFF2-40B4-BE49-F238E27FC236}">
                  <a16:creationId xmlns:a16="http://schemas.microsoft.com/office/drawing/2014/main" id="{A5743539-015D-D317-B820-F197787E4F3A}"/>
                </a:ext>
              </a:extLst>
            </p:cNvPr>
            <p:cNvSpPr txBox="1"/>
            <p:nvPr/>
          </p:nvSpPr>
          <p:spPr>
            <a:xfrm>
              <a:off x="1411911" y="2705694"/>
              <a:ext cx="1965004" cy="369332"/>
            </a:xfrm>
            <a:prstGeom prst="rect">
              <a:avLst/>
            </a:prstGeom>
            <a:noFill/>
          </p:spPr>
          <p:txBody>
            <a:bodyPr wrap="square" rtlCol="0">
              <a:spAutoFit/>
            </a:bodyPr>
            <a:lstStyle/>
            <a:p>
              <a:pPr algn="ctr"/>
              <a:r>
                <a:rPr lang="he-IL" b="1" i="0" dirty="0">
                  <a:solidFill>
                    <a:srgbClr val="000000"/>
                  </a:solidFill>
                  <a:effectLst/>
                  <a:latin typeface="Rubik" pitchFamily="2" charset="-79"/>
                  <a:cs typeface="Rubik" pitchFamily="2" charset="-79"/>
                </a:rPr>
                <a:t>סיכום הערכה</a:t>
              </a:r>
              <a:endParaRPr lang="he-IL" sz="2400" b="1" i="0" dirty="0">
                <a:solidFill>
                  <a:srgbClr val="000000"/>
                </a:solidFill>
                <a:effectLst/>
                <a:latin typeface="Rubik" pitchFamily="2" charset="-79"/>
                <a:cs typeface="Rubik" pitchFamily="2" charset="-79"/>
              </a:endParaRPr>
            </a:p>
          </p:txBody>
        </p:sp>
        <p:cxnSp>
          <p:nvCxnSpPr>
            <p:cNvPr id="30" name="מחבר ישר 29">
              <a:extLst>
                <a:ext uri="{FF2B5EF4-FFF2-40B4-BE49-F238E27FC236}">
                  <a16:creationId xmlns:a16="http://schemas.microsoft.com/office/drawing/2014/main" id="{C24067F9-0C4C-DB47-9762-A301E95AE0E8}"/>
                </a:ext>
              </a:extLst>
            </p:cNvPr>
            <p:cNvCxnSpPr>
              <a:cxnSpLocks/>
            </p:cNvCxnSpPr>
            <p:nvPr/>
          </p:nvCxnSpPr>
          <p:spPr>
            <a:xfrm flipH="1">
              <a:off x="1411911" y="3105804"/>
              <a:ext cx="1965004" cy="0"/>
            </a:xfrm>
            <a:prstGeom prst="line">
              <a:avLst/>
            </a:prstGeom>
            <a:ln>
              <a:solidFill>
                <a:srgbClr val="FAAF54"/>
              </a:solidFill>
            </a:ln>
          </p:spPr>
          <p:style>
            <a:lnRef idx="2">
              <a:schemeClr val="accent1"/>
            </a:lnRef>
            <a:fillRef idx="0">
              <a:schemeClr val="accent1"/>
            </a:fillRef>
            <a:effectRef idx="1">
              <a:schemeClr val="accent1"/>
            </a:effectRef>
            <a:fontRef idx="minor">
              <a:schemeClr val="tx1"/>
            </a:fontRef>
          </p:style>
        </p:cxnSp>
      </p:grpSp>
      <p:sp>
        <p:nvSpPr>
          <p:cNvPr id="32" name="תיבת טקסט 31">
            <a:extLst>
              <a:ext uri="{FF2B5EF4-FFF2-40B4-BE49-F238E27FC236}">
                <a16:creationId xmlns:a16="http://schemas.microsoft.com/office/drawing/2014/main" id="{44251EED-8040-2D55-54F5-A607B34DF0D7}"/>
              </a:ext>
            </a:extLst>
          </p:cNvPr>
          <p:cNvSpPr txBox="1"/>
          <p:nvPr/>
        </p:nvSpPr>
        <p:spPr>
          <a:xfrm>
            <a:off x="7724775" y="3428999"/>
            <a:ext cx="3105150" cy="1600438"/>
          </a:xfrm>
          <a:prstGeom prst="rect">
            <a:avLst/>
          </a:prstGeom>
          <a:noFill/>
        </p:spPr>
        <p:txBody>
          <a:bodyPr wrap="square">
            <a:spAutoFit/>
          </a:bodyPr>
          <a:lstStyle/>
          <a:p>
            <a:pPr algn="ctr">
              <a:buNone/>
            </a:pPr>
            <a:r>
              <a:rPr lang="he-IL" sz="1400" b="1" dirty="0">
                <a:latin typeface="Rubik" pitchFamily="2" charset="-79"/>
                <a:cs typeface="Rubik" pitchFamily="2" charset="-79"/>
              </a:rPr>
              <a:t>שלב מקדים לביצוע שיחת המשוב, כולל הערכה עצמית של העובדים והערכת מנהלים מקצועיים ומנהל ישירים.</a:t>
            </a:r>
          </a:p>
          <a:p>
            <a:pPr algn="ctr">
              <a:buNone/>
            </a:pPr>
            <a:endParaRPr lang="he-IL" sz="1400" b="1" dirty="0">
              <a:latin typeface="Rubik" pitchFamily="2" charset="-79"/>
              <a:cs typeface="Rubik" pitchFamily="2" charset="-79"/>
            </a:endParaRPr>
          </a:p>
          <a:p>
            <a:pPr algn="ctr">
              <a:buNone/>
            </a:pPr>
            <a:r>
              <a:rPr lang="he-IL" sz="1400" b="1" dirty="0">
                <a:solidFill>
                  <a:srgbClr val="009CE1"/>
                </a:solidFill>
                <a:latin typeface="Rubik" pitchFamily="2" charset="-79"/>
                <a:cs typeface="Rubik" pitchFamily="2" charset="-79"/>
              </a:rPr>
              <a:t>למה מתייחסים? </a:t>
            </a:r>
          </a:p>
          <a:p>
            <a:pPr algn="ctr">
              <a:buNone/>
            </a:pPr>
            <a:r>
              <a:rPr lang="he-IL" sz="1400" dirty="0">
                <a:latin typeface="Rubik" pitchFamily="2" charset="-79"/>
                <a:cs typeface="Rubik" pitchFamily="2" charset="-79"/>
              </a:rPr>
              <a:t>הישגים, אתגרים, ציפיות לעתיד ורצון להתפתח, עמידה ביעדים וכו'</a:t>
            </a:r>
          </a:p>
        </p:txBody>
      </p:sp>
      <p:sp>
        <p:nvSpPr>
          <p:cNvPr id="35" name="תיבת טקסט 34">
            <a:extLst>
              <a:ext uri="{FF2B5EF4-FFF2-40B4-BE49-F238E27FC236}">
                <a16:creationId xmlns:a16="http://schemas.microsoft.com/office/drawing/2014/main" id="{6D7CAB73-DD01-07A8-D7A5-D9A4201E121D}"/>
              </a:ext>
            </a:extLst>
          </p:cNvPr>
          <p:cNvSpPr txBox="1"/>
          <p:nvPr/>
        </p:nvSpPr>
        <p:spPr>
          <a:xfrm>
            <a:off x="5098753" y="3472060"/>
            <a:ext cx="1851949" cy="954107"/>
          </a:xfrm>
          <a:prstGeom prst="rect">
            <a:avLst/>
          </a:prstGeom>
          <a:noFill/>
        </p:spPr>
        <p:txBody>
          <a:bodyPr wrap="square">
            <a:spAutoFit/>
          </a:bodyPr>
          <a:lstStyle/>
          <a:p>
            <a:pPr algn="ctr">
              <a:buNone/>
            </a:pPr>
            <a:r>
              <a:rPr lang="he-IL" sz="1400" b="1" dirty="0">
                <a:latin typeface="Rubik" pitchFamily="2" charset="-79"/>
                <a:cs typeface="Rubik" pitchFamily="2" charset="-79"/>
              </a:rPr>
              <a:t>שיחה אישית על השנה החולפת והבאה – </a:t>
            </a:r>
            <a:r>
              <a:rPr lang="he-IL" sz="1400" dirty="0">
                <a:latin typeface="Rubik" pitchFamily="2" charset="-79"/>
                <a:cs typeface="Rubik" pitchFamily="2" charset="-79"/>
              </a:rPr>
              <a:t>הזדמנות להתפתח ולהשתפר יחד.</a:t>
            </a:r>
          </a:p>
        </p:txBody>
      </p:sp>
      <p:sp>
        <p:nvSpPr>
          <p:cNvPr id="36" name="תיבת טקסט 35">
            <a:extLst>
              <a:ext uri="{FF2B5EF4-FFF2-40B4-BE49-F238E27FC236}">
                <a16:creationId xmlns:a16="http://schemas.microsoft.com/office/drawing/2014/main" id="{FE2848FC-3063-33A5-3F2E-4BA4BFC97819}"/>
              </a:ext>
            </a:extLst>
          </p:cNvPr>
          <p:cNvSpPr txBox="1"/>
          <p:nvPr/>
        </p:nvSpPr>
        <p:spPr>
          <a:xfrm>
            <a:off x="1868488" y="3451319"/>
            <a:ext cx="1851949" cy="954107"/>
          </a:xfrm>
          <a:prstGeom prst="rect">
            <a:avLst/>
          </a:prstGeom>
          <a:noFill/>
        </p:spPr>
        <p:txBody>
          <a:bodyPr wrap="square">
            <a:spAutoFit/>
          </a:bodyPr>
          <a:lstStyle/>
          <a:p>
            <a:pPr algn="ctr">
              <a:buNone/>
            </a:pPr>
            <a:r>
              <a:rPr lang="he-IL" sz="1400" b="1" dirty="0">
                <a:latin typeface="Rubik" pitchFamily="2" charset="-79"/>
                <a:cs typeface="Rubik" pitchFamily="2" charset="-79"/>
              </a:rPr>
              <a:t>לאחר ביצוע שיחת המשוב,  תתבצע התייחסות מנהל עקיף ואישור של העובד</a:t>
            </a:r>
            <a:endParaRPr lang="he-IL" sz="1400" dirty="0">
              <a:latin typeface="Rubik" pitchFamily="2" charset="-79"/>
              <a:cs typeface="Rubik" pitchFamily="2" charset="-79"/>
            </a:endParaRPr>
          </a:p>
        </p:txBody>
      </p:sp>
      <p:sp>
        <p:nvSpPr>
          <p:cNvPr id="40" name="תיבת טקסט 39">
            <a:extLst>
              <a:ext uri="{FF2B5EF4-FFF2-40B4-BE49-F238E27FC236}">
                <a16:creationId xmlns:a16="http://schemas.microsoft.com/office/drawing/2014/main" id="{70B540AB-DB30-87A7-04FF-2418E710F1A1}"/>
              </a:ext>
            </a:extLst>
          </p:cNvPr>
          <p:cNvSpPr txBox="1"/>
          <p:nvPr/>
        </p:nvSpPr>
        <p:spPr>
          <a:xfrm>
            <a:off x="1024224" y="1565164"/>
            <a:ext cx="10143553" cy="338554"/>
          </a:xfrm>
          <a:prstGeom prst="rect">
            <a:avLst/>
          </a:prstGeom>
          <a:noFill/>
        </p:spPr>
        <p:txBody>
          <a:bodyPr wrap="square" rtlCol="0">
            <a:spAutoFit/>
          </a:bodyPr>
          <a:lstStyle/>
          <a:p>
            <a:pPr algn="ctr"/>
            <a:r>
              <a:rPr lang="he-IL" sz="1600" b="1" i="0" dirty="0">
                <a:solidFill>
                  <a:srgbClr val="000000"/>
                </a:solidFill>
                <a:effectLst/>
                <a:latin typeface="Rubik" pitchFamily="2" charset="-79"/>
                <a:cs typeface="Rubik" pitchFamily="2" charset="-79"/>
              </a:rPr>
              <a:t>תהליך הערכת הביצועים במאוחדת בנוי מ-3 שלבים</a:t>
            </a:r>
            <a:endParaRPr lang="he-IL" sz="2000" b="1" i="0" dirty="0">
              <a:solidFill>
                <a:srgbClr val="000000"/>
              </a:solidFill>
              <a:effectLst/>
              <a:latin typeface="Rubik" pitchFamily="2" charset="-79"/>
              <a:cs typeface="Rubik" pitchFamily="2" charset="-79"/>
            </a:endParaRPr>
          </a:p>
        </p:txBody>
      </p:sp>
    </p:spTree>
    <p:extLst>
      <p:ext uri="{BB962C8B-B14F-4D97-AF65-F5344CB8AC3E}">
        <p14:creationId xmlns:p14="http://schemas.microsoft.com/office/powerpoint/2010/main" val="1824283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B7B8B-E4B0-7427-2500-A2614E3B0BFE}"/>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5395D84F-C87D-35E9-5856-382FE14B891A}"/>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ניהול מבוסס נתונים</a:t>
            </a:r>
          </a:p>
        </p:txBody>
      </p:sp>
      <p:sp>
        <p:nvSpPr>
          <p:cNvPr id="4" name="Oval 27">
            <a:extLst>
              <a:ext uri="{FF2B5EF4-FFF2-40B4-BE49-F238E27FC236}">
                <a16:creationId xmlns:a16="http://schemas.microsoft.com/office/drawing/2014/main" id="{E2854329-FE86-3AD8-58AE-E94603606130}"/>
              </a:ext>
            </a:extLst>
          </p:cNvPr>
          <p:cNvSpPr/>
          <p:nvPr/>
        </p:nvSpPr>
        <p:spPr>
          <a:xfrm>
            <a:off x="10787111" y="2704991"/>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מלבן: פינות מעוגלות 4">
            <a:extLst>
              <a:ext uri="{FF2B5EF4-FFF2-40B4-BE49-F238E27FC236}">
                <a16:creationId xmlns:a16="http://schemas.microsoft.com/office/drawing/2014/main" id="{81415F44-5332-E8C4-349E-BDC03FF0A017}"/>
              </a:ext>
            </a:extLst>
          </p:cNvPr>
          <p:cNvSpPr/>
          <p:nvPr/>
        </p:nvSpPr>
        <p:spPr>
          <a:xfrm>
            <a:off x="7581901" y="2919982"/>
            <a:ext cx="3994720"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לחצו להרחבה מהי המשמעות בפועל</a:t>
            </a:r>
            <a:endParaRPr lang="LID4096" dirty="0">
              <a:solidFill>
                <a:schemeClr val="bg1"/>
              </a:solidFill>
              <a:latin typeface="Rubik" pitchFamily="2" charset="-79"/>
              <a:cs typeface="Rubik" pitchFamily="2" charset="-79"/>
            </a:endParaRPr>
          </a:p>
        </p:txBody>
      </p:sp>
      <p:sp>
        <p:nvSpPr>
          <p:cNvPr id="2" name="תיבת טקסט 1">
            <a:extLst>
              <a:ext uri="{FF2B5EF4-FFF2-40B4-BE49-F238E27FC236}">
                <a16:creationId xmlns:a16="http://schemas.microsoft.com/office/drawing/2014/main" id="{75FA5AA3-4107-BAC7-7F0E-B6DF286C2E2C}"/>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למה זה חשוב?</a:t>
            </a:r>
          </a:p>
        </p:txBody>
      </p:sp>
      <p:sp>
        <p:nvSpPr>
          <p:cNvPr id="3" name="תיבת טקסט 2">
            <a:extLst>
              <a:ext uri="{FF2B5EF4-FFF2-40B4-BE49-F238E27FC236}">
                <a16:creationId xmlns:a16="http://schemas.microsoft.com/office/drawing/2014/main" id="{25E34680-6048-7A29-FA8E-DD6594F4D5E3}"/>
              </a:ext>
            </a:extLst>
          </p:cNvPr>
          <p:cNvSpPr txBox="1"/>
          <p:nvPr/>
        </p:nvSpPr>
        <p:spPr>
          <a:xfrm>
            <a:off x="2794958" y="1586044"/>
            <a:ext cx="8901109" cy="861774"/>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ניהול מבוסס נתונים הוא אחד מהכלים המרכזיים העומדים לרשות מנהל בבואו לקבל החלטות מדויקות, לזהות מגמות ולשפר ביצועים לאורך זמן.</a:t>
            </a:r>
          </a:p>
          <a:p>
            <a:r>
              <a:rPr lang="he-IL" dirty="0"/>
              <a:t>חשוב לבחון אילו נתונים ודו"חות נדרשים </a:t>
            </a:r>
            <a:r>
              <a:rPr lang="he-IL" dirty="0" err="1"/>
              <a:t>עבורינו</a:t>
            </a:r>
            <a:r>
              <a:rPr lang="he-IL" dirty="0"/>
              <a:t> כדי לנהל בצורה טובה יותר ולקדם מהלכים.</a:t>
            </a:r>
            <a:r>
              <a:rPr lang="he-IL" sz="1600" b="1" i="0" dirty="0">
                <a:solidFill>
                  <a:srgbClr val="000000"/>
                </a:solidFill>
                <a:effectLst/>
                <a:latin typeface="Rubik" pitchFamily="2" charset="-79"/>
                <a:cs typeface="Rubik" pitchFamily="2" charset="-79"/>
              </a:rPr>
              <a:t> </a:t>
            </a:r>
          </a:p>
        </p:txBody>
      </p:sp>
      <p:sp>
        <p:nvSpPr>
          <p:cNvPr id="6" name="תיבת טקסט 5">
            <a:extLst>
              <a:ext uri="{FF2B5EF4-FFF2-40B4-BE49-F238E27FC236}">
                <a16:creationId xmlns:a16="http://schemas.microsoft.com/office/drawing/2014/main" id="{A5718532-62F1-FFD6-EC43-2DDBEFAB34F4}"/>
              </a:ext>
            </a:extLst>
          </p:cNvPr>
          <p:cNvSpPr txBox="1"/>
          <p:nvPr/>
        </p:nvSpPr>
        <p:spPr>
          <a:xfrm>
            <a:off x="3240911" y="4575439"/>
            <a:ext cx="8515541" cy="584775"/>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חשוב לציין! היקף השימוש בנתונים משתנה מתפקיד לתפקיד. במאוחדת עומדים לרשותכם המנהלים נתונים ממגוון רחב של מערכות ומקורות שכדאי להכיר.</a:t>
            </a:r>
          </a:p>
        </p:txBody>
      </p:sp>
    </p:spTree>
    <p:extLst>
      <p:ext uri="{BB962C8B-B14F-4D97-AF65-F5344CB8AC3E}">
        <p14:creationId xmlns:p14="http://schemas.microsoft.com/office/powerpoint/2010/main" val="2343660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64E93-88DE-7185-A4E8-0FEF11CA2612}"/>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E4A91FBE-9F24-A2C4-C3A4-9EA8346D74EB}"/>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מערכת רימון</a:t>
            </a:r>
          </a:p>
        </p:txBody>
      </p:sp>
      <p:sp>
        <p:nvSpPr>
          <p:cNvPr id="3" name="תיבת טקסט 2">
            <a:extLst>
              <a:ext uri="{FF2B5EF4-FFF2-40B4-BE49-F238E27FC236}">
                <a16:creationId xmlns:a16="http://schemas.microsoft.com/office/drawing/2014/main" id="{17EB740E-680C-144D-2538-D441E96F76DF}"/>
              </a:ext>
            </a:extLst>
          </p:cNvPr>
          <p:cNvSpPr txBox="1"/>
          <p:nvPr/>
        </p:nvSpPr>
        <p:spPr>
          <a:xfrm>
            <a:off x="2730648" y="1249863"/>
            <a:ext cx="9028492" cy="2369880"/>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בארגון שלנו, מערכת הרימון מרכזת את המדדים העסקיים ליחידות השטח ומאפשרת לראות תמונת מצב עדכנית ואחידה של פעילות היחידה (למשל מרפאה) ביחס ליעדים הארגוניים. </a:t>
            </a:r>
            <a:r>
              <a:rPr lang="he-IL" dirty="0"/>
              <a:t>גם אם הדבר פחות רלוונטי לתפקידכם, חשוב להכיר את מדדי הליבה </a:t>
            </a:r>
            <a:r>
              <a:rPr lang="he-IL" dirty="0" err="1"/>
              <a:t>האירגוניים</a:t>
            </a:r>
            <a:r>
              <a:rPr lang="he-IL" dirty="0"/>
              <a:t>- לטובת הובלה משותפת של יעדי הארגון.</a:t>
            </a:r>
            <a:endParaRPr lang="he-IL" sz="1600" b="1" i="0" dirty="0">
              <a:solidFill>
                <a:srgbClr val="000000"/>
              </a:solidFill>
              <a:effectLst/>
              <a:latin typeface="Rubik" pitchFamily="2" charset="-79"/>
              <a:cs typeface="Rubik" pitchFamily="2" charset="-79"/>
            </a:endParaRPr>
          </a:p>
          <a:p>
            <a:endParaRPr lang="he-IL" sz="1600" b="1" i="0" dirty="0">
              <a:solidFill>
                <a:srgbClr val="000000"/>
              </a:solidFill>
              <a:effectLst/>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באמצעות</a:t>
            </a:r>
            <a:r>
              <a:rPr lang="he-IL" sz="1600" b="1" i="0" dirty="0">
                <a:solidFill>
                  <a:srgbClr val="000000"/>
                </a:solidFill>
                <a:effectLst/>
                <a:latin typeface="Rubik" pitchFamily="2" charset="-79"/>
                <a:cs typeface="Rubik" pitchFamily="2" charset="-79"/>
              </a:rPr>
              <a:t> מחוונים כגון סרגל השירות </a:t>
            </a:r>
            <a:r>
              <a:rPr lang="he-IL" sz="1600" i="0" dirty="0">
                <a:solidFill>
                  <a:srgbClr val="000000"/>
                </a:solidFill>
                <a:effectLst/>
                <a:latin typeface="Rubik" pitchFamily="2" charset="-79"/>
                <a:cs typeface="Rubik" pitchFamily="2" charset="-79"/>
              </a:rPr>
              <a:t>ניתן לזהות מוקדי חוזק לצד הזדמנויות לשיפור, ולהתבסס על נתונים אובייקטיביים בניהול השוטף. </a:t>
            </a:r>
          </a:p>
          <a:p>
            <a:endParaRPr lang="he-IL" sz="1600" b="1" i="0" dirty="0">
              <a:solidFill>
                <a:srgbClr val="000000"/>
              </a:solidFill>
              <a:effectLst/>
              <a:latin typeface="Rubik" pitchFamily="2" charset="-79"/>
              <a:cs typeface="Rubik" pitchFamily="2" charset="-79"/>
            </a:endParaRPr>
          </a:p>
          <a:p>
            <a:r>
              <a:rPr lang="he-IL" sz="1600" b="1" i="0" dirty="0">
                <a:solidFill>
                  <a:srgbClr val="000000"/>
                </a:solidFill>
                <a:effectLst/>
                <a:latin typeface="Rubik" pitchFamily="2" charset="-79"/>
                <a:cs typeface="Rubik" pitchFamily="2" charset="-79"/>
              </a:rPr>
              <a:t>לחצו את המדדים המרכזיים במערכת, כדי לקבל טעימה קצרה מעולם המדידה.</a:t>
            </a:r>
          </a:p>
          <a:p>
            <a:endParaRPr lang="he-IL" sz="1600" b="1" i="0" dirty="0">
              <a:solidFill>
                <a:srgbClr val="000000"/>
              </a:solidFill>
              <a:effectLst/>
              <a:latin typeface="Rubik" pitchFamily="2" charset="-79"/>
              <a:cs typeface="Rubik" pitchFamily="2" charset="-79"/>
            </a:endParaRPr>
          </a:p>
        </p:txBody>
      </p:sp>
      <p:pic>
        <p:nvPicPr>
          <p:cNvPr id="8" name="תמונה 7">
            <a:extLst>
              <a:ext uri="{FF2B5EF4-FFF2-40B4-BE49-F238E27FC236}">
                <a16:creationId xmlns:a16="http://schemas.microsoft.com/office/drawing/2014/main" id="{6D4E9EA9-BA67-F358-E7A1-BA28D3DF3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651" y="3353194"/>
            <a:ext cx="9600981" cy="2739714"/>
          </a:xfrm>
          <a:prstGeom prst="rect">
            <a:avLst/>
          </a:prstGeom>
        </p:spPr>
      </p:pic>
      <p:sp>
        <p:nvSpPr>
          <p:cNvPr id="5" name="תיבת טקסט 4">
            <a:extLst>
              <a:ext uri="{FF2B5EF4-FFF2-40B4-BE49-F238E27FC236}">
                <a16:creationId xmlns:a16="http://schemas.microsoft.com/office/drawing/2014/main" id="{9F871A3C-75A0-8A31-02BB-676488CB1B53}"/>
              </a:ext>
            </a:extLst>
          </p:cNvPr>
          <p:cNvSpPr txBox="1"/>
          <p:nvPr/>
        </p:nvSpPr>
        <p:spPr>
          <a:xfrm>
            <a:off x="2670140" y="6193472"/>
            <a:ext cx="9028492" cy="338554"/>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המדדים בסרגלים יכולים להשתנות מעת לעת בהתאם למיקוד הניהולי בהנהלה. </a:t>
            </a:r>
          </a:p>
        </p:txBody>
      </p:sp>
    </p:spTree>
    <p:extLst>
      <p:ext uri="{BB962C8B-B14F-4D97-AF65-F5344CB8AC3E}">
        <p14:creationId xmlns:p14="http://schemas.microsoft.com/office/powerpoint/2010/main" val="1690837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E780-3FAA-2A82-CFA0-AA47AA9C15EC}"/>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67765A8C-9E72-63D8-B996-CC0961FF2123}"/>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ניהול מבוסס נתונים</a:t>
            </a:r>
          </a:p>
        </p:txBody>
      </p:sp>
      <p:sp>
        <p:nvSpPr>
          <p:cNvPr id="2" name="תיבת טקסט 1">
            <a:extLst>
              <a:ext uri="{FF2B5EF4-FFF2-40B4-BE49-F238E27FC236}">
                <a16:creationId xmlns:a16="http://schemas.microsoft.com/office/drawing/2014/main" id="{472B2F36-C1E2-1C97-7027-01397835D830}"/>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מערכת רימון</a:t>
            </a:r>
          </a:p>
        </p:txBody>
      </p:sp>
      <p:sp>
        <p:nvSpPr>
          <p:cNvPr id="3" name="תיבת טקסט 2">
            <a:extLst>
              <a:ext uri="{FF2B5EF4-FFF2-40B4-BE49-F238E27FC236}">
                <a16:creationId xmlns:a16="http://schemas.microsoft.com/office/drawing/2014/main" id="{E31B24E9-07D2-9C33-358C-36B3CC99B6BE}"/>
              </a:ext>
            </a:extLst>
          </p:cNvPr>
          <p:cNvSpPr txBox="1"/>
          <p:nvPr/>
        </p:nvSpPr>
        <p:spPr>
          <a:xfrm>
            <a:off x="2727960" y="1899758"/>
            <a:ext cx="9028492" cy="1815882"/>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בארגון שלנו, מערכת הרימון מרכזת עבורכם את המדדים העסקיים ליחידות השטח ומאפשרת לראות תמונת מצב עדכנית ואחידה של פעילות היחידה (למשל מרפאה) ביחס ליעדים הארגוניים. </a:t>
            </a:r>
          </a:p>
          <a:p>
            <a:endParaRPr lang="he-IL" sz="1600" b="1" i="0" dirty="0">
              <a:solidFill>
                <a:srgbClr val="000000"/>
              </a:solidFill>
              <a:effectLst/>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באמצעות</a:t>
            </a:r>
            <a:r>
              <a:rPr lang="he-IL" sz="1600" b="1" i="0" dirty="0">
                <a:solidFill>
                  <a:srgbClr val="000000"/>
                </a:solidFill>
                <a:effectLst/>
                <a:latin typeface="Rubik" pitchFamily="2" charset="-79"/>
                <a:cs typeface="Rubik" pitchFamily="2" charset="-79"/>
              </a:rPr>
              <a:t> מחוונים כגון סרגל השירות </a:t>
            </a:r>
            <a:r>
              <a:rPr lang="he-IL" sz="1600" i="0" dirty="0">
                <a:solidFill>
                  <a:srgbClr val="000000"/>
                </a:solidFill>
                <a:effectLst/>
                <a:latin typeface="Rubik" pitchFamily="2" charset="-79"/>
                <a:cs typeface="Rubik" pitchFamily="2" charset="-79"/>
              </a:rPr>
              <a:t>ניתן לזהות מוקדי חוזק לצד הזדמנויות לשיפור, ולהתבסס על נתונים אובייקטיביים בניהול השוטף. </a:t>
            </a:r>
          </a:p>
          <a:p>
            <a:endParaRPr lang="he-IL" sz="1600" b="1" i="0" dirty="0">
              <a:solidFill>
                <a:srgbClr val="000000"/>
              </a:solidFill>
              <a:effectLst/>
              <a:latin typeface="Rubik" pitchFamily="2" charset="-79"/>
              <a:cs typeface="Rubik" pitchFamily="2" charset="-79"/>
            </a:endParaRPr>
          </a:p>
          <a:p>
            <a:r>
              <a:rPr lang="he-IL" sz="1600" b="1" i="0" dirty="0">
                <a:solidFill>
                  <a:srgbClr val="000000"/>
                </a:solidFill>
                <a:effectLst/>
                <a:latin typeface="Rubik" pitchFamily="2" charset="-79"/>
                <a:cs typeface="Rubik" pitchFamily="2" charset="-79"/>
              </a:rPr>
              <a:t>לחצו את המדדים המרכזיים במערכת, כדי לקבל טעימה קצרה מעולם המדידה.</a:t>
            </a:r>
          </a:p>
        </p:txBody>
      </p:sp>
      <p:pic>
        <p:nvPicPr>
          <p:cNvPr id="8" name="תמונה 7">
            <a:extLst>
              <a:ext uri="{FF2B5EF4-FFF2-40B4-BE49-F238E27FC236}">
                <a16:creationId xmlns:a16="http://schemas.microsoft.com/office/drawing/2014/main" id="{B0E9D091-81E2-B4CD-6593-D24C9FB1D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739" y="3827646"/>
            <a:ext cx="9600981" cy="2739714"/>
          </a:xfrm>
          <a:prstGeom prst="rect">
            <a:avLst/>
          </a:prstGeom>
        </p:spPr>
      </p:pic>
      <p:sp>
        <p:nvSpPr>
          <p:cNvPr id="4" name="מלבן 3">
            <a:extLst>
              <a:ext uri="{FF2B5EF4-FFF2-40B4-BE49-F238E27FC236}">
                <a16:creationId xmlns:a16="http://schemas.microsoft.com/office/drawing/2014/main" id="{C40D2C56-8112-277A-D446-1AA3DE7C225A}"/>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70FADA67-B120-09CA-3D8C-E680EABB3ADA}"/>
              </a:ext>
            </a:extLst>
          </p:cNvPr>
          <p:cNvSpPr/>
          <p:nvPr/>
        </p:nvSpPr>
        <p:spPr>
          <a:xfrm>
            <a:off x="432860" y="362391"/>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99DD3A0A-E738-F150-4E73-C0C041EC9F4C}"/>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מדד הצמיחה</a:t>
            </a:r>
          </a:p>
        </p:txBody>
      </p:sp>
      <p:pic>
        <p:nvPicPr>
          <p:cNvPr id="7" name="תמונה 6">
            <a:extLst>
              <a:ext uri="{FF2B5EF4-FFF2-40B4-BE49-F238E27FC236}">
                <a16:creationId xmlns:a16="http://schemas.microsoft.com/office/drawing/2014/main" id="{4D293660-A4D7-BC1E-6F10-697AFD314853}"/>
              </a:ext>
            </a:extLst>
          </p:cNvPr>
          <p:cNvPicPr>
            <a:picLocks noChangeAspect="1"/>
          </p:cNvPicPr>
          <p:nvPr/>
        </p:nvPicPr>
        <p:blipFill>
          <a:blip r:embed="rId2">
            <a:extLst>
              <a:ext uri="{28A0092B-C50C-407E-A947-70E740481C1C}">
                <a14:useLocalDpi xmlns:a14="http://schemas.microsoft.com/office/drawing/2010/main" val="0"/>
              </a:ext>
            </a:extLst>
          </a:blip>
          <a:srcRect l="74079"/>
          <a:stretch>
            <a:fillRect/>
          </a:stretch>
        </p:blipFill>
        <p:spPr>
          <a:xfrm>
            <a:off x="8686800" y="2295537"/>
            <a:ext cx="2488637" cy="2739714"/>
          </a:xfrm>
          <a:prstGeom prst="rect">
            <a:avLst/>
          </a:prstGeom>
        </p:spPr>
      </p:pic>
      <p:sp>
        <p:nvSpPr>
          <p:cNvPr id="10" name="תיבת טקסט 9">
            <a:extLst>
              <a:ext uri="{FF2B5EF4-FFF2-40B4-BE49-F238E27FC236}">
                <a16:creationId xmlns:a16="http://schemas.microsoft.com/office/drawing/2014/main" id="{8BDADE65-7147-AA18-FCCE-4D03D0FCDC20}"/>
              </a:ext>
            </a:extLst>
          </p:cNvPr>
          <p:cNvSpPr txBox="1"/>
          <p:nvPr/>
        </p:nvSpPr>
        <p:spPr>
          <a:xfrm>
            <a:off x="4399616" y="3342838"/>
            <a:ext cx="3270781" cy="923330"/>
          </a:xfrm>
          <a:prstGeom prst="rect">
            <a:avLst/>
          </a:prstGeom>
          <a:noFill/>
        </p:spPr>
        <p:txBody>
          <a:bodyPr wrap="square">
            <a:spAutoFit/>
          </a:bodyPr>
          <a:lstStyle/>
          <a:p>
            <a:pPr algn="ctr">
              <a:buNone/>
            </a:pPr>
            <a:r>
              <a:rPr lang="he-IL" b="1" dirty="0">
                <a:latin typeface="Rubik" pitchFamily="2" charset="-79"/>
                <a:cs typeface="Rubik" pitchFamily="2" charset="-79"/>
              </a:rPr>
              <a:t>הסרגל מציג את תנועת ההצטרפות והעזיבה של הלקוחות את הקופה</a:t>
            </a:r>
          </a:p>
        </p:txBody>
      </p:sp>
    </p:spTree>
    <p:extLst>
      <p:ext uri="{BB962C8B-B14F-4D97-AF65-F5344CB8AC3E}">
        <p14:creationId xmlns:p14="http://schemas.microsoft.com/office/powerpoint/2010/main" val="3262157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AD29-2D31-D613-E769-C3A076ABA695}"/>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CF0FD345-D8AC-AEC6-93AF-1AED3ADAD79D}"/>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ניהול מבוסס נתונים</a:t>
            </a:r>
          </a:p>
        </p:txBody>
      </p:sp>
      <p:sp>
        <p:nvSpPr>
          <p:cNvPr id="2" name="תיבת טקסט 1">
            <a:extLst>
              <a:ext uri="{FF2B5EF4-FFF2-40B4-BE49-F238E27FC236}">
                <a16:creationId xmlns:a16="http://schemas.microsoft.com/office/drawing/2014/main" id="{CDF81753-2347-0FCE-1FB0-0C6F60307D60}"/>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מערכת רימון</a:t>
            </a:r>
          </a:p>
        </p:txBody>
      </p:sp>
      <p:sp>
        <p:nvSpPr>
          <p:cNvPr id="3" name="תיבת טקסט 2">
            <a:extLst>
              <a:ext uri="{FF2B5EF4-FFF2-40B4-BE49-F238E27FC236}">
                <a16:creationId xmlns:a16="http://schemas.microsoft.com/office/drawing/2014/main" id="{AA6AE92F-BBA0-DB75-495B-F04940418763}"/>
              </a:ext>
            </a:extLst>
          </p:cNvPr>
          <p:cNvSpPr txBox="1"/>
          <p:nvPr/>
        </p:nvSpPr>
        <p:spPr>
          <a:xfrm>
            <a:off x="2727960" y="1899758"/>
            <a:ext cx="9028492" cy="1815882"/>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בארגון שלנו, מערכת הרימון מרכזת עבורכם את המדדים העסקיים ליחידות השטח ומאפשרת לראות תמונת מצב עדכנית ואחידה של פעילות היחידה (למשל מרפאה) ביחס ליעדים הארגוניים. </a:t>
            </a:r>
          </a:p>
          <a:p>
            <a:endParaRPr lang="he-IL" sz="1600" b="1" i="0" dirty="0">
              <a:solidFill>
                <a:srgbClr val="000000"/>
              </a:solidFill>
              <a:effectLst/>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באמצעות</a:t>
            </a:r>
            <a:r>
              <a:rPr lang="he-IL" sz="1600" b="1" i="0" dirty="0">
                <a:solidFill>
                  <a:srgbClr val="000000"/>
                </a:solidFill>
                <a:effectLst/>
                <a:latin typeface="Rubik" pitchFamily="2" charset="-79"/>
                <a:cs typeface="Rubik" pitchFamily="2" charset="-79"/>
              </a:rPr>
              <a:t> מחוונים כגון סרגל השירות </a:t>
            </a:r>
            <a:r>
              <a:rPr lang="he-IL" sz="1600" i="0" dirty="0">
                <a:solidFill>
                  <a:srgbClr val="000000"/>
                </a:solidFill>
                <a:effectLst/>
                <a:latin typeface="Rubik" pitchFamily="2" charset="-79"/>
                <a:cs typeface="Rubik" pitchFamily="2" charset="-79"/>
              </a:rPr>
              <a:t>ניתן לזהות מוקדי חוזק לצד הזדמנויות לשיפור, ולהתבסס על נתונים אובייקטיביים בניהול השוטף. </a:t>
            </a:r>
          </a:p>
          <a:p>
            <a:endParaRPr lang="he-IL" sz="1600" b="1" i="0" dirty="0">
              <a:solidFill>
                <a:srgbClr val="000000"/>
              </a:solidFill>
              <a:effectLst/>
              <a:latin typeface="Rubik" pitchFamily="2" charset="-79"/>
              <a:cs typeface="Rubik" pitchFamily="2" charset="-79"/>
            </a:endParaRPr>
          </a:p>
          <a:p>
            <a:r>
              <a:rPr lang="he-IL" sz="1600" b="1" i="0" dirty="0">
                <a:solidFill>
                  <a:srgbClr val="000000"/>
                </a:solidFill>
                <a:effectLst/>
                <a:latin typeface="Rubik" pitchFamily="2" charset="-79"/>
                <a:cs typeface="Rubik" pitchFamily="2" charset="-79"/>
              </a:rPr>
              <a:t>לחצו את המדדים המרכזיים במערכת, כדי לקבל טעימה קצרה מעולם המדידה.</a:t>
            </a:r>
          </a:p>
        </p:txBody>
      </p:sp>
      <p:pic>
        <p:nvPicPr>
          <p:cNvPr id="8" name="תמונה 7">
            <a:extLst>
              <a:ext uri="{FF2B5EF4-FFF2-40B4-BE49-F238E27FC236}">
                <a16:creationId xmlns:a16="http://schemas.microsoft.com/office/drawing/2014/main" id="{845C9165-CD75-C296-87C6-F3DEB35E8C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739" y="3827646"/>
            <a:ext cx="9600981" cy="2739714"/>
          </a:xfrm>
          <a:prstGeom prst="rect">
            <a:avLst/>
          </a:prstGeom>
        </p:spPr>
      </p:pic>
      <p:sp>
        <p:nvSpPr>
          <p:cNvPr id="4" name="מלבן 3">
            <a:extLst>
              <a:ext uri="{FF2B5EF4-FFF2-40B4-BE49-F238E27FC236}">
                <a16:creationId xmlns:a16="http://schemas.microsoft.com/office/drawing/2014/main" id="{1DD6BFED-9CF4-4BCA-9486-255E802A8DD4}"/>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A34932A8-CBDB-4E53-5A21-30C4DB824BD3}"/>
              </a:ext>
            </a:extLst>
          </p:cNvPr>
          <p:cNvSpPr/>
          <p:nvPr/>
        </p:nvSpPr>
        <p:spPr>
          <a:xfrm>
            <a:off x="432860" y="362391"/>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BDE4F127-F09E-160B-2EE8-D0CF57CC68BF}"/>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מדד איכות השירות</a:t>
            </a:r>
          </a:p>
        </p:txBody>
      </p:sp>
      <p:pic>
        <p:nvPicPr>
          <p:cNvPr id="7" name="תמונה 6">
            <a:extLst>
              <a:ext uri="{FF2B5EF4-FFF2-40B4-BE49-F238E27FC236}">
                <a16:creationId xmlns:a16="http://schemas.microsoft.com/office/drawing/2014/main" id="{ECA81220-B2E4-BF96-BEDC-5FC5D0B01426}"/>
              </a:ext>
            </a:extLst>
          </p:cNvPr>
          <p:cNvPicPr>
            <a:picLocks noChangeAspect="1"/>
          </p:cNvPicPr>
          <p:nvPr/>
        </p:nvPicPr>
        <p:blipFill>
          <a:blip r:embed="rId2">
            <a:extLst>
              <a:ext uri="{28A0092B-C50C-407E-A947-70E740481C1C}">
                <a14:useLocalDpi xmlns:a14="http://schemas.microsoft.com/office/drawing/2010/main" val="0"/>
              </a:ext>
            </a:extLst>
          </a:blip>
          <a:srcRect l="48999" r="25080"/>
          <a:stretch>
            <a:fillRect/>
          </a:stretch>
        </p:blipFill>
        <p:spPr>
          <a:xfrm>
            <a:off x="8686800" y="2295537"/>
            <a:ext cx="2488637" cy="2739714"/>
          </a:xfrm>
          <a:prstGeom prst="rect">
            <a:avLst/>
          </a:prstGeom>
        </p:spPr>
      </p:pic>
      <p:sp>
        <p:nvSpPr>
          <p:cNvPr id="10" name="תיבת טקסט 9">
            <a:extLst>
              <a:ext uri="{FF2B5EF4-FFF2-40B4-BE49-F238E27FC236}">
                <a16:creationId xmlns:a16="http://schemas.microsoft.com/office/drawing/2014/main" id="{DE93F81A-7050-5016-B5A1-029DACED23C3}"/>
              </a:ext>
            </a:extLst>
          </p:cNvPr>
          <p:cNvSpPr txBox="1"/>
          <p:nvPr/>
        </p:nvSpPr>
        <p:spPr>
          <a:xfrm>
            <a:off x="1113110" y="2285720"/>
            <a:ext cx="6557658" cy="3139321"/>
          </a:xfrm>
          <a:prstGeom prst="rect">
            <a:avLst/>
          </a:prstGeom>
          <a:noFill/>
        </p:spPr>
        <p:txBody>
          <a:bodyPr wrap="square">
            <a:spAutoFit/>
          </a:bodyPr>
          <a:lstStyle/>
          <a:p>
            <a:pPr algn="ctr">
              <a:buNone/>
            </a:pPr>
            <a:r>
              <a:rPr lang="he-IL" b="1" dirty="0">
                <a:latin typeface="Rubik" pitchFamily="2" charset="-79"/>
                <a:cs typeface="Rubik" pitchFamily="2" charset="-79"/>
              </a:rPr>
              <a:t>סרגל זה מתבונן בחוויית המטופל מזוויות שונות, מגוונות ומשלימות</a:t>
            </a:r>
          </a:p>
          <a:p>
            <a:pPr fontAlgn="base"/>
            <a:r>
              <a:rPr lang="he-IL" dirty="0"/>
              <a:t>כאן נבחן את אורכי התור בתחומי רפואה מובילים, ואת זמני ההמתנה בתוך המרפאה עד לקבלת השירות. נעמיק בזמני הטיפול בפניות שירות המגיעות אל המרפאה ובעידוד הלקוחות לבצע פעולות בערוצים דיגיטליים. לבסוף, נשקף ממצאי סקרים שנשלחו ללקוחות על חווייתם את השירות שקיבלו אצלנו.​</a:t>
            </a:r>
          </a:p>
          <a:p>
            <a:pPr fontAlgn="base"/>
            <a:br>
              <a:rPr lang="he-IL" dirty="0"/>
            </a:br>
            <a:endParaRPr lang="he-IL" dirty="0"/>
          </a:p>
          <a:p>
            <a:pPr fontAlgn="base"/>
            <a:r>
              <a:rPr lang="he-IL" dirty="0"/>
              <a:t>באמצעות מדדי איכות השירות נוכל להפנות קשב ניהולי ולחזק תחומים אותם נרצה לקדם.​</a:t>
            </a:r>
          </a:p>
          <a:p>
            <a:pPr algn="ctr">
              <a:buNone/>
            </a:pPr>
            <a:endParaRPr lang="he-IL" b="1" dirty="0">
              <a:latin typeface="Rubik" pitchFamily="2" charset="-79"/>
              <a:cs typeface="Rubik" pitchFamily="2" charset="-79"/>
            </a:endParaRPr>
          </a:p>
        </p:txBody>
      </p:sp>
    </p:spTree>
    <p:extLst>
      <p:ext uri="{BB962C8B-B14F-4D97-AF65-F5344CB8AC3E}">
        <p14:creationId xmlns:p14="http://schemas.microsoft.com/office/powerpoint/2010/main" val="3338563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060D7-E051-DBF0-946E-48D6D7F8FB24}"/>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2C78D527-5080-1715-5F56-1B5C98B5D47D}"/>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ניהול מבוסס נתונים</a:t>
            </a:r>
          </a:p>
        </p:txBody>
      </p:sp>
      <p:sp>
        <p:nvSpPr>
          <p:cNvPr id="2" name="תיבת טקסט 1">
            <a:extLst>
              <a:ext uri="{FF2B5EF4-FFF2-40B4-BE49-F238E27FC236}">
                <a16:creationId xmlns:a16="http://schemas.microsoft.com/office/drawing/2014/main" id="{0922BCDB-EF08-3DE1-3378-02C89893EDC3}"/>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מערכת רימון</a:t>
            </a:r>
          </a:p>
        </p:txBody>
      </p:sp>
      <p:sp>
        <p:nvSpPr>
          <p:cNvPr id="3" name="תיבת טקסט 2">
            <a:extLst>
              <a:ext uri="{FF2B5EF4-FFF2-40B4-BE49-F238E27FC236}">
                <a16:creationId xmlns:a16="http://schemas.microsoft.com/office/drawing/2014/main" id="{03E8644C-3679-96AB-891B-510C1381BCCE}"/>
              </a:ext>
            </a:extLst>
          </p:cNvPr>
          <p:cNvSpPr txBox="1"/>
          <p:nvPr/>
        </p:nvSpPr>
        <p:spPr>
          <a:xfrm>
            <a:off x="2727960" y="1899758"/>
            <a:ext cx="9028492" cy="1815882"/>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בארגון שלנו, מערכת הרימון מרכזת עבורכם את המדדים העסקיים ליחידות השטח ומאפשרת לראות תמונת מצב עדכנית ואחידה של פעילות היחידה (למשל מרפאה) ביחס ליעדים הארגוניים. </a:t>
            </a:r>
          </a:p>
          <a:p>
            <a:endParaRPr lang="he-IL" sz="1600" b="1" i="0" dirty="0">
              <a:solidFill>
                <a:srgbClr val="000000"/>
              </a:solidFill>
              <a:effectLst/>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באמצעות</a:t>
            </a:r>
            <a:r>
              <a:rPr lang="he-IL" sz="1600" b="1" i="0" dirty="0">
                <a:solidFill>
                  <a:srgbClr val="000000"/>
                </a:solidFill>
                <a:effectLst/>
                <a:latin typeface="Rubik" pitchFamily="2" charset="-79"/>
                <a:cs typeface="Rubik" pitchFamily="2" charset="-79"/>
              </a:rPr>
              <a:t> מחוונים כגון סרגל השירות </a:t>
            </a:r>
            <a:r>
              <a:rPr lang="he-IL" sz="1600" i="0" dirty="0">
                <a:solidFill>
                  <a:srgbClr val="000000"/>
                </a:solidFill>
                <a:effectLst/>
                <a:latin typeface="Rubik" pitchFamily="2" charset="-79"/>
                <a:cs typeface="Rubik" pitchFamily="2" charset="-79"/>
              </a:rPr>
              <a:t>ניתן לזהות מוקדי חוזק לצד הזדמנויות לשיפור, ולהתבסס על נתונים אובייקטיביים בניהול השוטף. </a:t>
            </a:r>
          </a:p>
          <a:p>
            <a:endParaRPr lang="he-IL" sz="1600" b="1" i="0" dirty="0">
              <a:solidFill>
                <a:srgbClr val="000000"/>
              </a:solidFill>
              <a:effectLst/>
              <a:latin typeface="Rubik" pitchFamily="2" charset="-79"/>
              <a:cs typeface="Rubik" pitchFamily="2" charset="-79"/>
            </a:endParaRPr>
          </a:p>
          <a:p>
            <a:r>
              <a:rPr lang="he-IL" sz="1600" b="1" i="0" dirty="0">
                <a:solidFill>
                  <a:srgbClr val="000000"/>
                </a:solidFill>
                <a:effectLst/>
                <a:latin typeface="Rubik" pitchFamily="2" charset="-79"/>
                <a:cs typeface="Rubik" pitchFamily="2" charset="-79"/>
              </a:rPr>
              <a:t>לחצו את המדדים המרכזיים במערכת, כדי לקבל טעימה קצרה מעולם המדידה.</a:t>
            </a:r>
          </a:p>
        </p:txBody>
      </p:sp>
      <p:pic>
        <p:nvPicPr>
          <p:cNvPr id="8" name="תמונה 7">
            <a:extLst>
              <a:ext uri="{FF2B5EF4-FFF2-40B4-BE49-F238E27FC236}">
                <a16:creationId xmlns:a16="http://schemas.microsoft.com/office/drawing/2014/main" id="{C801CCE4-D685-5FCD-86AD-539FB7A934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739" y="3827646"/>
            <a:ext cx="9600981" cy="2739714"/>
          </a:xfrm>
          <a:prstGeom prst="rect">
            <a:avLst/>
          </a:prstGeom>
        </p:spPr>
      </p:pic>
      <p:sp>
        <p:nvSpPr>
          <p:cNvPr id="4" name="מלבן 3">
            <a:extLst>
              <a:ext uri="{FF2B5EF4-FFF2-40B4-BE49-F238E27FC236}">
                <a16:creationId xmlns:a16="http://schemas.microsoft.com/office/drawing/2014/main" id="{BC5E60EB-A17F-B009-188E-95274991820C}"/>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7E7086E4-0150-3A7B-11A5-FFF9B01796E7}"/>
              </a:ext>
            </a:extLst>
          </p:cNvPr>
          <p:cNvSpPr/>
          <p:nvPr/>
        </p:nvSpPr>
        <p:spPr>
          <a:xfrm>
            <a:off x="432860" y="362391"/>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1729A0B6-C8D0-D6EE-655B-246629D047D4}"/>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מדד איכות רפואית</a:t>
            </a:r>
          </a:p>
        </p:txBody>
      </p:sp>
      <p:pic>
        <p:nvPicPr>
          <p:cNvPr id="7" name="תמונה 6">
            <a:extLst>
              <a:ext uri="{FF2B5EF4-FFF2-40B4-BE49-F238E27FC236}">
                <a16:creationId xmlns:a16="http://schemas.microsoft.com/office/drawing/2014/main" id="{78B923EE-038D-3EBE-47A1-36C215C94DD7}"/>
              </a:ext>
            </a:extLst>
          </p:cNvPr>
          <p:cNvPicPr>
            <a:picLocks noChangeAspect="1"/>
          </p:cNvPicPr>
          <p:nvPr/>
        </p:nvPicPr>
        <p:blipFill>
          <a:blip r:embed="rId2">
            <a:extLst>
              <a:ext uri="{28A0092B-C50C-407E-A947-70E740481C1C}">
                <a14:useLocalDpi xmlns:a14="http://schemas.microsoft.com/office/drawing/2010/main" val="0"/>
              </a:ext>
            </a:extLst>
          </a:blip>
          <a:srcRect l="24079" r="50000"/>
          <a:stretch>
            <a:fillRect/>
          </a:stretch>
        </p:blipFill>
        <p:spPr>
          <a:xfrm>
            <a:off x="8686800" y="2295537"/>
            <a:ext cx="2488637" cy="2739714"/>
          </a:xfrm>
          <a:prstGeom prst="rect">
            <a:avLst/>
          </a:prstGeom>
        </p:spPr>
      </p:pic>
      <p:sp>
        <p:nvSpPr>
          <p:cNvPr id="10" name="תיבת טקסט 9">
            <a:extLst>
              <a:ext uri="{FF2B5EF4-FFF2-40B4-BE49-F238E27FC236}">
                <a16:creationId xmlns:a16="http://schemas.microsoft.com/office/drawing/2014/main" id="{7755DA58-F73A-DA77-2072-4F2DC50F4204}"/>
              </a:ext>
            </a:extLst>
          </p:cNvPr>
          <p:cNvSpPr txBox="1"/>
          <p:nvPr/>
        </p:nvSpPr>
        <p:spPr>
          <a:xfrm>
            <a:off x="4399616" y="3342838"/>
            <a:ext cx="3270781" cy="2308324"/>
          </a:xfrm>
          <a:prstGeom prst="rect">
            <a:avLst/>
          </a:prstGeom>
          <a:noFill/>
        </p:spPr>
        <p:txBody>
          <a:bodyPr wrap="square">
            <a:spAutoFit/>
          </a:bodyPr>
          <a:lstStyle/>
          <a:p>
            <a:pPr algn="ctr">
              <a:buNone/>
            </a:pPr>
            <a:r>
              <a:rPr lang="he-IL" b="1" dirty="0">
                <a:latin typeface="Rubik" pitchFamily="2" charset="-79"/>
                <a:cs typeface="Rubik" pitchFamily="2" charset="-79"/>
              </a:rPr>
              <a:t>בסרגל איכות הרפואה נציג מדדים שונים לאיתור מוקדם של מחלות – כגון סרטן, וכן פעילות התערבות במחלות שכיחות – כגון סוכרת. לצידם, ישוקפו בסרגל פעולות פרואקטיביות לשמירה על אורח חיים בריא ומונע תחלואה.  ​</a:t>
            </a:r>
          </a:p>
        </p:txBody>
      </p:sp>
    </p:spTree>
    <p:extLst>
      <p:ext uri="{BB962C8B-B14F-4D97-AF65-F5344CB8AC3E}">
        <p14:creationId xmlns:p14="http://schemas.microsoft.com/office/powerpoint/2010/main" val="3804993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B0281-452D-CB4C-4174-AE2D1790EC8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21850FDF-060A-1994-5CBD-683F3AB5DCD9}"/>
              </a:ext>
            </a:extLst>
          </p:cNvPr>
          <p:cNvSpPr txBox="1"/>
          <p:nvPr/>
        </p:nvSpPr>
        <p:spPr>
          <a:xfrm>
            <a:off x="2037144" y="664528"/>
            <a:ext cx="9721996" cy="523220"/>
          </a:xfrm>
          <a:prstGeom prst="rect">
            <a:avLst/>
          </a:prstGeom>
          <a:noFill/>
        </p:spPr>
        <p:txBody>
          <a:bodyPr wrap="square" rtlCol="0">
            <a:spAutoFit/>
          </a:bodyPr>
          <a:lstStyle/>
          <a:p>
            <a:r>
              <a:rPr lang="he-IL" sz="2800" b="1" i="0" dirty="0">
                <a:solidFill>
                  <a:srgbClr val="F47221"/>
                </a:solidFill>
                <a:effectLst/>
                <a:latin typeface="Rubik Black" pitchFamily="2" charset="-79"/>
                <a:cs typeface="Rubik Black" pitchFamily="2" charset="-79"/>
              </a:rPr>
              <a:t>ניהול מבוסס נתונים</a:t>
            </a:r>
          </a:p>
        </p:txBody>
      </p:sp>
      <p:sp>
        <p:nvSpPr>
          <p:cNvPr id="2" name="תיבת טקסט 1">
            <a:extLst>
              <a:ext uri="{FF2B5EF4-FFF2-40B4-BE49-F238E27FC236}">
                <a16:creationId xmlns:a16="http://schemas.microsoft.com/office/drawing/2014/main" id="{D9A69031-AC04-0E7A-ABC9-19EA39DF84FE}"/>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מערכת רימון</a:t>
            </a:r>
          </a:p>
        </p:txBody>
      </p:sp>
      <p:sp>
        <p:nvSpPr>
          <p:cNvPr id="3" name="תיבת טקסט 2">
            <a:extLst>
              <a:ext uri="{FF2B5EF4-FFF2-40B4-BE49-F238E27FC236}">
                <a16:creationId xmlns:a16="http://schemas.microsoft.com/office/drawing/2014/main" id="{DCAAAC4B-65DD-F541-56F1-A445982005F3}"/>
              </a:ext>
            </a:extLst>
          </p:cNvPr>
          <p:cNvSpPr txBox="1"/>
          <p:nvPr/>
        </p:nvSpPr>
        <p:spPr>
          <a:xfrm>
            <a:off x="2727960" y="1899758"/>
            <a:ext cx="9028492" cy="1815882"/>
          </a:xfrm>
          <a:prstGeom prst="rect">
            <a:avLst/>
          </a:prstGeom>
          <a:noFill/>
        </p:spPr>
        <p:txBody>
          <a:bodyPr wrap="square" rtlCol="0">
            <a:spAutoFit/>
          </a:bodyPr>
          <a:lstStyle/>
          <a:p>
            <a:r>
              <a:rPr lang="he-IL" sz="1600" b="1" i="0" dirty="0">
                <a:solidFill>
                  <a:srgbClr val="000000"/>
                </a:solidFill>
                <a:effectLst/>
                <a:latin typeface="Rubik" pitchFamily="2" charset="-79"/>
                <a:cs typeface="Rubik" pitchFamily="2" charset="-79"/>
              </a:rPr>
              <a:t>בארגון שלנו, מערכת הרימון מרכזת עבורכם את המדדים העסקיים ליחידות השטח ומאפשרת לראות תמונת מצב עדכנית ואחידה של פעילות היחידה (למשל מרפאה) ביחס ליעדים הארגוניים. </a:t>
            </a:r>
          </a:p>
          <a:p>
            <a:endParaRPr lang="he-IL" sz="1600" b="1" i="0" dirty="0">
              <a:solidFill>
                <a:srgbClr val="000000"/>
              </a:solidFill>
              <a:effectLst/>
              <a:latin typeface="Rubik" pitchFamily="2" charset="-79"/>
              <a:cs typeface="Rubik" pitchFamily="2" charset="-79"/>
            </a:endParaRPr>
          </a:p>
          <a:p>
            <a:r>
              <a:rPr lang="he-IL" sz="1600" i="0" dirty="0">
                <a:solidFill>
                  <a:srgbClr val="000000"/>
                </a:solidFill>
                <a:effectLst/>
                <a:latin typeface="Rubik" pitchFamily="2" charset="-79"/>
                <a:cs typeface="Rubik" pitchFamily="2" charset="-79"/>
              </a:rPr>
              <a:t>באמצעות</a:t>
            </a:r>
            <a:r>
              <a:rPr lang="he-IL" sz="1600" b="1" i="0" dirty="0">
                <a:solidFill>
                  <a:srgbClr val="000000"/>
                </a:solidFill>
                <a:effectLst/>
                <a:latin typeface="Rubik" pitchFamily="2" charset="-79"/>
                <a:cs typeface="Rubik" pitchFamily="2" charset="-79"/>
              </a:rPr>
              <a:t> מחוונים כגון סרגל השירות </a:t>
            </a:r>
            <a:r>
              <a:rPr lang="he-IL" sz="1600" i="0" dirty="0">
                <a:solidFill>
                  <a:srgbClr val="000000"/>
                </a:solidFill>
                <a:effectLst/>
                <a:latin typeface="Rubik" pitchFamily="2" charset="-79"/>
                <a:cs typeface="Rubik" pitchFamily="2" charset="-79"/>
              </a:rPr>
              <a:t>ניתן לזהות מוקדי חוזק לצד הזדמנויות לשיפור, ולהתבסס על נתונים אובייקטיביים בניהול השוטף. </a:t>
            </a:r>
          </a:p>
          <a:p>
            <a:endParaRPr lang="he-IL" sz="1600" b="1" i="0" dirty="0">
              <a:solidFill>
                <a:srgbClr val="000000"/>
              </a:solidFill>
              <a:effectLst/>
              <a:latin typeface="Rubik" pitchFamily="2" charset="-79"/>
              <a:cs typeface="Rubik" pitchFamily="2" charset="-79"/>
            </a:endParaRPr>
          </a:p>
          <a:p>
            <a:r>
              <a:rPr lang="he-IL" sz="1600" b="1" i="0" dirty="0">
                <a:solidFill>
                  <a:srgbClr val="000000"/>
                </a:solidFill>
                <a:effectLst/>
                <a:latin typeface="Rubik" pitchFamily="2" charset="-79"/>
                <a:cs typeface="Rubik" pitchFamily="2" charset="-79"/>
              </a:rPr>
              <a:t>לחצו את המדדים המרכזיים במערכת, כדי לקבל טעימה קצרה מעולם המדידה.</a:t>
            </a:r>
          </a:p>
        </p:txBody>
      </p:sp>
      <p:pic>
        <p:nvPicPr>
          <p:cNvPr id="8" name="תמונה 7">
            <a:extLst>
              <a:ext uri="{FF2B5EF4-FFF2-40B4-BE49-F238E27FC236}">
                <a16:creationId xmlns:a16="http://schemas.microsoft.com/office/drawing/2014/main" id="{54AAD6D3-F218-25E5-D94D-6D6BD30E3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739" y="3827646"/>
            <a:ext cx="9600981" cy="2739714"/>
          </a:xfrm>
          <a:prstGeom prst="rect">
            <a:avLst/>
          </a:prstGeom>
        </p:spPr>
      </p:pic>
      <p:sp>
        <p:nvSpPr>
          <p:cNvPr id="4" name="מלבן 3">
            <a:extLst>
              <a:ext uri="{FF2B5EF4-FFF2-40B4-BE49-F238E27FC236}">
                <a16:creationId xmlns:a16="http://schemas.microsoft.com/office/drawing/2014/main" id="{0BBC42F4-B310-B646-4AF5-F6A0003DEAEA}"/>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E52182CA-3533-D00E-6AE3-680EE91C589A}"/>
              </a:ext>
            </a:extLst>
          </p:cNvPr>
          <p:cNvSpPr/>
          <p:nvPr/>
        </p:nvSpPr>
        <p:spPr>
          <a:xfrm>
            <a:off x="432860" y="362391"/>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7099C8AD-0C05-60E0-CF12-12229EADB5D9}"/>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מדד יעילות כלכלית</a:t>
            </a:r>
          </a:p>
        </p:txBody>
      </p:sp>
      <p:pic>
        <p:nvPicPr>
          <p:cNvPr id="7" name="תמונה 6">
            <a:extLst>
              <a:ext uri="{FF2B5EF4-FFF2-40B4-BE49-F238E27FC236}">
                <a16:creationId xmlns:a16="http://schemas.microsoft.com/office/drawing/2014/main" id="{FC15802C-1023-006D-ED09-E31AF86CA7F8}"/>
              </a:ext>
            </a:extLst>
          </p:cNvPr>
          <p:cNvPicPr>
            <a:picLocks noChangeAspect="1"/>
          </p:cNvPicPr>
          <p:nvPr/>
        </p:nvPicPr>
        <p:blipFill>
          <a:blip r:embed="rId2">
            <a:extLst>
              <a:ext uri="{28A0092B-C50C-407E-A947-70E740481C1C}">
                <a14:useLocalDpi xmlns:a14="http://schemas.microsoft.com/office/drawing/2010/main" val="0"/>
              </a:ext>
            </a:extLst>
          </a:blip>
          <a:srcRect l="-1388" r="75467"/>
          <a:stretch>
            <a:fillRect/>
          </a:stretch>
        </p:blipFill>
        <p:spPr>
          <a:xfrm>
            <a:off x="8686800" y="2295537"/>
            <a:ext cx="2488637" cy="2739714"/>
          </a:xfrm>
          <a:prstGeom prst="rect">
            <a:avLst/>
          </a:prstGeom>
        </p:spPr>
      </p:pic>
      <p:sp>
        <p:nvSpPr>
          <p:cNvPr id="10" name="תיבת טקסט 9">
            <a:extLst>
              <a:ext uri="{FF2B5EF4-FFF2-40B4-BE49-F238E27FC236}">
                <a16:creationId xmlns:a16="http://schemas.microsoft.com/office/drawing/2014/main" id="{7DBCC1EE-58FC-F3E7-C570-F43EB9CA3679}"/>
              </a:ext>
            </a:extLst>
          </p:cNvPr>
          <p:cNvSpPr txBox="1"/>
          <p:nvPr/>
        </p:nvSpPr>
        <p:spPr>
          <a:xfrm>
            <a:off x="4399616" y="3342838"/>
            <a:ext cx="3270781" cy="2031325"/>
          </a:xfrm>
          <a:prstGeom prst="rect">
            <a:avLst/>
          </a:prstGeom>
          <a:noFill/>
        </p:spPr>
        <p:txBody>
          <a:bodyPr wrap="square">
            <a:spAutoFit/>
          </a:bodyPr>
          <a:lstStyle/>
          <a:p>
            <a:pPr algn="ctr">
              <a:buNone/>
            </a:pPr>
            <a:r>
              <a:rPr lang="he-IL" b="1" dirty="0">
                <a:latin typeface="Rubik" pitchFamily="2" charset="-79"/>
                <a:cs typeface="Rubik" pitchFamily="2" charset="-79"/>
              </a:rPr>
              <a:t>סרגל זה משקף מדדי תקציב לצד מדדים המעודדים שימוש מושכל במשאבים. לדוגמא – נרצה לעודד הפניות </a:t>
            </a:r>
            <a:r>
              <a:rPr lang="he-IL" b="1" dirty="0" err="1">
                <a:latin typeface="Rubik" pitchFamily="2" charset="-79"/>
                <a:cs typeface="Rubik" pitchFamily="2" charset="-79"/>
              </a:rPr>
              <a:t>למלר"ד</a:t>
            </a:r>
            <a:r>
              <a:rPr lang="he-IL" b="1" dirty="0">
                <a:latin typeface="Rubik" pitchFamily="2" charset="-79"/>
                <a:cs typeface="Rubik" pitchFamily="2" charset="-79"/>
              </a:rPr>
              <a:t> מאוחדת במקום למיון, </a:t>
            </a:r>
            <a:r>
              <a:rPr lang="he-IL" b="1" dirty="0" err="1">
                <a:latin typeface="Rubik" pitchFamily="2" charset="-79"/>
                <a:cs typeface="Rubik" pitchFamily="2" charset="-79"/>
              </a:rPr>
              <a:t>לתעדף</a:t>
            </a:r>
            <a:r>
              <a:rPr lang="he-IL" b="1" dirty="0">
                <a:latin typeface="Rubik" pitchFamily="2" charset="-79"/>
                <a:cs typeface="Rubik" pitchFamily="2" charset="-79"/>
              </a:rPr>
              <a:t> שירותים פנים-</a:t>
            </a:r>
            <a:r>
              <a:rPr lang="he-IL" b="1" dirty="0" err="1">
                <a:latin typeface="Rubik" pitchFamily="2" charset="-79"/>
                <a:cs typeface="Rubik" pitchFamily="2" charset="-79"/>
              </a:rPr>
              <a:t>קופתיים</a:t>
            </a:r>
            <a:r>
              <a:rPr lang="he-IL" b="1" dirty="0">
                <a:latin typeface="Rubik" pitchFamily="2" charset="-79"/>
                <a:cs typeface="Rubik" pitchFamily="2" charset="-79"/>
              </a:rPr>
              <a:t>, ולצרף לקוחות לחתימה על הוראות קבע</a:t>
            </a:r>
          </a:p>
        </p:txBody>
      </p:sp>
    </p:spTree>
    <p:extLst>
      <p:ext uri="{BB962C8B-B14F-4D97-AF65-F5344CB8AC3E}">
        <p14:creationId xmlns:p14="http://schemas.microsoft.com/office/powerpoint/2010/main" val="323701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5B1D9-8C0D-3C83-2797-705FFEA54488}"/>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4B20073F-0011-5255-D295-579B1D7EF0E1}"/>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ניהול מבוסס נתונים</a:t>
            </a:r>
          </a:p>
        </p:txBody>
      </p:sp>
      <p:sp>
        <p:nvSpPr>
          <p:cNvPr id="6" name="תיבת טקסט 5">
            <a:extLst>
              <a:ext uri="{FF2B5EF4-FFF2-40B4-BE49-F238E27FC236}">
                <a16:creationId xmlns:a16="http://schemas.microsoft.com/office/drawing/2014/main" id="{CACED018-9B7A-AD49-C418-D0B82F995D53}"/>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איך עושים את זה נכון?</a:t>
            </a:r>
          </a:p>
        </p:txBody>
      </p:sp>
      <p:sp>
        <p:nvSpPr>
          <p:cNvPr id="3" name="מלבן: פינות מעוגלות 2">
            <a:extLst>
              <a:ext uri="{FF2B5EF4-FFF2-40B4-BE49-F238E27FC236}">
                <a16:creationId xmlns:a16="http://schemas.microsoft.com/office/drawing/2014/main" id="{A66C9D22-3ACE-EFF7-2E86-18459A5280D7}"/>
              </a:ext>
            </a:extLst>
          </p:cNvPr>
          <p:cNvSpPr/>
          <p:nvPr/>
        </p:nvSpPr>
        <p:spPr>
          <a:xfrm>
            <a:off x="2540643" y="2333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Oval 1">
            <a:extLst>
              <a:ext uri="{FF2B5EF4-FFF2-40B4-BE49-F238E27FC236}">
                <a16:creationId xmlns:a16="http://schemas.microsoft.com/office/drawing/2014/main" id="{5CFA5DA6-C1E3-8CBD-DCC1-C964242DE660}"/>
              </a:ext>
            </a:extLst>
          </p:cNvPr>
          <p:cNvSpPr/>
          <p:nvPr/>
        </p:nvSpPr>
        <p:spPr>
          <a:xfrm rot="6356543">
            <a:off x="1343582"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4" name="תיבת טקסט 3">
            <a:extLst>
              <a:ext uri="{FF2B5EF4-FFF2-40B4-BE49-F238E27FC236}">
                <a16:creationId xmlns:a16="http://schemas.microsoft.com/office/drawing/2014/main" id="{A31567D4-76E9-9158-AAA4-636F4B359074}"/>
              </a:ext>
            </a:extLst>
          </p:cNvPr>
          <p:cNvSpPr txBox="1"/>
          <p:nvPr/>
        </p:nvSpPr>
        <p:spPr>
          <a:xfrm>
            <a:off x="3320146" y="2687620"/>
            <a:ext cx="5551708" cy="400110"/>
          </a:xfrm>
          <a:prstGeom prst="rect">
            <a:avLst/>
          </a:prstGeom>
          <a:noFill/>
        </p:spPr>
        <p:txBody>
          <a:bodyPr wrap="square" rtlCol="0">
            <a:spAutoFit/>
          </a:bodyPr>
          <a:lstStyle/>
          <a:p>
            <a:pPr algn="ctr"/>
            <a:r>
              <a:rPr lang="he-IL" sz="2000" b="0" i="0" dirty="0">
                <a:effectLst/>
                <a:latin typeface="Rubik Black" pitchFamily="2" charset="-79"/>
                <a:cs typeface="Rubik Black" pitchFamily="2" charset="-79"/>
              </a:rPr>
              <a:t>לחבר בין הנתון לאדם (ולא להישאר במספרים) </a:t>
            </a:r>
            <a:endParaRPr lang="he-IL" sz="28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A842FC28-CA9C-89D1-2B77-15E8560CC2A8}"/>
              </a:ext>
            </a:extLst>
          </p:cNvPr>
          <p:cNvSpPr txBox="1"/>
          <p:nvPr/>
        </p:nvSpPr>
        <p:spPr>
          <a:xfrm>
            <a:off x="2773680" y="3458209"/>
            <a:ext cx="6474482" cy="1754326"/>
          </a:xfrm>
          <a:prstGeom prst="rect">
            <a:avLst/>
          </a:prstGeom>
          <a:noFill/>
        </p:spPr>
        <p:txBody>
          <a:bodyPr wrap="square">
            <a:spAutoFit/>
          </a:bodyPr>
          <a:lstStyle/>
          <a:p>
            <a:r>
              <a:rPr lang="he-IL" b="1" dirty="0">
                <a:latin typeface="Rubik" pitchFamily="2" charset="-79"/>
                <a:cs typeface="Rubik" pitchFamily="2" charset="-79"/>
              </a:rPr>
              <a:t>אל תציגו רק נתונים – תנו להם הקשר/ שאלו: </a:t>
            </a:r>
          </a:p>
          <a:p>
            <a:endParaRPr lang="he-IL" b="1" dirty="0">
              <a:latin typeface="Rubik" pitchFamily="2" charset="-79"/>
              <a:cs typeface="Rubik" pitchFamily="2" charset="-79"/>
            </a:endParaRPr>
          </a:p>
          <a:p>
            <a:pPr marL="285750" indent="-285750">
              <a:buFont typeface="Arial" panose="020B0604020202020204" pitchFamily="34" charset="0"/>
              <a:buChar char="•"/>
            </a:pPr>
            <a:r>
              <a:rPr lang="he-IL" dirty="0">
                <a:latin typeface="Rubik Light" pitchFamily="2" charset="-79"/>
                <a:cs typeface="Rubik Light" pitchFamily="2" charset="-79"/>
              </a:rPr>
              <a:t>מה עומד מאחורי הנתון? </a:t>
            </a:r>
          </a:p>
          <a:p>
            <a:pPr marL="285750" indent="-285750">
              <a:buFont typeface="Arial" panose="020B0604020202020204" pitchFamily="34" charset="0"/>
              <a:buChar char="•"/>
            </a:pPr>
            <a:r>
              <a:rPr lang="he-IL" dirty="0">
                <a:latin typeface="Rubik Light" pitchFamily="2" charset="-79"/>
                <a:cs typeface="Rubik Light" pitchFamily="2" charset="-79"/>
              </a:rPr>
              <a:t>איזה התנהגות/תהליך יצר אותו? </a:t>
            </a:r>
          </a:p>
          <a:p>
            <a:endParaRPr lang="he-IL" dirty="0">
              <a:latin typeface="Rubik Light" pitchFamily="2" charset="-79"/>
              <a:cs typeface="Rubik Light" pitchFamily="2" charset="-79"/>
            </a:endParaRPr>
          </a:p>
          <a:p>
            <a:r>
              <a:rPr lang="he-IL" b="1" dirty="0">
                <a:solidFill>
                  <a:srgbClr val="F47221"/>
                </a:solidFill>
                <a:latin typeface="Rubik" pitchFamily="2" charset="-79"/>
                <a:cs typeface="Rubik" pitchFamily="2" charset="-79"/>
              </a:rPr>
              <a:t>זכרו: הנתונים הם סימפטום – לא הסיפור המלא</a:t>
            </a:r>
          </a:p>
        </p:txBody>
      </p:sp>
      <p:sp>
        <p:nvSpPr>
          <p:cNvPr id="12" name="תיבת טקסט 11">
            <a:extLst>
              <a:ext uri="{FF2B5EF4-FFF2-40B4-BE49-F238E27FC236}">
                <a16:creationId xmlns:a16="http://schemas.microsoft.com/office/drawing/2014/main" id="{D6D82A7E-DE11-162E-4BB1-35FC6D0522E5}"/>
              </a:ext>
            </a:extLst>
          </p:cNvPr>
          <p:cNvSpPr txBox="1"/>
          <p:nvPr/>
        </p:nvSpPr>
        <p:spPr>
          <a:xfrm>
            <a:off x="7263813" y="1607889"/>
            <a:ext cx="4495327"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בהסברים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17878031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1122-751F-140E-4E22-8C4FAFF51D7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48AB66BE-A4F1-1450-19CE-FFE1374FB1D3}"/>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ניהול מבוסס נתונים</a:t>
            </a:r>
          </a:p>
        </p:txBody>
      </p:sp>
      <p:sp>
        <p:nvSpPr>
          <p:cNvPr id="6" name="תיבת טקסט 5">
            <a:extLst>
              <a:ext uri="{FF2B5EF4-FFF2-40B4-BE49-F238E27FC236}">
                <a16:creationId xmlns:a16="http://schemas.microsoft.com/office/drawing/2014/main" id="{603611E9-2143-F362-8B89-79D4779E1E07}"/>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איך עושים את זה נכון?</a:t>
            </a:r>
          </a:p>
        </p:txBody>
      </p:sp>
      <p:sp>
        <p:nvSpPr>
          <p:cNvPr id="3" name="מלבן: פינות מעוגלות 2">
            <a:extLst>
              <a:ext uri="{FF2B5EF4-FFF2-40B4-BE49-F238E27FC236}">
                <a16:creationId xmlns:a16="http://schemas.microsoft.com/office/drawing/2014/main" id="{F97D2F4C-F497-90C4-5EE9-347032941980}"/>
              </a:ext>
            </a:extLst>
          </p:cNvPr>
          <p:cNvSpPr/>
          <p:nvPr/>
        </p:nvSpPr>
        <p:spPr>
          <a:xfrm>
            <a:off x="2540643" y="2333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92188621-C723-EB18-8945-8F16867C2037}"/>
              </a:ext>
            </a:extLst>
          </p:cNvPr>
          <p:cNvSpPr/>
          <p:nvPr/>
        </p:nvSpPr>
        <p:spPr>
          <a:xfrm rot="15243457" flipH="1">
            <a:off x="9849273"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30663C7E-CB2F-B7A7-BA73-3877541942CB}"/>
              </a:ext>
            </a:extLst>
          </p:cNvPr>
          <p:cNvSpPr/>
          <p:nvPr/>
        </p:nvSpPr>
        <p:spPr>
          <a:xfrm rot="6356543">
            <a:off x="1343582"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4" name="תיבת טקסט 3">
            <a:extLst>
              <a:ext uri="{FF2B5EF4-FFF2-40B4-BE49-F238E27FC236}">
                <a16:creationId xmlns:a16="http://schemas.microsoft.com/office/drawing/2014/main" id="{8FA2458F-B614-28D2-21E6-297CC80C253F}"/>
              </a:ext>
            </a:extLst>
          </p:cNvPr>
          <p:cNvSpPr txBox="1"/>
          <p:nvPr/>
        </p:nvSpPr>
        <p:spPr>
          <a:xfrm>
            <a:off x="3320146" y="2687620"/>
            <a:ext cx="5551708" cy="400110"/>
          </a:xfrm>
          <a:prstGeom prst="rect">
            <a:avLst/>
          </a:prstGeom>
          <a:noFill/>
        </p:spPr>
        <p:txBody>
          <a:bodyPr wrap="square" rtlCol="0">
            <a:spAutoFit/>
          </a:bodyPr>
          <a:lstStyle/>
          <a:p>
            <a:pPr algn="ctr"/>
            <a:r>
              <a:rPr lang="he-IL" sz="2000" b="0" i="0" dirty="0">
                <a:effectLst/>
                <a:latin typeface="Rubik Black" pitchFamily="2" charset="-79"/>
                <a:cs typeface="Rubik Black" pitchFamily="2" charset="-79"/>
              </a:rPr>
              <a:t>להשתמש בנתונים כבסיס לשיח – לא ככלי שיפוט</a:t>
            </a:r>
            <a:endParaRPr lang="he-IL" sz="28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35952BF6-5F71-BF41-34BD-91BA4390E981}"/>
              </a:ext>
            </a:extLst>
          </p:cNvPr>
          <p:cNvSpPr txBox="1"/>
          <p:nvPr/>
        </p:nvSpPr>
        <p:spPr>
          <a:xfrm>
            <a:off x="2773680" y="3458209"/>
            <a:ext cx="6474482" cy="1754326"/>
          </a:xfrm>
          <a:prstGeom prst="rect">
            <a:avLst/>
          </a:prstGeom>
          <a:noFill/>
        </p:spPr>
        <p:txBody>
          <a:bodyPr wrap="square">
            <a:spAutoFit/>
          </a:bodyPr>
          <a:lstStyle/>
          <a:p>
            <a:pPr marL="285750" indent="-285750">
              <a:buFont typeface="Arial" panose="020B0604020202020204" pitchFamily="34" charset="0"/>
              <a:buChar char="•"/>
            </a:pPr>
            <a:r>
              <a:rPr lang="he-IL" dirty="0">
                <a:latin typeface="Rubik Light" pitchFamily="2" charset="-79"/>
                <a:cs typeface="Rubik Light" pitchFamily="2" charset="-79"/>
              </a:rPr>
              <a:t>הציגו נתונים כדי לפתוח שיח, לא כדי "לתייג" עובדים</a:t>
            </a:r>
          </a:p>
          <a:p>
            <a:pPr marL="285750" indent="-285750">
              <a:buFont typeface="Arial" panose="020B0604020202020204" pitchFamily="34" charset="0"/>
              <a:buChar char="•"/>
            </a:pPr>
            <a:r>
              <a:rPr lang="he-IL" dirty="0">
                <a:latin typeface="Rubik Light" pitchFamily="2" charset="-79"/>
                <a:cs typeface="Rubik Light" pitchFamily="2" charset="-79"/>
              </a:rPr>
              <a:t>הימנעו משיח של האשמה – עברו לשיח של הבנה ושיפור</a:t>
            </a:r>
          </a:p>
          <a:p>
            <a:pPr marL="285750" indent="-285750">
              <a:buFont typeface="Arial" panose="020B0604020202020204" pitchFamily="34" charset="0"/>
              <a:buChar char="•"/>
            </a:pPr>
            <a:r>
              <a:rPr lang="he-IL" dirty="0">
                <a:latin typeface="Rubik Light" pitchFamily="2" charset="-79"/>
                <a:cs typeface="Rubik Light" pitchFamily="2" charset="-79"/>
              </a:rPr>
              <a:t>שלבו נתונים בשיחות משוב עם דוגמאות קונקרטיות. </a:t>
            </a:r>
            <a:br>
              <a:rPr lang="en-US" dirty="0">
                <a:latin typeface="Rubik Light" pitchFamily="2" charset="-79"/>
                <a:cs typeface="Rubik Light" pitchFamily="2" charset="-79"/>
              </a:rPr>
            </a:br>
            <a:r>
              <a:rPr lang="he-IL" dirty="0">
                <a:latin typeface="Rubik Light" pitchFamily="2" charset="-79"/>
                <a:cs typeface="Rubik Light" pitchFamily="2" charset="-79"/>
              </a:rPr>
              <a:t>במקום: "התוצאה שלך נמוכה" </a:t>
            </a:r>
            <a:br>
              <a:rPr lang="en-US" dirty="0">
                <a:latin typeface="Rubik Light" pitchFamily="2" charset="-79"/>
                <a:cs typeface="Rubik Light" pitchFamily="2" charset="-79"/>
              </a:rPr>
            </a:br>
            <a:r>
              <a:rPr lang="he-IL" dirty="0">
                <a:latin typeface="Rubik Light" pitchFamily="2" charset="-79"/>
                <a:cs typeface="Rubik Light" pitchFamily="2" charset="-79"/>
              </a:rPr>
              <a:t>עדיף: "מה לדעתך מסביר את הנתון הזה? איך נוכל לשפר יחד?"</a:t>
            </a:r>
          </a:p>
          <a:p>
            <a:endParaRPr lang="he-IL" dirty="0">
              <a:latin typeface="Rubik Light" pitchFamily="2" charset="-79"/>
              <a:cs typeface="Rubik Light" pitchFamily="2" charset="-79"/>
            </a:endParaRPr>
          </a:p>
        </p:txBody>
      </p:sp>
      <p:sp>
        <p:nvSpPr>
          <p:cNvPr id="12" name="תיבת טקסט 11">
            <a:extLst>
              <a:ext uri="{FF2B5EF4-FFF2-40B4-BE49-F238E27FC236}">
                <a16:creationId xmlns:a16="http://schemas.microsoft.com/office/drawing/2014/main" id="{2A313BB6-CDA3-17CE-78B2-66D615BF0073}"/>
              </a:ext>
            </a:extLst>
          </p:cNvPr>
          <p:cNvSpPr txBox="1"/>
          <p:nvPr/>
        </p:nvSpPr>
        <p:spPr>
          <a:xfrm>
            <a:off x="7263813" y="1607889"/>
            <a:ext cx="4495327"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בהסברים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833673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7676C-3FCE-D7F2-2DEA-A0621764BAA5}"/>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24F4F4C5-C32F-3AB6-4B36-8A586A0E3B61}"/>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ניהול מבוסס נתונים</a:t>
            </a:r>
          </a:p>
        </p:txBody>
      </p:sp>
      <p:sp>
        <p:nvSpPr>
          <p:cNvPr id="6" name="תיבת טקסט 5">
            <a:extLst>
              <a:ext uri="{FF2B5EF4-FFF2-40B4-BE49-F238E27FC236}">
                <a16:creationId xmlns:a16="http://schemas.microsoft.com/office/drawing/2014/main" id="{8AC239DD-32C7-5213-627C-13C520C4847C}"/>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איך עושים את זה נכון?</a:t>
            </a:r>
          </a:p>
        </p:txBody>
      </p:sp>
      <p:sp>
        <p:nvSpPr>
          <p:cNvPr id="3" name="מלבן: פינות מעוגלות 2">
            <a:extLst>
              <a:ext uri="{FF2B5EF4-FFF2-40B4-BE49-F238E27FC236}">
                <a16:creationId xmlns:a16="http://schemas.microsoft.com/office/drawing/2014/main" id="{BC73136A-FED2-D9A2-4021-9BE2C898C342}"/>
              </a:ext>
            </a:extLst>
          </p:cNvPr>
          <p:cNvSpPr/>
          <p:nvPr/>
        </p:nvSpPr>
        <p:spPr>
          <a:xfrm>
            <a:off x="2540643" y="2333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1C60C30C-5DDB-C515-4162-189B9049DE08}"/>
              </a:ext>
            </a:extLst>
          </p:cNvPr>
          <p:cNvSpPr/>
          <p:nvPr/>
        </p:nvSpPr>
        <p:spPr>
          <a:xfrm rot="15243457" flipH="1">
            <a:off x="9849273"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E15802F4-34A5-F0BC-E058-A08D2012420A}"/>
              </a:ext>
            </a:extLst>
          </p:cNvPr>
          <p:cNvSpPr/>
          <p:nvPr/>
        </p:nvSpPr>
        <p:spPr>
          <a:xfrm rot="6356543">
            <a:off x="1343582"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4" name="תיבת טקסט 3">
            <a:extLst>
              <a:ext uri="{FF2B5EF4-FFF2-40B4-BE49-F238E27FC236}">
                <a16:creationId xmlns:a16="http://schemas.microsoft.com/office/drawing/2014/main" id="{792FD23C-3952-7051-840B-FABBC129B9DA}"/>
              </a:ext>
            </a:extLst>
          </p:cNvPr>
          <p:cNvSpPr txBox="1"/>
          <p:nvPr/>
        </p:nvSpPr>
        <p:spPr>
          <a:xfrm>
            <a:off x="3320146" y="2687620"/>
            <a:ext cx="5551708" cy="400110"/>
          </a:xfrm>
          <a:prstGeom prst="rect">
            <a:avLst/>
          </a:prstGeom>
          <a:noFill/>
        </p:spPr>
        <p:txBody>
          <a:bodyPr wrap="square" rtlCol="0">
            <a:spAutoFit/>
          </a:bodyPr>
          <a:lstStyle/>
          <a:p>
            <a:pPr algn="ctr"/>
            <a:r>
              <a:rPr lang="he-IL" sz="2000" b="0" i="0" dirty="0">
                <a:effectLst/>
                <a:latin typeface="Rubik Black" pitchFamily="2" charset="-79"/>
                <a:cs typeface="Rubik Black" pitchFamily="2" charset="-79"/>
              </a:rPr>
              <a:t>התמקדו במדדים מרכזיים ולא "לטבוע בדוחות"</a:t>
            </a:r>
            <a:endParaRPr lang="he-IL" sz="28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42C5A9BF-0DF9-019C-A794-4E5FBE9ADE02}"/>
              </a:ext>
            </a:extLst>
          </p:cNvPr>
          <p:cNvSpPr txBox="1"/>
          <p:nvPr/>
        </p:nvSpPr>
        <p:spPr>
          <a:xfrm>
            <a:off x="2773680" y="3458209"/>
            <a:ext cx="6474482" cy="923330"/>
          </a:xfrm>
          <a:prstGeom prst="rect">
            <a:avLst/>
          </a:prstGeom>
          <a:noFill/>
        </p:spPr>
        <p:txBody>
          <a:bodyPr wrap="square">
            <a:spAutoFit/>
          </a:bodyPr>
          <a:lstStyle/>
          <a:p>
            <a:pPr marL="342900" indent="-342900">
              <a:buFont typeface="+mj-lt"/>
              <a:buAutoNum type="arabicPeriod"/>
            </a:pPr>
            <a:r>
              <a:rPr lang="he-IL" dirty="0">
                <a:latin typeface="Rubik Light" pitchFamily="2" charset="-79"/>
                <a:cs typeface="Rubik Light" pitchFamily="2" charset="-79"/>
              </a:rPr>
              <a:t>בחרו מספר מצומצם של מדדים קריטיים לניהול (3–5) </a:t>
            </a:r>
          </a:p>
          <a:p>
            <a:pPr marL="342900" indent="-342900">
              <a:buFont typeface="+mj-lt"/>
              <a:buAutoNum type="arabicPeriod"/>
            </a:pPr>
            <a:r>
              <a:rPr lang="he-IL" dirty="0">
                <a:latin typeface="Rubik Light" pitchFamily="2" charset="-79"/>
                <a:cs typeface="Rubik Light" pitchFamily="2" charset="-79"/>
              </a:rPr>
              <a:t>הגדירו: מה חשוב באמת להצלחה בתפקיד/יחידה.</a:t>
            </a:r>
          </a:p>
          <a:p>
            <a:pPr marL="342900" indent="-342900">
              <a:buFont typeface="+mj-lt"/>
              <a:buAutoNum type="arabicPeriod"/>
            </a:pPr>
            <a:r>
              <a:rPr lang="he-IL" dirty="0">
                <a:latin typeface="Rubik Light" pitchFamily="2" charset="-79"/>
                <a:cs typeface="Rubik Light" pitchFamily="2" charset="-79"/>
              </a:rPr>
              <a:t>חזרו אל אותם מדדים באופן עקבי</a:t>
            </a:r>
          </a:p>
        </p:txBody>
      </p:sp>
      <p:sp>
        <p:nvSpPr>
          <p:cNvPr id="7" name="תיבת טקסט 6">
            <a:extLst>
              <a:ext uri="{FF2B5EF4-FFF2-40B4-BE49-F238E27FC236}">
                <a16:creationId xmlns:a16="http://schemas.microsoft.com/office/drawing/2014/main" id="{2090BC47-04FE-EE53-929E-0B9114C700BA}"/>
              </a:ext>
            </a:extLst>
          </p:cNvPr>
          <p:cNvSpPr txBox="1"/>
          <p:nvPr/>
        </p:nvSpPr>
        <p:spPr>
          <a:xfrm>
            <a:off x="7263813" y="1607889"/>
            <a:ext cx="4495327"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בהסברים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3328654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CBDE3-E8B7-F70D-7FD6-7F3BC295ACF2}"/>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768BA1AA-16B3-3521-5795-FEADF05BDBF5}"/>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ניהול מבוסס נתונים</a:t>
            </a:r>
          </a:p>
        </p:txBody>
      </p:sp>
      <p:sp>
        <p:nvSpPr>
          <p:cNvPr id="6" name="תיבת טקסט 5">
            <a:extLst>
              <a:ext uri="{FF2B5EF4-FFF2-40B4-BE49-F238E27FC236}">
                <a16:creationId xmlns:a16="http://schemas.microsoft.com/office/drawing/2014/main" id="{5BA3993A-8044-729D-7CBB-FF2B17EB8C22}"/>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איך עושים את זה נכון?</a:t>
            </a:r>
          </a:p>
        </p:txBody>
      </p:sp>
      <p:sp>
        <p:nvSpPr>
          <p:cNvPr id="3" name="מלבן: פינות מעוגלות 2">
            <a:extLst>
              <a:ext uri="{FF2B5EF4-FFF2-40B4-BE49-F238E27FC236}">
                <a16:creationId xmlns:a16="http://schemas.microsoft.com/office/drawing/2014/main" id="{4BF64335-973A-5EE7-905F-B64D844F9575}"/>
              </a:ext>
            </a:extLst>
          </p:cNvPr>
          <p:cNvSpPr/>
          <p:nvPr/>
        </p:nvSpPr>
        <p:spPr>
          <a:xfrm>
            <a:off x="2540643" y="2333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C764BD2F-9FF1-9BA9-4966-EF4461F6E9DA}"/>
              </a:ext>
            </a:extLst>
          </p:cNvPr>
          <p:cNvSpPr/>
          <p:nvPr/>
        </p:nvSpPr>
        <p:spPr>
          <a:xfrm rot="15243457" flipH="1">
            <a:off x="9849273"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11" name="Oval 1">
            <a:extLst>
              <a:ext uri="{FF2B5EF4-FFF2-40B4-BE49-F238E27FC236}">
                <a16:creationId xmlns:a16="http://schemas.microsoft.com/office/drawing/2014/main" id="{CA24315C-B815-57B6-434D-D50D42270933}"/>
              </a:ext>
            </a:extLst>
          </p:cNvPr>
          <p:cNvSpPr/>
          <p:nvPr/>
        </p:nvSpPr>
        <p:spPr>
          <a:xfrm rot="6356543">
            <a:off x="1343582"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4" name="תיבת טקסט 3">
            <a:extLst>
              <a:ext uri="{FF2B5EF4-FFF2-40B4-BE49-F238E27FC236}">
                <a16:creationId xmlns:a16="http://schemas.microsoft.com/office/drawing/2014/main" id="{406D6DA8-9026-21CC-D310-45DA05BB0427}"/>
              </a:ext>
            </a:extLst>
          </p:cNvPr>
          <p:cNvSpPr txBox="1"/>
          <p:nvPr/>
        </p:nvSpPr>
        <p:spPr>
          <a:xfrm>
            <a:off x="3320146" y="2687620"/>
            <a:ext cx="5551708" cy="707886"/>
          </a:xfrm>
          <a:prstGeom prst="rect">
            <a:avLst/>
          </a:prstGeom>
          <a:noFill/>
        </p:spPr>
        <p:txBody>
          <a:bodyPr wrap="square" rtlCol="0">
            <a:spAutoFit/>
          </a:bodyPr>
          <a:lstStyle/>
          <a:p>
            <a:pPr algn="ctr"/>
            <a:r>
              <a:rPr lang="he-IL" sz="2000" b="0" i="0" dirty="0">
                <a:effectLst/>
                <a:latin typeface="Rubik Black" pitchFamily="2" charset="-79"/>
                <a:cs typeface="Rubik Black" pitchFamily="2" charset="-79"/>
              </a:rPr>
              <a:t>יצרו שגרות ניהול סביב ישנה חשיבות של שגרות ניהול קבועות ככלי לבקרה והנעה. </a:t>
            </a:r>
            <a:endParaRPr lang="he-IL" sz="28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1494D515-7792-A3AB-C0ED-3EC8FA53D631}"/>
              </a:ext>
            </a:extLst>
          </p:cNvPr>
          <p:cNvSpPr txBox="1"/>
          <p:nvPr/>
        </p:nvSpPr>
        <p:spPr>
          <a:xfrm>
            <a:off x="2760980" y="3654296"/>
            <a:ext cx="6474482" cy="923330"/>
          </a:xfrm>
          <a:prstGeom prst="rect">
            <a:avLst/>
          </a:prstGeom>
          <a:noFill/>
        </p:spPr>
        <p:txBody>
          <a:bodyPr wrap="square">
            <a:spAutoFit/>
          </a:bodyPr>
          <a:lstStyle/>
          <a:p>
            <a:r>
              <a:rPr lang="he-IL" dirty="0">
                <a:latin typeface="Rubik Light" pitchFamily="2" charset="-79"/>
                <a:cs typeface="Rubik Light" pitchFamily="2" charset="-79"/>
              </a:rPr>
              <a:t>לדוגמא: ישיבת צוות שבועית עם סקירת מדדים קצרה, פגישות אישיות שמתייחסות גם לביצועים ולא רק לתחושה, מעקב חודשי אחרי מגמות, הדרכות מקצועיות </a:t>
            </a:r>
            <a:r>
              <a:rPr lang="he-IL" dirty="0" err="1">
                <a:latin typeface="Rubik Light" pitchFamily="2" charset="-79"/>
                <a:cs typeface="Rubik Light" pitchFamily="2" charset="-79"/>
              </a:rPr>
              <a:t>וכו</a:t>
            </a:r>
            <a:r>
              <a:rPr lang="he-IL">
                <a:latin typeface="Rubik Light" pitchFamily="2" charset="-79"/>
                <a:cs typeface="Rubik Light" pitchFamily="2" charset="-79"/>
              </a:rPr>
              <a:t>'. </a:t>
            </a:r>
            <a:endParaRPr lang="he-IL" dirty="0">
              <a:latin typeface="Rubik Light" pitchFamily="2" charset="-79"/>
              <a:cs typeface="Rubik Light" pitchFamily="2" charset="-79"/>
            </a:endParaRPr>
          </a:p>
        </p:txBody>
      </p:sp>
      <p:sp>
        <p:nvSpPr>
          <p:cNvPr id="12" name="תיבת טקסט 11">
            <a:extLst>
              <a:ext uri="{FF2B5EF4-FFF2-40B4-BE49-F238E27FC236}">
                <a16:creationId xmlns:a16="http://schemas.microsoft.com/office/drawing/2014/main" id="{9F5F77A6-378A-BB8A-1CD8-EEBC367FEAE6}"/>
              </a:ext>
            </a:extLst>
          </p:cNvPr>
          <p:cNvSpPr txBox="1"/>
          <p:nvPr/>
        </p:nvSpPr>
        <p:spPr>
          <a:xfrm>
            <a:off x="7263813" y="1607889"/>
            <a:ext cx="4495327"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691344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0841D-EF82-326E-6C78-F37D51AF7510}"/>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9350DB01-39BF-AA7C-65FB-807606E724EE}"/>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ניהול מבוסס נתונים</a:t>
            </a:r>
          </a:p>
        </p:txBody>
      </p:sp>
      <p:sp>
        <p:nvSpPr>
          <p:cNvPr id="6" name="תיבת טקסט 5">
            <a:extLst>
              <a:ext uri="{FF2B5EF4-FFF2-40B4-BE49-F238E27FC236}">
                <a16:creationId xmlns:a16="http://schemas.microsoft.com/office/drawing/2014/main" id="{9234DDA7-704C-8DA0-E1F4-21DDC1F314CF}"/>
              </a:ext>
            </a:extLst>
          </p:cNvPr>
          <p:cNvSpPr txBox="1"/>
          <p:nvPr/>
        </p:nvSpPr>
        <p:spPr>
          <a:xfrm>
            <a:off x="7263813" y="1257023"/>
            <a:ext cx="4495327"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איך עושים את זה נכון?</a:t>
            </a:r>
          </a:p>
        </p:txBody>
      </p:sp>
      <p:sp>
        <p:nvSpPr>
          <p:cNvPr id="3" name="מלבן: פינות מעוגלות 2">
            <a:extLst>
              <a:ext uri="{FF2B5EF4-FFF2-40B4-BE49-F238E27FC236}">
                <a16:creationId xmlns:a16="http://schemas.microsoft.com/office/drawing/2014/main" id="{D72119D2-4CA4-B78D-0C1A-FA6FF69DD920}"/>
              </a:ext>
            </a:extLst>
          </p:cNvPr>
          <p:cNvSpPr/>
          <p:nvPr/>
        </p:nvSpPr>
        <p:spPr>
          <a:xfrm>
            <a:off x="2540643" y="2333672"/>
            <a:ext cx="7110714" cy="3892396"/>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1">
            <a:extLst>
              <a:ext uri="{FF2B5EF4-FFF2-40B4-BE49-F238E27FC236}">
                <a16:creationId xmlns:a16="http://schemas.microsoft.com/office/drawing/2014/main" id="{04A5DC94-089B-B1D0-C45F-62AB126EBAA4}"/>
              </a:ext>
            </a:extLst>
          </p:cNvPr>
          <p:cNvSpPr/>
          <p:nvPr/>
        </p:nvSpPr>
        <p:spPr>
          <a:xfrm rot="15243457" flipH="1">
            <a:off x="9849273" y="3814341"/>
            <a:ext cx="1110588" cy="785829"/>
          </a:xfrm>
          <a:custGeom>
            <a:avLst/>
            <a:gdLst>
              <a:gd name="connsiteX0" fmla="*/ 0 w 3403600"/>
              <a:gd name="connsiteY0" fmla="*/ 1701800 h 3403600"/>
              <a:gd name="connsiteX1" fmla="*/ 1701800 w 3403600"/>
              <a:gd name="connsiteY1" fmla="*/ 0 h 3403600"/>
              <a:gd name="connsiteX2" fmla="*/ 3403600 w 3403600"/>
              <a:gd name="connsiteY2" fmla="*/ 1701800 h 3403600"/>
              <a:gd name="connsiteX3" fmla="*/ 1701800 w 3403600"/>
              <a:gd name="connsiteY3" fmla="*/ 3403600 h 3403600"/>
              <a:gd name="connsiteX4" fmla="*/ 0 w 3403600"/>
              <a:gd name="connsiteY4" fmla="*/ 1701800 h 3403600"/>
              <a:gd name="connsiteX0" fmla="*/ 698 w 3404298"/>
              <a:gd name="connsiteY0" fmla="*/ 1028700 h 2730500"/>
              <a:gd name="connsiteX1" fmla="*/ 1867598 w 3404298"/>
              <a:gd name="connsiteY1" fmla="*/ 0 h 2730500"/>
              <a:gd name="connsiteX2" fmla="*/ 3404298 w 3404298"/>
              <a:gd name="connsiteY2" fmla="*/ 1028700 h 2730500"/>
              <a:gd name="connsiteX3" fmla="*/ 1702498 w 3404298"/>
              <a:gd name="connsiteY3" fmla="*/ 2730500 h 2730500"/>
              <a:gd name="connsiteX4" fmla="*/ 698 w 3404298"/>
              <a:gd name="connsiteY4" fmla="*/ 1028700 h 2730500"/>
              <a:gd name="connsiteX0" fmla="*/ 698 w 3404298"/>
              <a:gd name="connsiteY0" fmla="*/ 1187727 h 2889527"/>
              <a:gd name="connsiteX1" fmla="*/ 1867598 w 3404298"/>
              <a:gd name="connsiteY1" fmla="*/ 159027 h 2889527"/>
              <a:gd name="connsiteX2" fmla="*/ 3404298 w 3404298"/>
              <a:gd name="connsiteY2" fmla="*/ 1187727 h 2889527"/>
              <a:gd name="connsiteX3" fmla="*/ 1702498 w 3404298"/>
              <a:gd name="connsiteY3" fmla="*/ 2889527 h 2889527"/>
              <a:gd name="connsiteX4" fmla="*/ 698 w 3404298"/>
              <a:gd name="connsiteY4" fmla="*/ 1187727 h 2889527"/>
              <a:gd name="connsiteX0" fmla="*/ 358 w 3886558"/>
              <a:gd name="connsiteY0" fmla="*/ 1382379 h 2743719"/>
              <a:gd name="connsiteX1" fmla="*/ 2349858 w 3886558"/>
              <a:gd name="connsiteY1" fmla="*/ 10779 h 2743719"/>
              <a:gd name="connsiteX2" fmla="*/ 3886558 w 3886558"/>
              <a:gd name="connsiteY2" fmla="*/ 1039479 h 2743719"/>
              <a:gd name="connsiteX3" fmla="*/ 2184758 w 3886558"/>
              <a:gd name="connsiteY3" fmla="*/ 2741279 h 2743719"/>
              <a:gd name="connsiteX4" fmla="*/ 358 w 3886558"/>
              <a:gd name="connsiteY4" fmla="*/ 1382379 h 2743719"/>
              <a:gd name="connsiteX0" fmla="*/ 414 w 3886614"/>
              <a:gd name="connsiteY0" fmla="*/ 1530748 h 2892151"/>
              <a:gd name="connsiteX1" fmla="*/ 2362614 w 3886614"/>
              <a:gd name="connsiteY1" fmla="*/ 6748 h 2892151"/>
              <a:gd name="connsiteX2" fmla="*/ 3886614 w 3886614"/>
              <a:gd name="connsiteY2" fmla="*/ 1187848 h 2892151"/>
              <a:gd name="connsiteX3" fmla="*/ 2184814 w 3886614"/>
              <a:gd name="connsiteY3" fmla="*/ 2889648 h 2892151"/>
              <a:gd name="connsiteX4" fmla="*/ 414 w 3886614"/>
              <a:gd name="connsiteY4" fmla="*/ 1530748 h 2892151"/>
              <a:gd name="connsiteX0" fmla="*/ 414 w 3886614"/>
              <a:gd name="connsiteY0" fmla="*/ 1553947 h 2915350"/>
              <a:gd name="connsiteX1" fmla="*/ 2362614 w 3886614"/>
              <a:gd name="connsiteY1" fmla="*/ 29947 h 2915350"/>
              <a:gd name="connsiteX2" fmla="*/ 3886614 w 3886614"/>
              <a:gd name="connsiteY2" fmla="*/ 1211047 h 2915350"/>
              <a:gd name="connsiteX3" fmla="*/ 2184814 w 3886614"/>
              <a:gd name="connsiteY3" fmla="*/ 2912847 h 2915350"/>
              <a:gd name="connsiteX4" fmla="*/ 414 w 3886614"/>
              <a:gd name="connsiteY4" fmla="*/ 1553947 h 2915350"/>
              <a:gd name="connsiteX0" fmla="*/ 138 w 3886338"/>
              <a:gd name="connsiteY0" fmla="*/ 747665 h 2108602"/>
              <a:gd name="connsiteX1" fmla="*/ 2286138 w 3886338"/>
              <a:gd name="connsiteY1" fmla="*/ 582565 h 2108602"/>
              <a:gd name="connsiteX2" fmla="*/ 3886338 w 3886338"/>
              <a:gd name="connsiteY2" fmla="*/ 404765 h 2108602"/>
              <a:gd name="connsiteX3" fmla="*/ 2184538 w 3886338"/>
              <a:gd name="connsiteY3" fmla="*/ 2106565 h 2108602"/>
              <a:gd name="connsiteX4" fmla="*/ 138 w 3886338"/>
              <a:gd name="connsiteY4" fmla="*/ 747665 h 2108602"/>
              <a:gd name="connsiteX0" fmla="*/ 162 w 3606962"/>
              <a:gd name="connsiteY0" fmla="*/ 572584 h 2084460"/>
              <a:gd name="connsiteX1" fmla="*/ 2006762 w 3606962"/>
              <a:gd name="connsiteY1" fmla="*/ 559884 h 2084460"/>
              <a:gd name="connsiteX2" fmla="*/ 3606962 w 3606962"/>
              <a:gd name="connsiteY2" fmla="*/ 382084 h 2084460"/>
              <a:gd name="connsiteX3" fmla="*/ 1905162 w 3606962"/>
              <a:gd name="connsiteY3" fmla="*/ 2083884 h 2084460"/>
              <a:gd name="connsiteX4" fmla="*/ 162 w 3606962"/>
              <a:gd name="connsiteY4" fmla="*/ 572584 h 2084460"/>
              <a:gd name="connsiteX0" fmla="*/ 6979 w 3613779"/>
              <a:gd name="connsiteY0" fmla="*/ 572584 h 2084835"/>
              <a:gd name="connsiteX1" fmla="*/ 2013579 w 3613779"/>
              <a:gd name="connsiteY1" fmla="*/ 559884 h 2084835"/>
              <a:gd name="connsiteX2" fmla="*/ 3613779 w 3613779"/>
              <a:gd name="connsiteY2" fmla="*/ 382084 h 2084835"/>
              <a:gd name="connsiteX3" fmla="*/ 1911979 w 3613779"/>
              <a:gd name="connsiteY3" fmla="*/ 2083884 h 2084835"/>
              <a:gd name="connsiteX4" fmla="*/ 6979 w 3613779"/>
              <a:gd name="connsiteY4" fmla="*/ 572584 h 2084835"/>
              <a:gd name="connsiteX0" fmla="*/ 6951 w 3575651"/>
              <a:gd name="connsiteY0" fmla="*/ 709386 h 2223804"/>
              <a:gd name="connsiteX1" fmla="*/ 2013551 w 3575651"/>
              <a:gd name="connsiteY1" fmla="*/ 696686 h 2223804"/>
              <a:gd name="connsiteX2" fmla="*/ 3575651 w 3575651"/>
              <a:gd name="connsiteY2" fmla="*/ 353786 h 2223804"/>
              <a:gd name="connsiteX3" fmla="*/ 1911951 w 3575651"/>
              <a:gd name="connsiteY3" fmla="*/ 2220686 h 2223804"/>
              <a:gd name="connsiteX4" fmla="*/ 6951 w 3575651"/>
              <a:gd name="connsiteY4" fmla="*/ 709386 h 2223804"/>
              <a:gd name="connsiteX0" fmla="*/ 1622 w 3570322"/>
              <a:gd name="connsiteY0" fmla="*/ 709386 h 2438298"/>
              <a:gd name="connsiteX1" fmla="*/ 2008222 w 3570322"/>
              <a:gd name="connsiteY1" fmla="*/ 696686 h 2438298"/>
              <a:gd name="connsiteX2" fmla="*/ 3570322 w 3570322"/>
              <a:gd name="connsiteY2" fmla="*/ 353786 h 2438298"/>
              <a:gd name="connsiteX3" fmla="*/ 2351122 w 3570322"/>
              <a:gd name="connsiteY3" fmla="*/ 2436586 h 2438298"/>
              <a:gd name="connsiteX4" fmla="*/ 1622 w 3570322"/>
              <a:gd name="connsiteY4" fmla="*/ 709386 h 2438298"/>
              <a:gd name="connsiteX0" fmla="*/ 1622 w 3583212"/>
              <a:gd name="connsiteY0" fmla="*/ 709386 h 2453311"/>
              <a:gd name="connsiteX1" fmla="*/ 2008222 w 3583212"/>
              <a:gd name="connsiteY1" fmla="*/ 696686 h 2453311"/>
              <a:gd name="connsiteX2" fmla="*/ 3570322 w 3583212"/>
              <a:gd name="connsiteY2" fmla="*/ 353786 h 2453311"/>
              <a:gd name="connsiteX3" fmla="*/ 2351122 w 3583212"/>
              <a:gd name="connsiteY3" fmla="*/ 2436586 h 2453311"/>
              <a:gd name="connsiteX4" fmla="*/ 1622 w 3583212"/>
              <a:gd name="connsiteY4" fmla="*/ 709386 h 2453311"/>
              <a:gd name="connsiteX0" fmla="*/ 1784 w 3405384"/>
              <a:gd name="connsiteY0" fmla="*/ 1101130 h 2456258"/>
              <a:gd name="connsiteX1" fmla="*/ 1843284 w 3405384"/>
              <a:gd name="connsiteY1" fmla="*/ 707430 h 2456258"/>
              <a:gd name="connsiteX2" fmla="*/ 3405384 w 3405384"/>
              <a:gd name="connsiteY2" fmla="*/ 364530 h 2456258"/>
              <a:gd name="connsiteX3" fmla="*/ 2186184 w 3405384"/>
              <a:gd name="connsiteY3" fmla="*/ 2447330 h 2456258"/>
              <a:gd name="connsiteX4" fmla="*/ 1784 w 3405384"/>
              <a:gd name="connsiteY4" fmla="*/ 1101130 h 2456258"/>
              <a:gd name="connsiteX0" fmla="*/ 4726 w 3408326"/>
              <a:gd name="connsiteY0" fmla="*/ 1101130 h 2460656"/>
              <a:gd name="connsiteX1" fmla="*/ 1846226 w 3408326"/>
              <a:gd name="connsiteY1" fmla="*/ 707430 h 2460656"/>
              <a:gd name="connsiteX2" fmla="*/ 3408326 w 3408326"/>
              <a:gd name="connsiteY2" fmla="*/ 364530 h 2460656"/>
              <a:gd name="connsiteX3" fmla="*/ 2189126 w 3408326"/>
              <a:gd name="connsiteY3" fmla="*/ 2447330 h 2460656"/>
              <a:gd name="connsiteX4" fmla="*/ 4726 w 3408326"/>
              <a:gd name="connsiteY4" fmla="*/ 1101130 h 2460656"/>
              <a:gd name="connsiteX0" fmla="*/ 4726 w 3408326"/>
              <a:gd name="connsiteY0" fmla="*/ 1257121 h 2616647"/>
              <a:gd name="connsiteX1" fmla="*/ 1846226 w 3408326"/>
              <a:gd name="connsiteY1" fmla="*/ 863421 h 2616647"/>
              <a:gd name="connsiteX2" fmla="*/ 3408326 w 3408326"/>
              <a:gd name="connsiteY2" fmla="*/ 520521 h 2616647"/>
              <a:gd name="connsiteX3" fmla="*/ 2189126 w 3408326"/>
              <a:gd name="connsiteY3" fmla="*/ 2603321 h 2616647"/>
              <a:gd name="connsiteX4" fmla="*/ 4726 w 3408326"/>
              <a:gd name="connsiteY4" fmla="*/ 1257121 h 26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326" h="2616647">
                <a:moveTo>
                  <a:pt x="4726" y="1257121"/>
                </a:moveTo>
                <a:cubicBezTo>
                  <a:pt x="-90524" y="535338"/>
                  <a:pt x="1278959" y="986188"/>
                  <a:pt x="1846226" y="863421"/>
                </a:cubicBezTo>
                <a:cubicBezTo>
                  <a:pt x="2413493" y="740654"/>
                  <a:pt x="3141626" y="-774957"/>
                  <a:pt x="3408326" y="520521"/>
                </a:cubicBezTo>
                <a:cubicBezTo>
                  <a:pt x="3408326" y="1460399"/>
                  <a:pt x="2756393" y="2480554"/>
                  <a:pt x="2189126" y="2603321"/>
                </a:cubicBezTo>
                <a:cubicBezTo>
                  <a:pt x="1621859" y="2726088"/>
                  <a:pt x="99976" y="1978904"/>
                  <a:pt x="4726" y="1257121"/>
                </a:cubicBezTo>
                <a:close/>
              </a:path>
            </a:pathLst>
          </a:custGeom>
          <a:gradFill flip="none" rotWithShape="1">
            <a:gsLst>
              <a:gs pos="24000">
                <a:srgbClr val="F47221"/>
              </a:gs>
              <a:gs pos="79000">
                <a:srgbClr val="FAAF54"/>
              </a:gs>
            </a:gsLst>
            <a:lin ang="13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4" name="תיבת טקסט 3">
            <a:extLst>
              <a:ext uri="{FF2B5EF4-FFF2-40B4-BE49-F238E27FC236}">
                <a16:creationId xmlns:a16="http://schemas.microsoft.com/office/drawing/2014/main" id="{62C5C3A1-DF9F-6CCB-38FB-D33047969D6A}"/>
              </a:ext>
            </a:extLst>
          </p:cNvPr>
          <p:cNvSpPr txBox="1"/>
          <p:nvPr/>
        </p:nvSpPr>
        <p:spPr>
          <a:xfrm>
            <a:off x="3320146" y="2687620"/>
            <a:ext cx="5551708" cy="400110"/>
          </a:xfrm>
          <a:prstGeom prst="rect">
            <a:avLst/>
          </a:prstGeom>
          <a:noFill/>
        </p:spPr>
        <p:txBody>
          <a:bodyPr wrap="square" rtlCol="0">
            <a:spAutoFit/>
          </a:bodyPr>
          <a:lstStyle/>
          <a:p>
            <a:pPr algn="ctr"/>
            <a:r>
              <a:rPr lang="he-IL" sz="2000" b="0" i="0" dirty="0">
                <a:effectLst/>
                <a:latin typeface="Rubik Black" pitchFamily="2" charset="-79"/>
                <a:cs typeface="Rubik Black" pitchFamily="2" charset="-79"/>
              </a:rPr>
              <a:t>להבליט הצלחות – לא רק פערים. </a:t>
            </a:r>
            <a:endParaRPr lang="he-IL" sz="2800" i="0" dirty="0">
              <a:effectLst/>
              <a:latin typeface="Rubik Black" pitchFamily="2" charset="-79"/>
              <a:cs typeface="Rubik Black" pitchFamily="2" charset="-79"/>
            </a:endParaRPr>
          </a:p>
        </p:txBody>
      </p:sp>
      <p:sp>
        <p:nvSpPr>
          <p:cNvPr id="5" name="תיבת טקסט 4">
            <a:extLst>
              <a:ext uri="{FF2B5EF4-FFF2-40B4-BE49-F238E27FC236}">
                <a16:creationId xmlns:a16="http://schemas.microsoft.com/office/drawing/2014/main" id="{22047656-7EBF-821B-CB8A-A6AB6DFCE082}"/>
              </a:ext>
            </a:extLst>
          </p:cNvPr>
          <p:cNvSpPr txBox="1"/>
          <p:nvPr/>
        </p:nvSpPr>
        <p:spPr>
          <a:xfrm>
            <a:off x="2760980" y="3654296"/>
            <a:ext cx="6474482" cy="1200329"/>
          </a:xfrm>
          <a:prstGeom prst="rect">
            <a:avLst/>
          </a:prstGeom>
          <a:noFill/>
        </p:spPr>
        <p:txBody>
          <a:bodyPr wrap="square">
            <a:spAutoFit/>
          </a:bodyPr>
          <a:lstStyle/>
          <a:p>
            <a:pPr marL="285750" indent="-285750">
              <a:buFont typeface="Arial" panose="020B0604020202020204" pitchFamily="34" charset="0"/>
              <a:buChar char="•"/>
            </a:pPr>
            <a:r>
              <a:rPr lang="he-IL" dirty="0">
                <a:latin typeface="Rubik Light" pitchFamily="2" charset="-79"/>
                <a:cs typeface="Rubik Light" pitchFamily="2" charset="-79"/>
              </a:rPr>
              <a:t>חפשו גם איפה הנתונים טובים. </a:t>
            </a:r>
          </a:p>
          <a:p>
            <a:pPr marL="285750" indent="-285750">
              <a:buFont typeface="Arial" panose="020B0604020202020204" pitchFamily="34" charset="0"/>
              <a:buChar char="•"/>
            </a:pPr>
            <a:r>
              <a:rPr lang="he-IL" dirty="0">
                <a:latin typeface="Rubik Light" pitchFamily="2" charset="-79"/>
                <a:cs typeface="Rubik Light" pitchFamily="2" charset="-79"/>
              </a:rPr>
              <a:t>שתפו הצלחות בצוות ולמדו ממה שעובד. </a:t>
            </a:r>
          </a:p>
          <a:p>
            <a:pPr marL="285750" indent="-285750">
              <a:buFont typeface="Arial" panose="020B0604020202020204" pitchFamily="34" charset="0"/>
              <a:buChar char="•"/>
            </a:pPr>
            <a:endParaRPr lang="he-IL" dirty="0">
              <a:latin typeface="Rubik Light" pitchFamily="2" charset="-79"/>
              <a:cs typeface="Rubik Light" pitchFamily="2" charset="-79"/>
            </a:endParaRPr>
          </a:p>
          <a:p>
            <a:r>
              <a:rPr lang="he-IL" b="1" dirty="0">
                <a:solidFill>
                  <a:srgbClr val="F47221"/>
                </a:solidFill>
                <a:latin typeface="Rubik" pitchFamily="2" charset="-79"/>
                <a:cs typeface="Rubik" pitchFamily="2" charset="-79"/>
              </a:rPr>
              <a:t>נתונים הם גם כלי להוקרה והנעה – לא רק לבקרה</a:t>
            </a:r>
          </a:p>
        </p:txBody>
      </p:sp>
      <p:sp>
        <p:nvSpPr>
          <p:cNvPr id="12" name="תיבת טקסט 11">
            <a:extLst>
              <a:ext uri="{FF2B5EF4-FFF2-40B4-BE49-F238E27FC236}">
                <a16:creationId xmlns:a16="http://schemas.microsoft.com/office/drawing/2014/main" id="{13B434C1-0268-3038-C74C-E5BF86B1F121}"/>
              </a:ext>
            </a:extLst>
          </p:cNvPr>
          <p:cNvSpPr txBox="1"/>
          <p:nvPr/>
        </p:nvSpPr>
        <p:spPr>
          <a:xfrm>
            <a:off x="7263813" y="1607889"/>
            <a:ext cx="4495327" cy="307777"/>
          </a:xfrm>
          <a:prstGeom prst="rect">
            <a:avLst/>
          </a:prstGeom>
          <a:noFill/>
        </p:spPr>
        <p:txBody>
          <a:bodyPr wrap="square" rtlCol="0">
            <a:spAutoFit/>
          </a:bodyPr>
          <a:lstStyle/>
          <a:p>
            <a:r>
              <a:rPr lang="he-IL" sz="1400" b="0" i="0" dirty="0">
                <a:effectLst/>
                <a:latin typeface="Rubik" pitchFamily="2" charset="-79"/>
                <a:cs typeface="Rubik" pitchFamily="2" charset="-79"/>
              </a:rPr>
              <a:t>לחצו על </a:t>
            </a:r>
            <a:r>
              <a:rPr lang="he-IL" sz="1400" b="0" i="0" dirty="0" err="1">
                <a:effectLst/>
                <a:latin typeface="Rubik" pitchFamily="2" charset="-79"/>
                <a:cs typeface="Rubik" pitchFamily="2" charset="-79"/>
              </a:rPr>
              <a:t>החצים</a:t>
            </a:r>
            <a:r>
              <a:rPr lang="he-IL" sz="1400" b="0" i="0" dirty="0">
                <a:effectLst/>
                <a:latin typeface="Rubik" pitchFamily="2" charset="-79"/>
                <a:cs typeface="Rubik" pitchFamily="2" charset="-79"/>
              </a:rPr>
              <a:t> לצפייה בכיוונים האסטרטגיים.</a:t>
            </a:r>
            <a:endParaRPr lang="he-IL" i="0" dirty="0">
              <a:effectLst/>
              <a:latin typeface="Rubik" pitchFamily="2" charset="-79"/>
              <a:cs typeface="Rubik" pitchFamily="2" charset="-79"/>
            </a:endParaRPr>
          </a:p>
        </p:txBody>
      </p:sp>
    </p:spTree>
    <p:extLst>
      <p:ext uri="{BB962C8B-B14F-4D97-AF65-F5344CB8AC3E}">
        <p14:creationId xmlns:p14="http://schemas.microsoft.com/office/powerpoint/2010/main" val="1705682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1E76B-D9D4-ED1F-2D69-6344E88BE998}"/>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87891322-2A24-AB80-46BE-CF0453DB9B67}"/>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25" name="תיבת טקסט 24">
            <a:extLst>
              <a:ext uri="{FF2B5EF4-FFF2-40B4-BE49-F238E27FC236}">
                <a16:creationId xmlns:a16="http://schemas.microsoft.com/office/drawing/2014/main" id="{1C21C02D-6E60-B24E-D69E-A8F14363BC14}"/>
              </a:ext>
            </a:extLst>
          </p:cNvPr>
          <p:cNvSpPr txBox="1"/>
          <p:nvPr/>
        </p:nvSpPr>
        <p:spPr>
          <a:xfrm>
            <a:off x="1612900" y="1082088"/>
            <a:ext cx="10143553" cy="523220"/>
          </a:xfrm>
          <a:prstGeom prst="rect">
            <a:avLst/>
          </a:prstGeom>
          <a:noFill/>
        </p:spPr>
        <p:txBody>
          <a:bodyPr wrap="square" rtlCol="0">
            <a:spAutoFit/>
          </a:bodyPr>
          <a:lstStyle/>
          <a:p>
            <a:endParaRPr lang="he-IL" sz="2800" i="0" dirty="0">
              <a:solidFill>
                <a:srgbClr val="FF0000"/>
              </a:solidFill>
              <a:effectLst/>
              <a:latin typeface="Rubik" pitchFamily="2" charset="-79"/>
              <a:cs typeface="Rubik" pitchFamily="2" charset="-79"/>
            </a:endParaRPr>
          </a:p>
        </p:txBody>
      </p:sp>
      <p:sp>
        <p:nvSpPr>
          <p:cNvPr id="2" name="תיבת טקסט 1">
            <a:extLst>
              <a:ext uri="{FF2B5EF4-FFF2-40B4-BE49-F238E27FC236}">
                <a16:creationId xmlns:a16="http://schemas.microsoft.com/office/drawing/2014/main" id="{CEA293B6-E3C2-2DF8-B94C-0887E3B3546A}"/>
              </a:ext>
            </a:extLst>
          </p:cNvPr>
          <p:cNvSpPr txBox="1"/>
          <p:nvPr/>
        </p:nvSpPr>
        <p:spPr>
          <a:xfrm>
            <a:off x="3419475" y="1257023"/>
            <a:ext cx="8339665"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בעבודה היומיומית, </a:t>
            </a:r>
            <a:r>
              <a:rPr lang="en-US" b="0" i="0" dirty="0">
                <a:solidFill>
                  <a:srgbClr val="009CE1"/>
                </a:solidFill>
                <a:effectLst/>
                <a:latin typeface="Rubik" pitchFamily="2" charset="-79"/>
                <a:cs typeface="Rubik" pitchFamily="2" charset="-79"/>
              </a:rPr>
              <a:t>AI</a:t>
            </a:r>
            <a:r>
              <a:rPr lang="he-IL" b="0" i="0" dirty="0">
                <a:solidFill>
                  <a:srgbClr val="009CE1"/>
                </a:solidFill>
                <a:effectLst/>
                <a:latin typeface="Rubik" pitchFamily="2" charset="-79"/>
                <a:cs typeface="Rubik" pitchFamily="2" charset="-79"/>
              </a:rPr>
              <a:t> מקצר תהליכים ומוביל ליעילות אמיתית! </a:t>
            </a:r>
          </a:p>
        </p:txBody>
      </p:sp>
      <p:sp>
        <p:nvSpPr>
          <p:cNvPr id="3" name="תיבת טקסט 2">
            <a:extLst>
              <a:ext uri="{FF2B5EF4-FFF2-40B4-BE49-F238E27FC236}">
                <a16:creationId xmlns:a16="http://schemas.microsoft.com/office/drawing/2014/main" id="{6B917EAC-14B4-0E59-E574-48F90D588F1E}"/>
              </a:ext>
            </a:extLst>
          </p:cNvPr>
          <p:cNvSpPr txBox="1"/>
          <p:nvPr/>
        </p:nvSpPr>
        <p:spPr>
          <a:xfrm>
            <a:off x="3494356" y="2851114"/>
            <a:ext cx="8150485" cy="584775"/>
          </a:xfrm>
          <a:prstGeom prst="rect">
            <a:avLst/>
          </a:prstGeom>
          <a:noFill/>
        </p:spPr>
        <p:txBody>
          <a:bodyPr wrap="square" rtlCol="0">
            <a:spAutoFit/>
          </a:bodyPr>
          <a:lstStyle/>
          <a:p>
            <a:r>
              <a:rPr lang="he-IL" sz="1600" b="1" i="0" dirty="0">
                <a:effectLst/>
                <a:latin typeface="Rubik" pitchFamily="2" charset="-79"/>
                <a:cs typeface="Rubik" pitchFamily="2" charset="-79"/>
              </a:rPr>
              <a:t>איך משתמשים בו נכון?</a:t>
            </a:r>
          </a:p>
          <a:p>
            <a:r>
              <a:rPr lang="he-IL" sz="1600" b="1" dirty="0">
                <a:solidFill>
                  <a:srgbClr val="F47221"/>
                </a:solidFill>
                <a:latin typeface="Rubik" pitchFamily="2" charset="-79"/>
                <a:cs typeface="Rubik" pitchFamily="2" charset="-79"/>
              </a:rPr>
              <a:t>ריכזנו לכם מספר כלים ארגוניים. </a:t>
            </a:r>
            <a:r>
              <a:rPr lang="he-IL" sz="1600" dirty="0">
                <a:latin typeface="Rubik" pitchFamily="2" charset="-79"/>
                <a:cs typeface="Rubik" pitchFamily="2" charset="-79"/>
              </a:rPr>
              <a:t>לחצו על כל כלי להרחבה על השימוש ב-</a:t>
            </a:r>
            <a:r>
              <a:rPr lang="en-US" sz="1600" dirty="0">
                <a:latin typeface="Rubik" pitchFamily="2" charset="-79"/>
                <a:cs typeface="Rubik" pitchFamily="2" charset="-79"/>
              </a:rPr>
              <a:t>AI</a:t>
            </a:r>
            <a:r>
              <a:rPr lang="he-IL" sz="1600" dirty="0">
                <a:latin typeface="Rubik" pitchFamily="2" charset="-79"/>
                <a:cs typeface="Rubik" pitchFamily="2" charset="-79"/>
              </a:rPr>
              <a:t> </a:t>
            </a:r>
            <a:r>
              <a:rPr lang="he-IL" sz="1600" dirty="0" err="1">
                <a:latin typeface="Rubik" pitchFamily="2" charset="-79"/>
                <a:cs typeface="Rubik" pitchFamily="2" charset="-79"/>
              </a:rPr>
              <a:t>ופרומפטים</a:t>
            </a:r>
            <a:r>
              <a:rPr lang="he-IL" sz="1600" dirty="0">
                <a:latin typeface="Rubik" pitchFamily="2" charset="-79"/>
                <a:cs typeface="Rubik" pitchFamily="2" charset="-79"/>
              </a:rPr>
              <a:t> לדוגמה.</a:t>
            </a:r>
            <a:endParaRPr lang="he-IL" sz="2000" i="0" dirty="0">
              <a:effectLst/>
              <a:latin typeface="Rubik" pitchFamily="2" charset="-79"/>
              <a:cs typeface="Rubik" pitchFamily="2" charset="-79"/>
            </a:endParaRPr>
          </a:p>
        </p:txBody>
      </p:sp>
      <p:sp>
        <p:nvSpPr>
          <p:cNvPr id="6" name="Oval 27">
            <a:extLst>
              <a:ext uri="{FF2B5EF4-FFF2-40B4-BE49-F238E27FC236}">
                <a16:creationId xmlns:a16="http://schemas.microsoft.com/office/drawing/2014/main" id="{3D56339E-6396-68D9-2203-DEBBDE7D80C3}"/>
              </a:ext>
            </a:extLst>
          </p:cNvPr>
          <p:cNvSpPr/>
          <p:nvPr/>
        </p:nvSpPr>
        <p:spPr>
          <a:xfrm>
            <a:off x="10787112" y="1847975"/>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7" name="מלבן: פינות מעוגלות 6">
            <a:extLst>
              <a:ext uri="{FF2B5EF4-FFF2-40B4-BE49-F238E27FC236}">
                <a16:creationId xmlns:a16="http://schemas.microsoft.com/office/drawing/2014/main" id="{07BCB211-3820-64B0-2777-A19CB3979D3A}"/>
              </a:ext>
            </a:extLst>
          </p:cNvPr>
          <p:cNvSpPr/>
          <p:nvPr/>
        </p:nvSpPr>
        <p:spPr>
          <a:xfrm>
            <a:off x="7581902" y="2062966"/>
            <a:ext cx="3994720"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להרחבה על עקרונות השימוש ב-</a:t>
            </a:r>
            <a:r>
              <a:rPr lang="en-US" sz="1400" dirty="0">
                <a:solidFill>
                  <a:schemeClr val="bg1"/>
                </a:solidFill>
                <a:latin typeface="Rubik" pitchFamily="2" charset="-79"/>
                <a:cs typeface="Rubik" pitchFamily="2" charset="-79"/>
              </a:rPr>
              <a:t>AI</a:t>
            </a:r>
            <a:endParaRPr lang="LID4096" sz="1400" dirty="0">
              <a:solidFill>
                <a:schemeClr val="bg1"/>
              </a:solidFill>
              <a:latin typeface="Rubik" pitchFamily="2" charset="-79"/>
              <a:cs typeface="Rubik" pitchFamily="2" charset="-79"/>
            </a:endParaRPr>
          </a:p>
        </p:txBody>
      </p:sp>
      <p:pic>
        <p:nvPicPr>
          <p:cNvPr id="8" name="Picture 6" descr="microsoft teams icon logo symbol 27179374 PNG">
            <a:extLst>
              <a:ext uri="{FF2B5EF4-FFF2-40B4-BE49-F238E27FC236}">
                <a16:creationId xmlns:a16="http://schemas.microsoft.com/office/drawing/2014/main" id="{CF6CB50F-4466-169E-175F-E2FAEF62D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2318" y="3712760"/>
            <a:ext cx="1088486" cy="1088486"/>
          </a:xfrm>
          <a:prstGeom prst="rect">
            <a:avLst/>
          </a:prstGeom>
          <a:noFill/>
          <a:extLst>
            <a:ext uri="{909E8E84-426E-40DD-AFC4-6F175D3DCCD1}">
              <a14:hiddenFill xmlns:a14="http://schemas.microsoft.com/office/drawing/2010/main">
                <a:solidFill>
                  <a:srgbClr val="FFFFFF"/>
                </a:solidFill>
              </a14:hiddenFill>
            </a:ext>
          </a:extLst>
        </p:spPr>
      </p:pic>
      <p:sp>
        <p:nvSpPr>
          <p:cNvPr id="10" name="תיבת טקסט 9">
            <a:extLst>
              <a:ext uri="{FF2B5EF4-FFF2-40B4-BE49-F238E27FC236}">
                <a16:creationId xmlns:a16="http://schemas.microsoft.com/office/drawing/2014/main" id="{B00532BE-6688-3AB4-8865-E8849200845C}"/>
              </a:ext>
            </a:extLst>
          </p:cNvPr>
          <p:cNvSpPr txBox="1"/>
          <p:nvPr/>
        </p:nvSpPr>
        <p:spPr>
          <a:xfrm>
            <a:off x="9801225" y="4660648"/>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Teams</a:t>
            </a:r>
            <a:endParaRPr lang="he-IL" sz="2000" i="0" dirty="0">
              <a:effectLst/>
              <a:latin typeface="Rubik" pitchFamily="2" charset="-79"/>
              <a:cs typeface="Rubik" pitchFamily="2" charset="-79"/>
            </a:endParaRPr>
          </a:p>
        </p:txBody>
      </p:sp>
      <p:sp>
        <p:nvSpPr>
          <p:cNvPr id="11" name="תיבת טקסט 10">
            <a:extLst>
              <a:ext uri="{FF2B5EF4-FFF2-40B4-BE49-F238E27FC236}">
                <a16:creationId xmlns:a16="http://schemas.microsoft.com/office/drawing/2014/main" id="{8138CD5E-3D48-8A27-5C44-C2F13DEC1CFB}"/>
              </a:ext>
            </a:extLst>
          </p:cNvPr>
          <p:cNvSpPr txBox="1"/>
          <p:nvPr/>
        </p:nvSpPr>
        <p:spPr>
          <a:xfrm>
            <a:off x="7296921" y="4660648"/>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Outlook</a:t>
            </a:r>
            <a:endParaRPr lang="he-IL" sz="2000" i="0" dirty="0">
              <a:effectLst/>
              <a:latin typeface="Rubik" pitchFamily="2" charset="-79"/>
              <a:cs typeface="Rubik" pitchFamily="2" charset="-79"/>
            </a:endParaRPr>
          </a:p>
        </p:txBody>
      </p:sp>
      <p:pic>
        <p:nvPicPr>
          <p:cNvPr id="12" name="Picture 2" descr="circle microsoft outlook new icon logo symbol 60587627 PNG">
            <a:extLst>
              <a:ext uri="{FF2B5EF4-FFF2-40B4-BE49-F238E27FC236}">
                <a16:creationId xmlns:a16="http://schemas.microsoft.com/office/drawing/2014/main" id="{FB7A445C-2FAC-97AE-2041-FAD1C07E24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2509" y="3657509"/>
            <a:ext cx="1088486" cy="1088486"/>
          </a:xfrm>
          <a:prstGeom prst="rect">
            <a:avLst/>
          </a:prstGeom>
          <a:noFill/>
          <a:extLst>
            <a:ext uri="{909E8E84-426E-40DD-AFC4-6F175D3DCCD1}">
              <a14:hiddenFill xmlns:a14="http://schemas.microsoft.com/office/drawing/2010/main">
                <a:solidFill>
                  <a:srgbClr val="FFFFFF"/>
                </a:solidFill>
              </a14:hiddenFill>
            </a:ext>
          </a:extLst>
        </p:spPr>
      </p:pic>
      <p:sp>
        <p:nvSpPr>
          <p:cNvPr id="13" name="תיבת טקסט 12">
            <a:extLst>
              <a:ext uri="{FF2B5EF4-FFF2-40B4-BE49-F238E27FC236}">
                <a16:creationId xmlns:a16="http://schemas.microsoft.com/office/drawing/2014/main" id="{D577AEFB-9E65-1C14-3482-F3C2640F0A4A}"/>
              </a:ext>
            </a:extLst>
          </p:cNvPr>
          <p:cNvSpPr txBox="1"/>
          <p:nvPr/>
        </p:nvSpPr>
        <p:spPr>
          <a:xfrm>
            <a:off x="5050897" y="4660648"/>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Word</a:t>
            </a:r>
            <a:endParaRPr lang="he-IL" sz="2000" i="0" dirty="0">
              <a:effectLst/>
              <a:latin typeface="Rubik" pitchFamily="2" charset="-79"/>
              <a:cs typeface="Rubik" pitchFamily="2" charset="-79"/>
            </a:endParaRPr>
          </a:p>
        </p:txBody>
      </p:sp>
      <p:pic>
        <p:nvPicPr>
          <p:cNvPr id="15" name="Picture 2" descr="Microsoft Word Logo Icons for Your Projects">
            <a:extLst>
              <a:ext uri="{FF2B5EF4-FFF2-40B4-BE49-F238E27FC236}">
                <a16:creationId xmlns:a16="http://schemas.microsoft.com/office/drawing/2014/main" id="{5629C185-B4CC-1B55-4F60-3AD2B29065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3442" y="3828961"/>
            <a:ext cx="745582" cy="745582"/>
          </a:xfrm>
          <a:prstGeom prst="rect">
            <a:avLst/>
          </a:prstGeom>
          <a:noFill/>
          <a:extLst>
            <a:ext uri="{909E8E84-426E-40DD-AFC4-6F175D3DCCD1}">
              <a14:hiddenFill xmlns:a14="http://schemas.microsoft.com/office/drawing/2010/main">
                <a:solidFill>
                  <a:srgbClr val="FFFFFF"/>
                </a:solidFill>
              </a14:hiddenFill>
            </a:ext>
          </a:extLst>
        </p:spPr>
      </p:pic>
      <p:sp>
        <p:nvSpPr>
          <p:cNvPr id="16" name="תיבת טקסט 15">
            <a:extLst>
              <a:ext uri="{FF2B5EF4-FFF2-40B4-BE49-F238E27FC236}">
                <a16:creationId xmlns:a16="http://schemas.microsoft.com/office/drawing/2014/main" id="{738C8820-E65C-4112-3B9D-A15C154B5118}"/>
              </a:ext>
            </a:extLst>
          </p:cNvPr>
          <p:cNvSpPr txBox="1"/>
          <p:nvPr/>
        </p:nvSpPr>
        <p:spPr>
          <a:xfrm>
            <a:off x="2735010" y="4660648"/>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PowerPoint</a:t>
            </a:r>
            <a:endParaRPr lang="he-IL" sz="2000" i="0" dirty="0">
              <a:effectLst/>
              <a:latin typeface="Rubik" pitchFamily="2" charset="-79"/>
              <a:cs typeface="Rubik" pitchFamily="2" charset="-79"/>
            </a:endParaRPr>
          </a:p>
        </p:txBody>
      </p:sp>
      <p:pic>
        <p:nvPicPr>
          <p:cNvPr id="18" name="Picture 2" descr="High-Quality Powerpoint Logo and Icons for Presentations">
            <a:extLst>
              <a:ext uri="{FF2B5EF4-FFF2-40B4-BE49-F238E27FC236}">
                <a16:creationId xmlns:a16="http://schemas.microsoft.com/office/drawing/2014/main" id="{146D27ED-348A-AB78-8B81-3A89FC07E5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9587" y="3793024"/>
            <a:ext cx="781519" cy="781519"/>
          </a:xfrm>
          <a:prstGeom prst="rect">
            <a:avLst/>
          </a:prstGeom>
          <a:noFill/>
          <a:extLst>
            <a:ext uri="{909E8E84-426E-40DD-AFC4-6F175D3DCCD1}">
              <a14:hiddenFill xmlns:a14="http://schemas.microsoft.com/office/drawing/2010/main">
                <a:solidFill>
                  <a:srgbClr val="FFFFFF"/>
                </a:solidFill>
              </a14:hiddenFill>
            </a:ext>
          </a:extLst>
        </p:spPr>
      </p:pic>
      <p:sp>
        <p:nvSpPr>
          <p:cNvPr id="21" name="תיבת טקסט 20">
            <a:extLst>
              <a:ext uri="{FF2B5EF4-FFF2-40B4-BE49-F238E27FC236}">
                <a16:creationId xmlns:a16="http://schemas.microsoft.com/office/drawing/2014/main" id="{800A6AD3-956F-9FE7-CA5C-E63B7F2A341B}"/>
              </a:ext>
            </a:extLst>
          </p:cNvPr>
          <p:cNvSpPr txBox="1"/>
          <p:nvPr/>
        </p:nvSpPr>
        <p:spPr>
          <a:xfrm>
            <a:off x="296181" y="4660648"/>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Excel</a:t>
            </a:r>
            <a:endParaRPr lang="he-IL" sz="2000" i="0" dirty="0">
              <a:effectLst/>
              <a:latin typeface="Rubik" pitchFamily="2" charset="-79"/>
              <a:cs typeface="Rubik" pitchFamily="2" charset="-79"/>
            </a:endParaRPr>
          </a:p>
        </p:txBody>
      </p:sp>
      <p:pic>
        <p:nvPicPr>
          <p:cNvPr id="23" name="Picture 2" descr="Excel upload Icons, Logos, Symbols – Free Download PNG, SVG">
            <a:extLst>
              <a:ext uri="{FF2B5EF4-FFF2-40B4-BE49-F238E27FC236}">
                <a16:creationId xmlns:a16="http://schemas.microsoft.com/office/drawing/2014/main" id="{69D25A21-7431-84C5-C21D-1B65BF9A5C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876" y="3749142"/>
            <a:ext cx="869281" cy="869281"/>
          </a:xfrm>
          <a:prstGeom prst="rect">
            <a:avLst/>
          </a:prstGeom>
          <a:noFill/>
          <a:extLst>
            <a:ext uri="{909E8E84-426E-40DD-AFC4-6F175D3DCCD1}">
              <a14:hiddenFill xmlns:a14="http://schemas.microsoft.com/office/drawing/2010/main">
                <a:solidFill>
                  <a:srgbClr val="FFFFFF"/>
                </a:solidFill>
              </a14:hiddenFill>
            </a:ext>
          </a:extLst>
        </p:spPr>
      </p:pic>
      <p:sp>
        <p:nvSpPr>
          <p:cNvPr id="27" name="תיבת טקסט 26">
            <a:extLst>
              <a:ext uri="{FF2B5EF4-FFF2-40B4-BE49-F238E27FC236}">
                <a16:creationId xmlns:a16="http://schemas.microsoft.com/office/drawing/2014/main" id="{15DD97D5-255E-125D-6AFB-CAFCC2A512B3}"/>
              </a:ext>
            </a:extLst>
          </p:cNvPr>
          <p:cNvSpPr txBox="1"/>
          <p:nvPr/>
        </p:nvSpPr>
        <p:spPr>
          <a:xfrm>
            <a:off x="10292318" y="6005151"/>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Chat</a:t>
            </a:r>
            <a:endParaRPr lang="he-IL" sz="2000" i="0" dirty="0">
              <a:effectLst/>
              <a:latin typeface="Rubik" pitchFamily="2" charset="-79"/>
              <a:cs typeface="Rubik" pitchFamily="2" charset="-79"/>
            </a:endParaRPr>
          </a:p>
        </p:txBody>
      </p:sp>
      <p:sp>
        <p:nvSpPr>
          <p:cNvPr id="29" name="תיבת טקסט 28">
            <a:extLst>
              <a:ext uri="{FF2B5EF4-FFF2-40B4-BE49-F238E27FC236}">
                <a16:creationId xmlns:a16="http://schemas.microsoft.com/office/drawing/2014/main" id="{A490789F-3176-55B3-E66E-75D367703F77}"/>
              </a:ext>
            </a:extLst>
          </p:cNvPr>
          <p:cNvSpPr txBox="1"/>
          <p:nvPr/>
        </p:nvSpPr>
        <p:spPr>
          <a:xfrm>
            <a:off x="6110244" y="5915503"/>
            <a:ext cx="2070672" cy="338554"/>
          </a:xfrm>
          <a:prstGeom prst="rect">
            <a:avLst/>
          </a:prstGeom>
          <a:noFill/>
        </p:spPr>
        <p:txBody>
          <a:bodyPr wrap="square" rtlCol="0">
            <a:spAutoFit/>
          </a:bodyPr>
          <a:lstStyle/>
          <a:p>
            <a:pPr algn="ctr" rtl="0"/>
            <a:r>
              <a:rPr lang="en-US" sz="1600" b="1" i="0" dirty="0">
                <a:effectLst/>
                <a:latin typeface="Rubik" pitchFamily="2" charset="-79"/>
                <a:cs typeface="Rubik" pitchFamily="2" charset="-79"/>
              </a:rPr>
              <a:t>Forms</a:t>
            </a:r>
            <a:endParaRPr lang="he-IL" sz="2000" i="0" dirty="0">
              <a:effectLst/>
              <a:latin typeface="Rubik" pitchFamily="2" charset="-79"/>
              <a:cs typeface="Rubik" pitchFamily="2" charset="-79"/>
            </a:endParaRPr>
          </a:p>
        </p:txBody>
      </p:sp>
      <p:pic>
        <p:nvPicPr>
          <p:cNvPr id="34" name="Picture 2" descr="Microsoft Copilot Stock Illustrations – 32 Microsoft Copilot ...">
            <a:extLst>
              <a:ext uri="{FF2B5EF4-FFF2-40B4-BE49-F238E27FC236}">
                <a16:creationId xmlns:a16="http://schemas.microsoft.com/office/drawing/2014/main" id="{AA21FCE3-C326-6FA9-2D55-0E1CFC03E7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4541" y="5133320"/>
            <a:ext cx="992526" cy="99252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Microsoft Forms Icon - Customizable Forms Icons for Your ...">
            <a:extLst>
              <a:ext uri="{FF2B5EF4-FFF2-40B4-BE49-F238E27FC236}">
                <a16:creationId xmlns:a16="http://schemas.microsoft.com/office/drawing/2014/main" id="{DBA9153D-1085-20AE-30C5-B819AA7EF1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78284" y="5045165"/>
            <a:ext cx="961532" cy="961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562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93D35-1DCA-91DD-A4F8-06DC2A440482}"/>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C47B4FFB-D78F-D9B2-47C3-C18DB20FEB76}"/>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25" name="תיבת טקסט 24">
            <a:extLst>
              <a:ext uri="{FF2B5EF4-FFF2-40B4-BE49-F238E27FC236}">
                <a16:creationId xmlns:a16="http://schemas.microsoft.com/office/drawing/2014/main" id="{F20FF74D-0957-D0F9-12C9-721C26145926}"/>
              </a:ext>
            </a:extLst>
          </p:cNvPr>
          <p:cNvSpPr txBox="1"/>
          <p:nvPr/>
        </p:nvSpPr>
        <p:spPr>
          <a:xfrm>
            <a:off x="1612900" y="1082088"/>
            <a:ext cx="10143553" cy="523220"/>
          </a:xfrm>
          <a:prstGeom prst="rect">
            <a:avLst/>
          </a:prstGeom>
          <a:noFill/>
        </p:spPr>
        <p:txBody>
          <a:bodyPr wrap="square" rtlCol="0">
            <a:spAutoFit/>
          </a:bodyPr>
          <a:lstStyle/>
          <a:p>
            <a:endParaRPr lang="he-IL" sz="2800" i="0" dirty="0">
              <a:solidFill>
                <a:srgbClr val="FF0000"/>
              </a:solidFill>
              <a:effectLst/>
              <a:latin typeface="Rubik" pitchFamily="2" charset="-79"/>
              <a:cs typeface="Rubik" pitchFamily="2" charset="-79"/>
            </a:endParaRPr>
          </a:p>
        </p:txBody>
      </p:sp>
      <p:sp>
        <p:nvSpPr>
          <p:cNvPr id="4" name="Oval 27">
            <a:extLst>
              <a:ext uri="{FF2B5EF4-FFF2-40B4-BE49-F238E27FC236}">
                <a16:creationId xmlns:a16="http://schemas.microsoft.com/office/drawing/2014/main" id="{D9D1C2BE-264B-C1AA-345A-976F83159DD6}"/>
              </a:ext>
            </a:extLst>
          </p:cNvPr>
          <p:cNvSpPr/>
          <p:nvPr/>
        </p:nvSpPr>
        <p:spPr>
          <a:xfrm>
            <a:off x="1789506" y="5978481"/>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5" name="מלבן: פינות מעוגלות 4">
            <a:extLst>
              <a:ext uri="{FF2B5EF4-FFF2-40B4-BE49-F238E27FC236}">
                <a16:creationId xmlns:a16="http://schemas.microsoft.com/office/drawing/2014/main" id="{6450E15E-2D54-BF63-3570-3A08E5C285BC}"/>
              </a:ext>
            </a:extLst>
          </p:cNvPr>
          <p:cNvSpPr/>
          <p:nvPr/>
        </p:nvSpPr>
        <p:spPr>
          <a:xfrm>
            <a:off x="114660" y="6193472"/>
            <a:ext cx="2464355"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dirty="0">
                <a:solidFill>
                  <a:schemeClr val="bg1"/>
                </a:solidFill>
                <a:latin typeface="Rubik" pitchFamily="2" charset="-79"/>
                <a:cs typeface="Rubik" pitchFamily="2" charset="-79"/>
              </a:rPr>
              <a:t>כפתור</a:t>
            </a:r>
            <a:endParaRPr lang="LID4096" dirty="0">
              <a:solidFill>
                <a:schemeClr val="bg1"/>
              </a:solidFill>
              <a:latin typeface="Rubik" pitchFamily="2" charset="-79"/>
              <a:cs typeface="Rubik" pitchFamily="2" charset="-79"/>
            </a:endParaRPr>
          </a:p>
        </p:txBody>
      </p:sp>
      <p:sp>
        <p:nvSpPr>
          <p:cNvPr id="2" name="תיבת טקסט 1">
            <a:extLst>
              <a:ext uri="{FF2B5EF4-FFF2-40B4-BE49-F238E27FC236}">
                <a16:creationId xmlns:a16="http://schemas.microsoft.com/office/drawing/2014/main" id="{988321EF-C1DD-773E-976E-1B900C7252BA}"/>
              </a:ext>
            </a:extLst>
          </p:cNvPr>
          <p:cNvSpPr txBox="1"/>
          <p:nvPr/>
        </p:nvSpPr>
        <p:spPr>
          <a:xfrm>
            <a:off x="3419475" y="1257023"/>
            <a:ext cx="8339665" cy="369332"/>
          </a:xfrm>
          <a:prstGeom prst="rect">
            <a:avLst/>
          </a:prstGeom>
          <a:noFill/>
        </p:spPr>
        <p:txBody>
          <a:bodyPr wrap="square" rtlCol="0">
            <a:spAutoFit/>
          </a:bodyPr>
          <a:lstStyle/>
          <a:p>
            <a:r>
              <a:rPr lang="he-IL" b="0" i="0" dirty="0">
                <a:solidFill>
                  <a:srgbClr val="009CE1"/>
                </a:solidFill>
                <a:effectLst/>
                <a:latin typeface="Rubik" pitchFamily="2" charset="-79"/>
                <a:cs typeface="Rubik" pitchFamily="2" charset="-79"/>
              </a:rPr>
              <a:t>בעבודה היומיומית, </a:t>
            </a:r>
            <a:r>
              <a:rPr lang="en-US" b="0" i="0" dirty="0">
                <a:solidFill>
                  <a:srgbClr val="009CE1"/>
                </a:solidFill>
                <a:effectLst/>
                <a:latin typeface="Rubik" pitchFamily="2" charset="-79"/>
                <a:cs typeface="Rubik" pitchFamily="2" charset="-79"/>
              </a:rPr>
              <a:t>AI</a:t>
            </a:r>
            <a:r>
              <a:rPr lang="he-IL" b="0" i="0" dirty="0">
                <a:solidFill>
                  <a:srgbClr val="009CE1"/>
                </a:solidFill>
                <a:effectLst/>
                <a:latin typeface="Rubik" pitchFamily="2" charset="-79"/>
                <a:cs typeface="Rubik" pitchFamily="2" charset="-79"/>
              </a:rPr>
              <a:t> מקצר תהליכים ומוביל ליעילות אמיתית! </a:t>
            </a:r>
          </a:p>
        </p:txBody>
      </p:sp>
      <p:sp>
        <p:nvSpPr>
          <p:cNvPr id="3" name="תיבת טקסט 2">
            <a:extLst>
              <a:ext uri="{FF2B5EF4-FFF2-40B4-BE49-F238E27FC236}">
                <a16:creationId xmlns:a16="http://schemas.microsoft.com/office/drawing/2014/main" id="{2CCD533B-AD03-E025-5ED5-BFD8284810A3}"/>
              </a:ext>
            </a:extLst>
          </p:cNvPr>
          <p:cNvSpPr txBox="1"/>
          <p:nvPr/>
        </p:nvSpPr>
        <p:spPr>
          <a:xfrm>
            <a:off x="4191001" y="2851114"/>
            <a:ext cx="7453840" cy="584775"/>
          </a:xfrm>
          <a:prstGeom prst="rect">
            <a:avLst/>
          </a:prstGeom>
          <a:noFill/>
        </p:spPr>
        <p:txBody>
          <a:bodyPr wrap="square" rtlCol="0">
            <a:spAutoFit/>
          </a:bodyPr>
          <a:lstStyle/>
          <a:p>
            <a:r>
              <a:rPr lang="he-IL" sz="1600" b="1" i="0" dirty="0">
                <a:effectLst/>
                <a:latin typeface="Rubik" pitchFamily="2" charset="-79"/>
                <a:cs typeface="Rubik" pitchFamily="2" charset="-79"/>
              </a:rPr>
              <a:t>איך משתמשים בו נכון?</a:t>
            </a:r>
          </a:p>
          <a:p>
            <a:r>
              <a:rPr lang="he-IL" sz="1600" dirty="0">
                <a:latin typeface="Rubik" pitchFamily="2" charset="-79"/>
                <a:cs typeface="Rubik" pitchFamily="2" charset="-79"/>
              </a:rPr>
              <a:t>ריכזנו לכם מספר כלים. לחצו על כל כלי להרחבה על השימוש </a:t>
            </a:r>
            <a:r>
              <a:rPr lang="he-IL" sz="1600" dirty="0" err="1">
                <a:latin typeface="Rubik" pitchFamily="2" charset="-79"/>
                <a:cs typeface="Rubik" pitchFamily="2" charset="-79"/>
              </a:rPr>
              <a:t>ופרומפטים</a:t>
            </a:r>
            <a:r>
              <a:rPr lang="he-IL" sz="1600" dirty="0">
                <a:latin typeface="Rubik" pitchFamily="2" charset="-79"/>
                <a:cs typeface="Rubik" pitchFamily="2" charset="-79"/>
              </a:rPr>
              <a:t> לדוגמה.</a:t>
            </a:r>
            <a:endParaRPr lang="he-IL" sz="2000" i="0" dirty="0">
              <a:effectLst/>
              <a:latin typeface="Rubik" pitchFamily="2" charset="-79"/>
              <a:cs typeface="Rubik" pitchFamily="2" charset="-79"/>
            </a:endParaRPr>
          </a:p>
        </p:txBody>
      </p:sp>
      <p:sp>
        <p:nvSpPr>
          <p:cNvPr id="6" name="Oval 27">
            <a:extLst>
              <a:ext uri="{FF2B5EF4-FFF2-40B4-BE49-F238E27FC236}">
                <a16:creationId xmlns:a16="http://schemas.microsoft.com/office/drawing/2014/main" id="{5EE6C64E-A872-1652-D51C-7537301C7751}"/>
              </a:ext>
            </a:extLst>
          </p:cNvPr>
          <p:cNvSpPr/>
          <p:nvPr/>
        </p:nvSpPr>
        <p:spPr>
          <a:xfrm>
            <a:off x="10787112" y="1847975"/>
            <a:ext cx="969341" cy="781519"/>
          </a:xfrm>
          <a:custGeom>
            <a:avLst/>
            <a:gdLst>
              <a:gd name="connsiteX0" fmla="*/ 0 w 3688080"/>
              <a:gd name="connsiteY0" fmla="*/ 1844040 h 3688080"/>
              <a:gd name="connsiteX1" fmla="*/ 1844040 w 3688080"/>
              <a:gd name="connsiteY1" fmla="*/ 0 h 3688080"/>
              <a:gd name="connsiteX2" fmla="*/ 3688080 w 3688080"/>
              <a:gd name="connsiteY2" fmla="*/ 1844040 h 3688080"/>
              <a:gd name="connsiteX3" fmla="*/ 1844040 w 3688080"/>
              <a:gd name="connsiteY3" fmla="*/ 3688080 h 3688080"/>
              <a:gd name="connsiteX4" fmla="*/ 0 w 3688080"/>
              <a:gd name="connsiteY4" fmla="*/ 1844040 h 3688080"/>
              <a:gd name="connsiteX0" fmla="*/ 643 w 3688723"/>
              <a:gd name="connsiteY0" fmla="*/ 914585 h 2758625"/>
              <a:gd name="connsiteX1" fmla="*/ 2009275 w 3688723"/>
              <a:gd name="connsiteY1" fmla="*/ 3233 h 2758625"/>
              <a:gd name="connsiteX2" fmla="*/ 3688723 w 3688723"/>
              <a:gd name="connsiteY2" fmla="*/ 914585 h 2758625"/>
              <a:gd name="connsiteX3" fmla="*/ 1844683 w 3688723"/>
              <a:gd name="connsiteY3" fmla="*/ 2758625 h 2758625"/>
              <a:gd name="connsiteX4" fmla="*/ 643 w 3688723"/>
              <a:gd name="connsiteY4" fmla="*/ 914585 h 2758625"/>
              <a:gd name="connsiteX0" fmla="*/ 770 w 3688850"/>
              <a:gd name="connsiteY0" fmla="*/ 914585 h 2954334"/>
              <a:gd name="connsiteX1" fmla="*/ 2009402 w 3688850"/>
              <a:gd name="connsiteY1" fmla="*/ 3233 h 2954334"/>
              <a:gd name="connsiteX2" fmla="*/ 3688850 w 3688850"/>
              <a:gd name="connsiteY2" fmla="*/ 914585 h 2954334"/>
              <a:gd name="connsiteX3" fmla="*/ 1844810 w 3688850"/>
              <a:gd name="connsiteY3" fmla="*/ 2758625 h 2954334"/>
              <a:gd name="connsiteX4" fmla="*/ 770 w 3688850"/>
              <a:gd name="connsiteY4" fmla="*/ 914585 h 2954334"/>
              <a:gd name="connsiteX0" fmla="*/ 1311 w 3689391"/>
              <a:gd name="connsiteY0" fmla="*/ 914585 h 2974526"/>
              <a:gd name="connsiteX1" fmla="*/ 2009943 w 3689391"/>
              <a:gd name="connsiteY1" fmla="*/ 3233 h 2974526"/>
              <a:gd name="connsiteX2" fmla="*/ 3689391 w 3689391"/>
              <a:gd name="connsiteY2" fmla="*/ 914585 h 2974526"/>
              <a:gd name="connsiteX3" fmla="*/ 1845351 w 3689391"/>
              <a:gd name="connsiteY3" fmla="*/ 2758625 h 2974526"/>
              <a:gd name="connsiteX4" fmla="*/ 1311 w 3689391"/>
              <a:gd name="connsiteY4" fmla="*/ 914585 h 2974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391" h="2974526">
                <a:moveTo>
                  <a:pt x="1311" y="914585"/>
                </a:moveTo>
                <a:cubicBezTo>
                  <a:pt x="28743" y="455353"/>
                  <a:pt x="991508" y="3233"/>
                  <a:pt x="2009943" y="3233"/>
                </a:cubicBezTo>
                <a:cubicBezTo>
                  <a:pt x="3028378" y="3233"/>
                  <a:pt x="3689391" y="-103850"/>
                  <a:pt x="3689391" y="914585"/>
                </a:cubicBezTo>
                <a:cubicBezTo>
                  <a:pt x="3689391" y="1933020"/>
                  <a:pt x="3320986" y="3563297"/>
                  <a:pt x="1845351" y="2758625"/>
                </a:cubicBezTo>
                <a:cubicBezTo>
                  <a:pt x="369716" y="1953953"/>
                  <a:pt x="-26121" y="1373817"/>
                  <a:pt x="1311" y="914585"/>
                </a:cubicBezTo>
                <a:close/>
              </a:path>
            </a:pathLst>
          </a:custGeom>
          <a:solidFill>
            <a:srgbClr val="F47221">
              <a:alpha val="9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7" name="מלבן: פינות מעוגלות 6">
            <a:extLst>
              <a:ext uri="{FF2B5EF4-FFF2-40B4-BE49-F238E27FC236}">
                <a16:creationId xmlns:a16="http://schemas.microsoft.com/office/drawing/2014/main" id="{35962E49-2C83-4BFD-346A-6B704B65DC3B}"/>
              </a:ext>
            </a:extLst>
          </p:cNvPr>
          <p:cNvSpPr/>
          <p:nvPr/>
        </p:nvSpPr>
        <p:spPr>
          <a:xfrm>
            <a:off x="7581902" y="2062966"/>
            <a:ext cx="3994720" cy="511277"/>
          </a:xfrm>
          <a:prstGeom prst="roundRect">
            <a:avLst>
              <a:gd name="adj" fmla="val 45742"/>
            </a:avLst>
          </a:prstGeom>
          <a:gradFill>
            <a:gsLst>
              <a:gs pos="0">
                <a:srgbClr val="2DB2CD"/>
              </a:gs>
              <a:gs pos="86000">
                <a:srgbClr val="283A84"/>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400" dirty="0">
                <a:solidFill>
                  <a:schemeClr val="bg1"/>
                </a:solidFill>
                <a:latin typeface="Rubik" pitchFamily="2" charset="-79"/>
                <a:cs typeface="Rubik" pitchFamily="2" charset="-79"/>
              </a:rPr>
              <a:t>לחצו להרחבה על עקרונות השימוש ב-</a:t>
            </a:r>
            <a:r>
              <a:rPr lang="en-US" sz="1400" dirty="0">
                <a:solidFill>
                  <a:schemeClr val="bg1"/>
                </a:solidFill>
                <a:latin typeface="Rubik" pitchFamily="2" charset="-79"/>
                <a:cs typeface="Rubik" pitchFamily="2" charset="-79"/>
              </a:rPr>
              <a:t>AI</a:t>
            </a:r>
            <a:endParaRPr lang="LID4096" sz="1400" dirty="0">
              <a:solidFill>
                <a:schemeClr val="bg1"/>
              </a:solidFill>
              <a:latin typeface="Rubik" pitchFamily="2" charset="-79"/>
              <a:cs typeface="Rubik" pitchFamily="2" charset="-79"/>
            </a:endParaRPr>
          </a:p>
        </p:txBody>
      </p:sp>
      <p:sp>
        <p:nvSpPr>
          <p:cNvPr id="8" name="מלבן 7">
            <a:extLst>
              <a:ext uri="{FF2B5EF4-FFF2-40B4-BE49-F238E27FC236}">
                <a16:creationId xmlns:a16="http://schemas.microsoft.com/office/drawing/2014/main" id="{5AD2B361-BE3C-907F-9C71-71390641BD88}"/>
              </a:ext>
            </a:extLst>
          </p:cNvPr>
          <p:cNvSpPr/>
          <p:nvPr/>
        </p:nvSpPr>
        <p:spPr>
          <a:xfrm>
            <a:off x="0" y="0"/>
            <a:ext cx="12192000" cy="6858000"/>
          </a:xfrm>
          <a:prstGeom prst="rect">
            <a:avLst/>
          </a:prstGeom>
          <a:solidFill>
            <a:schemeClr val="tx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פינות מעוגלות 8">
            <a:extLst>
              <a:ext uri="{FF2B5EF4-FFF2-40B4-BE49-F238E27FC236}">
                <a16:creationId xmlns:a16="http://schemas.microsoft.com/office/drawing/2014/main" id="{76C4B84E-CC91-289F-1234-189BD6A5BFC9}"/>
              </a:ext>
            </a:extLst>
          </p:cNvPr>
          <p:cNvSpPr/>
          <p:nvPr/>
        </p:nvSpPr>
        <p:spPr>
          <a:xfrm>
            <a:off x="432860" y="362391"/>
            <a:ext cx="11204294" cy="6133217"/>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תיבת טקסט 9">
            <a:extLst>
              <a:ext uri="{FF2B5EF4-FFF2-40B4-BE49-F238E27FC236}">
                <a16:creationId xmlns:a16="http://schemas.microsoft.com/office/drawing/2014/main" id="{037D9FFB-9AE6-8C62-858E-28616B408E69}"/>
              </a:ext>
            </a:extLst>
          </p:cNvPr>
          <p:cNvSpPr txBox="1"/>
          <p:nvPr/>
        </p:nvSpPr>
        <p:spPr>
          <a:xfrm>
            <a:off x="2570222" y="645801"/>
            <a:ext cx="7057663" cy="584775"/>
          </a:xfrm>
          <a:prstGeom prst="rect">
            <a:avLst/>
          </a:prstGeom>
          <a:noFill/>
        </p:spPr>
        <p:txBody>
          <a:bodyPr wrap="square">
            <a:spAutoFit/>
          </a:bodyPr>
          <a:lstStyle/>
          <a:p>
            <a:pPr algn="ctr">
              <a:buNone/>
            </a:pPr>
            <a:r>
              <a:rPr lang="he-IL" sz="3200" dirty="0">
                <a:latin typeface="Rubik Black" pitchFamily="2" charset="-79"/>
                <a:cs typeface="Rubik Black" pitchFamily="2" charset="-79"/>
              </a:rPr>
              <a:t>עקרונות השימוש ב-</a:t>
            </a:r>
            <a:r>
              <a:rPr lang="en-US" sz="3200" dirty="0">
                <a:latin typeface="Rubik Black" pitchFamily="2" charset="-79"/>
                <a:cs typeface="Rubik Black" pitchFamily="2" charset="-79"/>
              </a:rPr>
              <a:t>AI</a:t>
            </a:r>
            <a:endParaRPr lang="he-IL" sz="3200" dirty="0">
              <a:latin typeface="Rubik Black" pitchFamily="2" charset="-79"/>
              <a:cs typeface="Rubik Black" pitchFamily="2" charset="-79"/>
            </a:endParaRPr>
          </a:p>
        </p:txBody>
      </p:sp>
      <p:sp>
        <p:nvSpPr>
          <p:cNvPr id="11" name="תיבת טקסט 10">
            <a:extLst>
              <a:ext uri="{FF2B5EF4-FFF2-40B4-BE49-F238E27FC236}">
                <a16:creationId xmlns:a16="http://schemas.microsoft.com/office/drawing/2014/main" id="{6A45957B-A0A5-F4C5-FA8F-C70ABCB16A8C}"/>
              </a:ext>
            </a:extLst>
          </p:cNvPr>
          <p:cNvSpPr txBox="1"/>
          <p:nvPr/>
        </p:nvSpPr>
        <p:spPr>
          <a:xfrm>
            <a:off x="3905250" y="1441689"/>
            <a:ext cx="7086600" cy="2031325"/>
          </a:xfrm>
          <a:prstGeom prst="rect">
            <a:avLst/>
          </a:prstGeom>
          <a:noFill/>
        </p:spPr>
        <p:txBody>
          <a:bodyPr wrap="square">
            <a:spAutoFit/>
          </a:bodyPr>
          <a:lstStyle/>
          <a:p>
            <a:pPr marL="285750" indent="-285750">
              <a:buFont typeface="Arial" panose="020B0604020202020204" pitchFamily="34" charset="0"/>
              <a:buChar char="•"/>
            </a:pPr>
            <a:r>
              <a:rPr lang="he-IL" b="1" dirty="0">
                <a:latin typeface="Rubik" pitchFamily="2" charset="-79"/>
                <a:cs typeface="Rubik" pitchFamily="2" charset="-79"/>
              </a:rPr>
              <a:t>ההקשר הוא המלך</a:t>
            </a:r>
          </a:p>
          <a:p>
            <a:pPr marL="285750" indent="-285750">
              <a:buFont typeface="Arial" panose="020B0604020202020204" pitchFamily="34" charset="0"/>
              <a:buChar char="•"/>
            </a:pPr>
            <a:r>
              <a:rPr lang="he-IL" b="1" dirty="0">
                <a:latin typeface="Rubik" pitchFamily="2" charset="-79"/>
                <a:cs typeface="Rubik" pitchFamily="2" charset="-79"/>
              </a:rPr>
              <a:t>תהליך </a:t>
            </a:r>
            <a:r>
              <a:rPr lang="he-IL" b="1" dirty="0" err="1">
                <a:latin typeface="Rubik" pitchFamily="2" charset="-79"/>
                <a:cs typeface="Rubik" pitchFamily="2" charset="-79"/>
              </a:rPr>
              <a:t>איטרטיבי</a:t>
            </a:r>
            <a:endParaRPr lang="he-IL" b="1" dirty="0">
              <a:latin typeface="Rubik" pitchFamily="2" charset="-79"/>
              <a:cs typeface="Rubik" pitchFamily="2" charset="-79"/>
            </a:endParaRPr>
          </a:p>
          <a:p>
            <a:pPr marL="285750" indent="-285750">
              <a:buFont typeface="Arial" panose="020B0604020202020204" pitchFamily="34" charset="0"/>
              <a:buChar char="•"/>
            </a:pPr>
            <a:r>
              <a:rPr lang="he-IL" b="1" dirty="0">
                <a:latin typeface="Rubik" pitchFamily="2" charset="-79"/>
                <a:cs typeface="Rubik" pitchFamily="2" charset="-79"/>
              </a:rPr>
              <a:t>לא לצאת מהלופ - </a:t>
            </a:r>
            <a:r>
              <a:rPr lang="en-US" b="1" dirty="0">
                <a:latin typeface="Rubik" pitchFamily="2" charset="-79"/>
                <a:cs typeface="Rubik" pitchFamily="2" charset="-79"/>
              </a:rPr>
              <a:t>Human in the loop</a:t>
            </a:r>
          </a:p>
          <a:p>
            <a:pPr marL="285750" indent="-285750">
              <a:buFont typeface="Arial" panose="020B0604020202020204" pitchFamily="34" charset="0"/>
              <a:buChar char="•"/>
            </a:pPr>
            <a:r>
              <a:rPr lang="en-US" b="1" dirty="0">
                <a:latin typeface="Rubik" pitchFamily="2" charset="-79"/>
                <a:cs typeface="Rubik" pitchFamily="2" charset="-79"/>
              </a:rPr>
              <a:t> - “Impact over Hype”</a:t>
            </a:r>
            <a:r>
              <a:rPr lang="he-IL" b="1" dirty="0">
                <a:latin typeface="Rubik" pitchFamily="2" charset="-79"/>
                <a:cs typeface="Rubik" pitchFamily="2" charset="-79"/>
              </a:rPr>
              <a:t>כל שימוש חייב להצדיק זמן שנחסך</a:t>
            </a:r>
          </a:p>
          <a:p>
            <a:pPr marL="285750" indent="-285750">
              <a:buFont typeface="Arial" panose="020B0604020202020204" pitchFamily="34" charset="0"/>
              <a:buChar char="•"/>
            </a:pPr>
            <a:r>
              <a:rPr lang="en-US" b="1" dirty="0">
                <a:latin typeface="Rubik" pitchFamily="2" charset="-79"/>
                <a:cs typeface="Rubik" pitchFamily="2" charset="-79"/>
              </a:rPr>
              <a:t>Copilot</a:t>
            </a:r>
            <a:r>
              <a:rPr lang="he-IL" b="1" dirty="0">
                <a:latin typeface="Rubik" pitchFamily="2" charset="-79"/>
                <a:cs typeface="Rubik" pitchFamily="2" charset="-79"/>
              </a:rPr>
              <a:t> </a:t>
            </a:r>
            <a:r>
              <a:rPr lang="en-US" b="1" dirty="0">
                <a:latin typeface="Rubik" pitchFamily="2" charset="-79"/>
                <a:cs typeface="Rubik" pitchFamily="2" charset="-79"/>
              </a:rPr>
              <a:t> </a:t>
            </a:r>
            <a:r>
              <a:rPr lang="he-IL" b="1" dirty="0">
                <a:latin typeface="Rubik" pitchFamily="2" charset="-79"/>
                <a:cs typeface="Rubik" pitchFamily="2" charset="-79"/>
              </a:rPr>
              <a:t>עובד טוב כשהמידע בענן</a:t>
            </a:r>
          </a:p>
          <a:p>
            <a:pPr marL="285750" indent="-285750">
              <a:buFont typeface="Arial" panose="020B0604020202020204" pitchFamily="34" charset="0"/>
              <a:buChar char="•"/>
            </a:pPr>
            <a:r>
              <a:rPr lang="he-IL" b="1" dirty="0">
                <a:latin typeface="Rubik" pitchFamily="2" charset="-79"/>
                <a:cs typeface="Rubik" pitchFamily="2" charset="-79"/>
              </a:rPr>
              <a:t>המרשם שעובד – </a:t>
            </a:r>
            <a:r>
              <a:rPr lang="he-IL" b="1" dirty="0">
                <a:solidFill>
                  <a:srgbClr val="F47221"/>
                </a:solidFill>
                <a:latin typeface="Rubik" pitchFamily="2" charset="-79"/>
                <a:cs typeface="Rubik" pitchFamily="2" charset="-79"/>
              </a:rPr>
              <a:t>מטרה &gt; הקשר &gt; מקור &gt; ציפיות</a:t>
            </a:r>
          </a:p>
          <a:p>
            <a:pPr marL="285750" indent="-285750">
              <a:buFont typeface="Arial" panose="020B0604020202020204" pitchFamily="34" charset="0"/>
              <a:buChar char="•"/>
            </a:pPr>
            <a:endParaRPr lang="he-IL" b="1" dirty="0">
              <a:latin typeface="Rubik" pitchFamily="2" charset="-79"/>
              <a:cs typeface="Rubik" pitchFamily="2" charset="-79"/>
            </a:endParaRPr>
          </a:p>
        </p:txBody>
      </p:sp>
      <p:sp>
        <p:nvSpPr>
          <p:cNvPr id="12" name="תיבת טקסט 11">
            <a:extLst>
              <a:ext uri="{FF2B5EF4-FFF2-40B4-BE49-F238E27FC236}">
                <a16:creationId xmlns:a16="http://schemas.microsoft.com/office/drawing/2014/main" id="{864803A1-0C8D-E6B5-5BB2-EAA7868B6FEB}"/>
              </a:ext>
            </a:extLst>
          </p:cNvPr>
          <p:cNvSpPr txBox="1"/>
          <p:nvPr/>
        </p:nvSpPr>
        <p:spPr>
          <a:xfrm>
            <a:off x="3643842" y="3143501"/>
            <a:ext cx="7086600" cy="2124364"/>
          </a:xfrm>
          <a:prstGeom prst="rect">
            <a:avLst/>
          </a:prstGeom>
          <a:noFill/>
        </p:spPr>
        <p:txBody>
          <a:bodyPr wrap="square">
            <a:spAutoFit/>
          </a:bodyPr>
          <a:lstStyle/>
          <a:p>
            <a:pPr>
              <a:lnSpc>
                <a:spcPct val="150000"/>
              </a:lnSpc>
            </a:pPr>
            <a:r>
              <a:rPr lang="he-IL" b="1" dirty="0">
                <a:solidFill>
                  <a:srgbClr val="F47221"/>
                </a:solidFill>
                <a:latin typeface="Rubik" pitchFamily="2" charset="-79"/>
                <a:cs typeface="Rubik" pitchFamily="2" charset="-79"/>
              </a:rPr>
              <a:t>מטרה: </a:t>
            </a:r>
            <a:r>
              <a:rPr lang="he-IL" dirty="0">
                <a:latin typeface="Rubik" pitchFamily="2" charset="-79"/>
                <a:cs typeface="Rubik" pitchFamily="2" charset="-79"/>
              </a:rPr>
              <a:t>הגדרת המטרה</a:t>
            </a:r>
          </a:p>
          <a:p>
            <a:pPr>
              <a:lnSpc>
                <a:spcPct val="150000"/>
              </a:lnSpc>
            </a:pPr>
            <a:r>
              <a:rPr lang="he-IL" b="1" dirty="0">
                <a:solidFill>
                  <a:srgbClr val="F47221"/>
                </a:solidFill>
                <a:latin typeface="Rubik" pitchFamily="2" charset="-79"/>
                <a:cs typeface="Rubik" pitchFamily="2" charset="-79"/>
              </a:rPr>
              <a:t>הקשר: </a:t>
            </a:r>
            <a:r>
              <a:rPr lang="he-IL" dirty="0">
                <a:latin typeface="Rubik" pitchFamily="2" charset="-79"/>
                <a:cs typeface="Rubik" pitchFamily="2" charset="-79"/>
              </a:rPr>
              <a:t>אני ____ / הקהל הוא ____ / טון ____</a:t>
            </a:r>
          </a:p>
          <a:p>
            <a:pPr>
              <a:lnSpc>
                <a:spcPct val="150000"/>
              </a:lnSpc>
            </a:pPr>
            <a:r>
              <a:rPr lang="he-IL" b="1" dirty="0">
                <a:solidFill>
                  <a:srgbClr val="F47221"/>
                </a:solidFill>
                <a:latin typeface="Rubik" pitchFamily="2" charset="-79"/>
                <a:cs typeface="Rubik" pitchFamily="2" charset="-79"/>
              </a:rPr>
              <a:t>מקור: </a:t>
            </a:r>
            <a:r>
              <a:rPr lang="he-IL" dirty="0">
                <a:latin typeface="Rubik" pitchFamily="2" charset="-79"/>
                <a:cs typeface="Rubik" pitchFamily="2" charset="-79"/>
              </a:rPr>
              <a:t>השתמש ב____ (שרשור/מסמך/קובץ/פגישה)</a:t>
            </a:r>
          </a:p>
          <a:p>
            <a:pPr>
              <a:lnSpc>
                <a:spcPct val="150000"/>
              </a:lnSpc>
            </a:pPr>
            <a:r>
              <a:rPr lang="he-IL" b="1" dirty="0">
                <a:solidFill>
                  <a:srgbClr val="F47221"/>
                </a:solidFill>
                <a:latin typeface="Rubik" pitchFamily="2" charset="-79"/>
                <a:cs typeface="Rubik" pitchFamily="2" charset="-79"/>
              </a:rPr>
              <a:t>ציפיות: </a:t>
            </a:r>
            <a:r>
              <a:rPr lang="he-IL" dirty="0">
                <a:latin typeface="Rubik" pitchFamily="2" charset="-79"/>
                <a:cs typeface="Rubik" pitchFamily="2" charset="-79"/>
              </a:rPr>
              <a:t>החזר בפורמט ____ (נקודות/טבלה/צעדים), עד ____ נקודות, הדגש ____ </a:t>
            </a:r>
          </a:p>
        </p:txBody>
      </p:sp>
    </p:spTree>
    <p:extLst>
      <p:ext uri="{BB962C8B-B14F-4D97-AF65-F5344CB8AC3E}">
        <p14:creationId xmlns:p14="http://schemas.microsoft.com/office/powerpoint/2010/main" val="3714704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00E73-4935-1AAF-E31E-15A1502294A7}"/>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25081AE7-1698-90E5-7F78-E2AF99BAD30C}"/>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535A997E-2E71-BAD9-0E1F-9B880AD7A2E4}"/>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פגישה שלא הולכת לאיבוד!</a:t>
            </a:r>
          </a:p>
        </p:txBody>
      </p:sp>
      <p:sp>
        <p:nvSpPr>
          <p:cNvPr id="12" name="תיבת טקסט 11">
            <a:extLst>
              <a:ext uri="{FF2B5EF4-FFF2-40B4-BE49-F238E27FC236}">
                <a16:creationId xmlns:a16="http://schemas.microsoft.com/office/drawing/2014/main" id="{56C05926-AC13-CFE1-3942-BE6189E1003F}"/>
              </a:ext>
            </a:extLst>
          </p:cNvPr>
          <p:cNvSpPr txBox="1"/>
          <p:nvPr/>
        </p:nvSpPr>
        <p:spPr>
          <a:xfrm>
            <a:off x="7962900" y="3090697"/>
            <a:ext cx="2719915" cy="1441998"/>
          </a:xfrm>
          <a:prstGeom prst="rect">
            <a:avLst/>
          </a:prstGeom>
          <a:noFill/>
        </p:spPr>
        <p:txBody>
          <a:bodyPr wrap="square" rtlCol="0">
            <a:spAutoFit/>
          </a:bodyPr>
          <a:lstStyle/>
          <a:p>
            <a:pPr>
              <a:lnSpc>
                <a:spcPct val="150000"/>
              </a:lnSpc>
            </a:pPr>
            <a:r>
              <a:rPr lang="he-IL" b="1" dirty="0">
                <a:latin typeface="Rubik" pitchFamily="2" charset="-79"/>
                <a:cs typeface="Rubik" pitchFamily="2" charset="-79"/>
              </a:rPr>
              <a:t>מה </a:t>
            </a:r>
            <a:r>
              <a:rPr lang="he-IL" b="1" dirty="0" err="1">
                <a:latin typeface="Rubik" pitchFamily="2" charset="-79"/>
                <a:cs typeface="Rubik" pitchFamily="2" charset="-79"/>
              </a:rPr>
              <a:t>Copilot</a:t>
            </a:r>
            <a:r>
              <a:rPr lang="he-IL" b="1" dirty="0">
                <a:latin typeface="Rubik" pitchFamily="2" charset="-79"/>
                <a:cs typeface="Rubik" pitchFamily="2" charset="-79"/>
              </a:rPr>
              <a:t> עושה:</a:t>
            </a:r>
          </a:p>
          <a:p>
            <a:pPr marL="285750" indent="-285750">
              <a:lnSpc>
                <a:spcPct val="150000"/>
              </a:lnSpc>
              <a:buFont typeface="Arial"/>
              <a:buChar char="•"/>
            </a:pPr>
            <a:r>
              <a:rPr lang="he-IL" sz="1400" dirty="0">
                <a:latin typeface="Rubik" pitchFamily="2" charset="-79"/>
                <a:cs typeface="Rubik" pitchFamily="2" charset="-79"/>
              </a:rPr>
              <a:t>מסכם פגישות</a:t>
            </a:r>
          </a:p>
          <a:p>
            <a:pPr marL="285750" indent="-285750">
              <a:lnSpc>
                <a:spcPct val="150000"/>
              </a:lnSpc>
              <a:buFont typeface="Arial"/>
              <a:buChar char="•"/>
            </a:pPr>
            <a:r>
              <a:rPr lang="he-IL" sz="1400" dirty="0">
                <a:latin typeface="Rubik" pitchFamily="2" charset="-79"/>
                <a:cs typeface="Rubik" pitchFamily="2" charset="-79"/>
              </a:rPr>
              <a:t>מזהה החלטות</a:t>
            </a:r>
          </a:p>
          <a:p>
            <a:pPr marL="285750" indent="-285750">
              <a:lnSpc>
                <a:spcPct val="150000"/>
              </a:lnSpc>
              <a:buFont typeface="Arial"/>
              <a:buChar char="•"/>
            </a:pPr>
            <a:r>
              <a:rPr lang="he-IL" sz="1400" dirty="0">
                <a:latin typeface="Rubik" pitchFamily="2" charset="-79"/>
                <a:cs typeface="Rubik" pitchFamily="2" charset="-79"/>
              </a:rPr>
              <a:t>מחלץ משימות ואחריות</a:t>
            </a:r>
          </a:p>
        </p:txBody>
      </p:sp>
      <p:pic>
        <p:nvPicPr>
          <p:cNvPr id="2" name="Picture 6" descr="microsoft teams icon logo symbol 27179374 PNG">
            <a:extLst>
              <a:ext uri="{FF2B5EF4-FFF2-40B4-BE49-F238E27FC236}">
                <a16:creationId xmlns:a16="http://schemas.microsoft.com/office/drawing/2014/main" id="{7C3A30C8-D9C5-D3B8-7EB6-4A985394B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1757" y="1187748"/>
            <a:ext cx="1088486" cy="1088486"/>
          </a:xfrm>
          <a:prstGeom prst="rect">
            <a:avLst/>
          </a:prstGeom>
          <a:noFill/>
          <a:extLst>
            <a:ext uri="{909E8E84-426E-40DD-AFC4-6F175D3DCCD1}">
              <a14:hiddenFill xmlns:a14="http://schemas.microsoft.com/office/drawing/2010/main">
                <a:solidFill>
                  <a:srgbClr val="FFFFFF"/>
                </a:solidFill>
              </a14:hiddenFill>
            </a:ext>
          </a:extLst>
        </p:spPr>
      </p:pic>
      <p:sp>
        <p:nvSpPr>
          <p:cNvPr id="7" name="תיבת טקסט 6">
            <a:extLst>
              <a:ext uri="{FF2B5EF4-FFF2-40B4-BE49-F238E27FC236}">
                <a16:creationId xmlns:a16="http://schemas.microsoft.com/office/drawing/2014/main" id="{2FB55F32-1106-2E07-DE5F-9969520A09D9}"/>
              </a:ext>
            </a:extLst>
          </p:cNvPr>
          <p:cNvSpPr txBox="1"/>
          <p:nvPr/>
        </p:nvSpPr>
        <p:spPr>
          <a:xfrm>
            <a:off x="5060664" y="2135636"/>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Teams</a:t>
            </a:r>
            <a:endParaRPr lang="he-IL" sz="2000" i="0" dirty="0">
              <a:effectLst/>
              <a:latin typeface="Rubik" pitchFamily="2" charset="-79"/>
              <a:cs typeface="Rubik" pitchFamily="2" charset="-79"/>
            </a:endParaRPr>
          </a:p>
        </p:txBody>
      </p:sp>
      <p:sp>
        <p:nvSpPr>
          <p:cNvPr id="8" name="תיבת טקסט 7">
            <a:extLst>
              <a:ext uri="{FF2B5EF4-FFF2-40B4-BE49-F238E27FC236}">
                <a16:creationId xmlns:a16="http://schemas.microsoft.com/office/drawing/2014/main" id="{267BB072-0C80-4DCA-2683-D11F3967F2AA}"/>
              </a:ext>
            </a:extLst>
          </p:cNvPr>
          <p:cNvSpPr txBox="1"/>
          <p:nvPr/>
        </p:nvSpPr>
        <p:spPr>
          <a:xfrm>
            <a:off x="891590" y="3090696"/>
            <a:ext cx="4495326" cy="3380990"/>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סכם את הפגישה ל-5 נקודות עיקריות. הדגש החלטות, מחלוקות ונושאים שדורשים המשך טיפול</a:t>
            </a:r>
          </a:p>
          <a:p>
            <a:pPr marL="285750" indent="-285750">
              <a:lnSpc>
                <a:spcPct val="150000"/>
              </a:lnSpc>
              <a:buFont typeface="Arial"/>
              <a:buChar char="•"/>
            </a:pPr>
            <a:r>
              <a:rPr lang="he-IL" sz="1400" dirty="0">
                <a:latin typeface="Rubik" pitchFamily="2" charset="-79"/>
                <a:cs typeface="Rubik" pitchFamily="2" charset="-79"/>
              </a:rPr>
              <a:t>חלץ מהפגישה רשימת משימות: משימה | אחראי | </a:t>
            </a:r>
            <a:r>
              <a:rPr lang="he-IL" sz="1400" dirty="0" err="1">
                <a:latin typeface="Rubik" pitchFamily="2" charset="-79"/>
                <a:cs typeface="Rubik" pitchFamily="2" charset="-79"/>
              </a:rPr>
              <a:t>דדליין</a:t>
            </a:r>
            <a:r>
              <a:rPr lang="he-IL" sz="1400" dirty="0">
                <a:latin typeface="Rubik" pitchFamily="2" charset="-79"/>
                <a:cs typeface="Rubik" pitchFamily="2" charset="-79"/>
              </a:rPr>
              <a:t> | סיכון אם לא מבוצע. </a:t>
            </a:r>
          </a:p>
          <a:p>
            <a:pPr marL="285750" indent="-285750">
              <a:lnSpc>
                <a:spcPct val="150000"/>
              </a:lnSpc>
              <a:buFont typeface="Arial"/>
              <a:buChar char="•"/>
            </a:pPr>
            <a:r>
              <a:rPr lang="he-IL" sz="1400" dirty="0">
                <a:latin typeface="Rubik" pitchFamily="2" charset="-79"/>
                <a:cs typeface="Rubik" pitchFamily="2" charset="-79"/>
              </a:rPr>
              <a:t>מה סוכם עד עכשיו ומה שני הנושאים הקריטיים שעליי להכיר? </a:t>
            </a:r>
          </a:p>
          <a:p>
            <a:pPr marL="285750" indent="-285750">
              <a:lnSpc>
                <a:spcPct val="150000"/>
              </a:lnSpc>
              <a:buFont typeface="Arial"/>
              <a:buChar char="•"/>
            </a:pPr>
            <a:r>
              <a:rPr lang="he-IL" sz="1400" dirty="0">
                <a:latin typeface="Rubik" pitchFamily="2" charset="-79"/>
                <a:cs typeface="Rubik" pitchFamily="2" charset="-79"/>
              </a:rPr>
              <a:t>מה ההחלטות שהתקבלו עד כה ומי התחייב לבצע מה? </a:t>
            </a:r>
          </a:p>
          <a:p>
            <a:pPr marL="285750" indent="-285750">
              <a:lnSpc>
                <a:spcPct val="150000"/>
              </a:lnSpc>
              <a:buFont typeface="Arial"/>
              <a:buChar char="•"/>
            </a:pPr>
            <a:r>
              <a:rPr lang="he-IL" sz="1400" dirty="0">
                <a:latin typeface="Rubik" pitchFamily="2" charset="-79"/>
                <a:cs typeface="Rubik" pitchFamily="2" charset="-79"/>
              </a:rPr>
              <a:t>מה נאמר על נושא </a:t>
            </a:r>
            <a:r>
              <a:rPr lang="en-US" sz="1400" dirty="0">
                <a:latin typeface="Rubik" pitchFamily="2" charset="-79"/>
                <a:cs typeface="Rubik" pitchFamily="2" charset="-79"/>
              </a:rPr>
              <a:t>X </a:t>
            </a:r>
            <a:r>
              <a:rPr lang="he-IL" sz="1400" dirty="0">
                <a:latin typeface="Rubik" pitchFamily="2" charset="-79"/>
                <a:cs typeface="Rubik" pitchFamily="2" charset="-79"/>
              </a:rPr>
              <a:t>בצ'אט של הפגישה? סכם בקצרה וציין מי אמר מה</a:t>
            </a:r>
          </a:p>
        </p:txBody>
      </p:sp>
    </p:spTree>
    <p:extLst>
      <p:ext uri="{BB962C8B-B14F-4D97-AF65-F5344CB8AC3E}">
        <p14:creationId xmlns:p14="http://schemas.microsoft.com/office/powerpoint/2010/main" val="614826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A997-65BE-711A-18DB-C67E0019B140}"/>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9500B9CB-3749-2BFF-3B43-ACACD4148563}"/>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15945A41-7EEE-91A7-23EB-14531B51F0D1}"/>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לא קוראים שרשור – מקבלים החלטה</a:t>
            </a:r>
          </a:p>
        </p:txBody>
      </p:sp>
      <p:sp>
        <p:nvSpPr>
          <p:cNvPr id="12" name="תיבת טקסט 11">
            <a:extLst>
              <a:ext uri="{FF2B5EF4-FFF2-40B4-BE49-F238E27FC236}">
                <a16:creationId xmlns:a16="http://schemas.microsoft.com/office/drawing/2014/main" id="{4ED51CAC-3402-222E-A5E3-823D374A7571}"/>
              </a:ext>
            </a:extLst>
          </p:cNvPr>
          <p:cNvSpPr txBox="1"/>
          <p:nvPr/>
        </p:nvSpPr>
        <p:spPr>
          <a:xfrm>
            <a:off x="7962900" y="3090697"/>
            <a:ext cx="2719915" cy="1765163"/>
          </a:xfrm>
          <a:prstGeom prst="rect">
            <a:avLst/>
          </a:prstGeom>
          <a:noFill/>
        </p:spPr>
        <p:txBody>
          <a:bodyPr wrap="square" rtlCol="0">
            <a:spAutoFit/>
          </a:bodyPr>
          <a:lstStyle/>
          <a:p>
            <a:pPr>
              <a:lnSpc>
                <a:spcPct val="150000"/>
              </a:lnSpc>
            </a:pPr>
            <a:r>
              <a:rPr lang="he-IL" b="1" dirty="0">
                <a:latin typeface="Rubik" pitchFamily="2" charset="-79"/>
                <a:cs typeface="Rubik" pitchFamily="2" charset="-79"/>
              </a:rPr>
              <a:t>מה </a:t>
            </a:r>
            <a:r>
              <a:rPr lang="he-IL" b="1" dirty="0" err="1">
                <a:latin typeface="Rubik" pitchFamily="2" charset="-79"/>
                <a:cs typeface="Rubik" pitchFamily="2" charset="-79"/>
              </a:rPr>
              <a:t>Copilot</a:t>
            </a:r>
            <a:r>
              <a:rPr lang="he-IL" b="1" dirty="0">
                <a:latin typeface="Rubik" pitchFamily="2" charset="-79"/>
                <a:cs typeface="Rubik" pitchFamily="2" charset="-79"/>
              </a:rPr>
              <a:t> עושה:</a:t>
            </a:r>
          </a:p>
          <a:p>
            <a:pPr marL="285750" indent="-285750">
              <a:lnSpc>
                <a:spcPct val="150000"/>
              </a:lnSpc>
              <a:buFont typeface="Arial"/>
              <a:buChar char="•"/>
            </a:pPr>
            <a:r>
              <a:rPr lang="he-IL" sz="1400" dirty="0">
                <a:latin typeface="Rubik" pitchFamily="2" charset="-79"/>
                <a:cs typeface="Rubik" pitchFamily="2" charset="-79"/>
              </a:rPr>
              <a:t>סיכום שרשורי מייל</a:t>
            </a:r>
          </a:p>
          <a:p>
            <a:pPr marL="285750" indent="-285750">
              <a:lnSpc>
                <a:spcPct val="150000"/>
              </a:lnSpc>
              <a:buFont typeface="Arial"/>
              <a:buChar char="•"/>
            </a:pPr>
            <a:r>
              <a:rPr lang="he-IL" sz="1400" dirty="0">
                <a:latin typeface="Rubik" pitchFamily="2" charset="-79"/>
                <a:cs typeface="Rubik" pitchFamily="2" charset="-79"/>
              </a:rPr>
              <a:t>טיוטת תשובה חכמה</a:t>
            </a:r>
          </a:p>
          <a:p>
            <a:pPr marL="285750" indent="-285750">
              <a:lnSpc>
                <a:spcPct val="150000"/>
              </a:lnSpc>
              <a:buFont typeface="Arial"/>
              <a:buChar char="•"/>
            </a:pPr>
            <a:r>
              <a:rPr lang="he-IL" sz="1400" dirty="0">
                <a:latin typeface="Rubik" pitchFamily="2" charset="-79"/>
                <a:cs typeface="Rubik" pitchFamily="2" charset="-79"/>
              </a:rPr>
              <a:t>התאמת טון (רשמי / קצר / ניהולי)</a:t>
            </a:r>
          </a:p>
        </p:txBody>
      </p:sp>
      <p:sp>
        <p:nvSpPr>
          <p:cNvPr id="8" name="תיבת טקסט 7">
            <a:extLst>
              <a:ext uri="{FF2B5EF4-FFF2-40B4-BE49-F238E27FC236}">
                <a16:creationId xmlns:a16="http://schemas.microsoft.com/office/drawing/2014/main" id="{29199A49-E1CD-F125-58BA-3ED263770D13}"/>
              </a:ext>
            </a:extLst>
          </p:cNvPr>
          <p:cNvSpPr txBox="1"/>
          <p:nvPr/>
        </p:nvSpPr>
        <p:spPr>
          <a:xfrm>
            <a:off x="209550" y="3090696"/>
            <a:ext cx="5177366" cy="3380990"/>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סכם את שרשור המיילים הזה ל-5 נקודות. בסוף הוסף: (1) מה הוחלט (2) מה עדיין פתוח (3) מה נדרש ממני כמנהל.</a:t>
            </a:r>
          </a:p>
          <a:p>
            <a:pPr marL="285750" indent="-285750">
              <a:lnSpc>
                <a:spcPct val="150000"/>
              </a:lnSpc>
              <a:buFont typeface="Arial"/>
              <a:buChar char="•"/>
            </a:pPr>
            <a:r>
              <a:rPr lang="he-IL" sz="1400" dirty="0">
                <a:latin typeface="Rubik" pitchFamily="2" charset="-79"/>
                <a:cs typeface="Rubik" pitchFamily="2" charset="-79"/>
              </a:rPr>
              <a:t>בהתבסס על השרשור: הכן לי נקודות הכנה לפגישה: נושאים רגישים, שאלות צפויות, והצעת החלטה. </a:t>
            </a:r>
          </a:p>
          <a:p>
            <a:pPr marL="285750" indent="-285750">
              <a:lnSpc>
                <a:spcPct val="150000"/>
              </a:lnSpc>
              <a:buFont typeface="Arial"/>
              <a:buChar char="•"/>
            </a:pPr>
            <a:r>
              <a:rPr lang="he-IL" sz="1400" dirty="0">
                <a:latin typeface="Rubik" pitchFamily="2" charset="-79"/>
                <a:cs typeface="Rubik" pitchFamily="2" charset="-79"/>
              </a:rPr>
              <a:t>נסח תשובה עניינית וקצרה שמאשרת את כיוון הפעולה, ומבקשת לוח זמנים ברור. טון: מקצועי, לא מתגונן. </a:t>
            </a:r>
          </a:p>
          <a:p>
            <a:pPr marL="285750" indent="-285750">
              <a:lnSpc>
                <a:spcPct val="150000"/>
              </a:lnSpc>
              <a:buFont typeface="Arial"/>
              <a:buChar char="•"/>
            </a:pPr>
            <a:r>
              <a:rPr lang="he-IL" sz="1400" dirty="0">
                <a:latin typeface="Rubik" pitchFamily="2" charset="-79"/>
                <a:cs typeface="Rubik" pitchFamily="2" charset="-79"/>
              </a:rPr>
              <a:t>כתוב שתי גרסאות לתשובה: (1) גרסה קצרה להנהלה (2) גרסה מפורטת לצוות המקצועי. </a:t>
            </a:r>
          </a:p>
          <a:p>
            <a:pPr marL="285750" indent="-285750">
              <a:lnSpc>
                <a:spcPct val="150000"/>
              </a:lnSpc>
              <a:buFont typeface="Arial"/>
              <a:buChar char="•"/>
            </a:pPr>
            <a:r>
              <a:rPr lang="he-IL" sz="1400" dirty="0">
                <a:latin typeface="Rubik" pitchFamily="2" charset="-79"/>
                <a:cs typeface="Rubik" pitchFamily="2" charset="-79"/>
              </a:rPr>
              <a:t>תן 3 ניסוחים חלופיים לאותו מייל: רשמי מאוד / חברי / אסרטיבי. </a:t>
            </a:r>
          </a:p>
        </p:txBody>
      </p:sp>
      <p:sp>
        <p:nvSpPr>
          <p:cNvPr id="5" name="תיבת טקסט 4">
            <a:extLst>
              <a:ext uri="{FF2B5EF4-FFF2-40B4-BE49-F238E27FC236}">
                <a16:creationId xmlns:a16="http://schemas.microsoft.com/office/drawing/2014/main" id="{51263038-0F15-EA6E-A6C6-910EE2A59B19}"/>
              </a:ext>
            </a:extLst>
          </p:cNvPr>
          <p:cNvSpPr txBox="1"/>
          <p:nvPr/>
        </p:nvSpPr>
        <p:spPr>
          <a:xfrm>
            <a:off x="5096644" y="2120950"/>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Outlook</a:t>
            </a:r>
            <a:endParaRPr lang="he-IL" sz="2000" i="0" dirty="0">
              <a:effectLst/>
              <a:latin typeface="Rubik" pitchFamily="2" charset="-79"/>
              <a:cs typeface="Rubik" pitchFamily="2" charset="-79"/>
            </a:endParaRPr>
          </a:p>
        </p:txBody>
      </p:sp>
      <p:pic>
        <p:nvPicPr>
          <p:cNvPr id="9" name="Picture 2" descr="circle microsoft outlook new icon logo symbol 60587627 PNG">
            <a:extLst>
              <a:ext uri="{FF2B5EF4-FFF2-40B4-BE49-F238E27FC236}">
                <a16:creationId xmlns:a16="http://schemas.microsoft.com/office/drawing/2014/main" id="{03DCCB91-07A4-FF53-FBCB-27B293766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232" y="1117811"/>
            <a:ext cx="1088486" cy="1088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5356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3C14-8A00-D871-CE5C-24D4D957846B}"/>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21F4F600-25F2-6B14-28EA-94FF4ECD1231}"/>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B9E42D78-2C95-B678-4AEB-133D5673627B}"/>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מדף ריק – לטיוטה תוך דקה</a:t>
            </a:r>
          </a:p>
        </p:txBody>
      </p:sp>
      <p:sp>
        <p:nvSpPr>
          <p:cNvPr id="12" name="תיבת טקסט 11">
            <a:extLst>
              <a:ext uri="{FF2B5EF4-FFF2-40B4-BE49-F238E27FC236}">
                <a16:creationId xmlns:a16="http://schemas.microsoft.com/office/drawing/2014/main" id="{52EA9B6A-C7E0-E011-F84A-98612A36D14B}"/>
              </a:ext>
            </a:extLst>
          </p:cNvPr>
          <p:cNvSpPr txBox="1"/>
          <p:nvPr/>
        </p:nvSpPr>
        <p:spPr>
          <a:xfrm>
            <a:off x="7962900" y="3090697"/>
            <a:ext cx="2719915" cy="1441998"/>
          </a:xfrm>
          <a:prstGeom prst="rect">
            <a:avLst/>
          </a:prstGeom>
          <a:noFill/>
        </p:spPr>
        <p:txBody>
          <a:bodyPr wrap="square" rtlCol="0">
            <a:spAutoFit/>
          </a:bodyPr>
          <a:lstStyle/>
          <a:p>
            <a:pPr>
              <a:lnSpc>
                <a:spcPct val="150000"/>
              </a:lnSpc>
            </a:pPr>
            <a:r>
              <a:rPr lang="he-IL" b="1" dirty="0">
                <a:latin typeface="Rubik" pitchFamily="2" charset="-79"/>
                <a:cs typeface="Rubik" pitchFamily="2" charset="-79"/>
              </a:rPr>
              <a:t>שימושים נפוצים:</a:t>
            </a:r>
          </a:p>
          <a:p>
            <a:pPr marL="285750" indent="-285750">
              <a:lnSpc>
                <a:spcPct val="150000"/>
              </a:lnSpc>
              <a:buFont typeface="Arial"/>
              <a:buChar char="•"/>
            </a:pPr>
            <a:r>
              <a:rPr lang="he-IL" sz="1400" dirty="0">
                <a:latin typeface="Rubik" pitchFamily="2" charset="-79"/>
                <a:cs typeface="Rubik" pitchFamily="2" charset="-79"/>
              </a:rPr>
              <a:t>טיוטות נהלים</a:t>
            </a:r>
          </a:p>
          <a:p>
            <a:pPr marL="285750" indent="-285750">
              <a:lnSpc>
                <a:spcPct val="150000"/>
              </a:lnSpc>
              <a:buFont typeface="Arial"/>
              <a:buChar char="•"/>
            </a:pPr>
            <a:r>
              <a:rPr lang="he-IL" sz="1400" dirty="0">
                <a:latin typeface="Rubik" pitchFamily="2" charset="-79"/>
                <a:cs typeface="Rubik" pitchFamily="2" charset="-79"/>
              </a:rPr>
              <a:t>סיכום ועדות</a:t>
            </a:r>
          </a:p>
          <a:p>
            <a:pPr marL="285750" indent="-285750">
              <a:lnSpc>
                <a:spcPct val="150000"/>
              </a:lnSpc>
              <a:buFont typeface="Arial"/>
              <a:buChar char="•"/>
            </a:pPr>
            <a:r>
              <a:rPr lang="he-IL" sz="1400" dirty="0">
                <a:latin typeface="Rubik" pitchFamily="2" charset="-79"/>
                <a:cs typeface="Rubik" pitchFamily="2" charset="-79"/>
              </a:rPr>
              <a:t>ניסוח מחדש לקהל אחר</a:t>
            </a:r>
          </a:p>
        </p:txBody>
      </p:sp>
      <p:sp>
        <p:nvSpPr>
          <p:cNvPr id="8" name="תיבת טקסט 7">
            <a:extLst>
              <a:ext uri="{FF2B5EF4-FFF2-40B4-BE49-F238E27FC236}">
                <a16:creationId xmlns:a16="http://schemas.microsoft.com/office/drawing/2014/main" id="{66D20E65-A7F6-3526-7D40-5142B479D407}"/>
              </a:ext>
            </a:extLst>
          </p:cNvPr>
          <p:cNvSpPr txBox="1"/>
          <p:nvPr/>
        </p:nvSpPr>
        <p:spPr>
          <a:xfrm>
            <a:off x="209550" y="3090696"/>
            <a:ext cx="5886450" cy="3380990"/>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כתוב טיוטת נוהל קצרה בנושא: ____ . מבנה: מטרה, תחולה, תהליך עבודה, חריגים, מדדי בקרה. </a:t>
            </a:r>
          </a:p>
          <a:p>
            <a:pPr marL="285750" indent="-285750">
              <a:lnSpc>
                <a:spcPct val="150000"/>
              </a:lnSpc>
              <a:buFont typeface="Arial"/>
              <a:buChar char="•"/>
            </a:pPr>
            <a:r>
              <a:rPr lang="he-IL" sz="1400" dirty="0">
                <a:latin typeface="Rubik" pitchFamily="2" charset="-79"/>
                <a:cs typeface="Rubik" pitchFamily="2" charset="-79"/>
              </a:rPr>
              <a:t>נסח מחדש את הטקסט הבא כך שיהיה ברור לאיש צוות רפואי, ללא ז’רגון משפטי מיותר: </a:t>
            </a:r>
            <a:br>
              <a:rPr lang="he-IL" sz="1400" dirty="0">
                <a:latin typeface="Rubik" pitchFamily="2" charset="-79"/>
                <a:cs typeface="Rubik" pitchFamily="2" charset="-79"/>
              </a:rPr>
            </a:br>
            <a:r>
              <a:rPr lang="he-IL" sz="1400" dirty="0">
                <a:latin typeface="Rubik" pitchFamily="2" charset="-79"/>
                <a:cs typeface="Rubik" pitchFamily="2" charset="-79"/>
              </a:rPr>
              <a:t>[הדבק טקסט]</a:t>
            </a:r>
          </a:p>
          <a:p>
            <a:pPr marL="285750" indent="-285750">
              <a:lnSpc>
                <a:spcPct val="150000"/>
              </a:lnSpc>
              <a:buFont typeface="Arial"/>
              <a:buChar char="•"/>
            </a:pPr>
            <a:r>
              <a:rPr lang="he-IL" sz="1400" dirty="0">
                <a:latin typeface="Rubik" pitchFamily="2" charset="-79"/>
                <a:cs typeface="Rubik" pitchFamily="2" charset="-79"/>
              </a:rPr>
              <a:t>סכם את המסמך לעמוד אחד למנהלים, ובנוסף כתוב תקציר בן 5 שורות לצוות</a:t>
            </a:r>
          </a:p>
          <a:p>
            <a:pPr marL="285750" indent="-285750">
              <a:lnSpc>
                <a:spcPct val="150000"/>
              </a:lnSpc>
              <a:buFont typeface="Arial"/>
              <a:buChar char="•"/>
            </a:pPr>
            <a:r>
              <a:rPr lang="he-IL" sz="1400" dirty="0">
                <a:latin typeface="Rubik" pitchFamily="2" charset="-79"/>
                <a:cs typeface="Rubik" pitchFamily="2" charset="-79"/>
              </a:rPr>
              <a:t>בדוק אם יש חזרות, חוסר בהירות או סתירות במסמך. הצע שיפורים ממוקדים</a:t>
            </a:r>
          </a:p>
          <a:p>
            <a:pPr marL="285750" indent="-285750">
              <a:lnSpc>
                <a:spcPct val="150000"/>
              </a:lnSpc>
              <a:buFont typeface="Arial"/>
              <a:buChar char="•"/>
            </a:pPr>
            <a:r>
              <a:rPr lang="he-IL" sz="1400" dirty="0">
                <a:latin typeface="Rubik" pitchFamily="2" charset="-79"/>
                <a:cs typeface="Rubik" pitchFamily="2" charset="-79"/>
              </a:rPr>
              <a:t>השווה בין שתי גרסאות של מסמך והדגש שינויי משמעות (לא רק ניסוח)</a:t>
            </a:r>
          </a:p>
          <a:p>
            <a:pPr marL="285750" indent="-285750">
              <a:lnSpc>
                <a:spcPct val="150000"/>
              </a:lnSpc>
              <a:buFont typeface="Arial"/>
              <a:buChar char="•"/>
            </a:pPr>
            <a:r>
              <a:rPr lang="he-IL" sz="1400" dirty="0">
                <a:latin typeface="Rubik" pitchFamily="2" charset="-79"/>
                <a:cs typeface="Rubik" pitchFamily="2" charset="-79"/>
              </a:rPr>
              <a:t>תרגם את המסמך לאנגלית בטון מקצועי ושמור על המבנה (כותרות/רשימות)</a:t>
            </a:r>
          </a:p>
        </p:txBody>
      </p:sp>
      <p:sp>
        <p:nvSpPr>
          <p:cNvPr id="4" name="תיבת טקסט 3">
            <a:extLst>
              <a:ext uri="{FF2B5EF4-FFF2-40B4-BE49-F238E27FC236}">
                <a16:creationId xmlns:a16="http://schemas.microsoft.com/office/drawing/2014/main" id="{37CDF0C7-2626-0454-FD03-B4B64566B8BD}"/>
              </a:ext>
            </a:extLst>
          </p:cNvPr>
          <p:cNvSpPr txBox="1"/>
          <p:nvPr/>
        </p:nvSpPr>
        <p:spPr>
          <a:xfrm>
            <a:off x="5077594" y="2120950"/>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Word</a:t>
            </a:r>
            <a:endParaRPr lang="he-IL" sz="2000" i="0" dirty="0">
              <a:effectLst/>
              <a:latin typeface="Rubik" pitchFamily="2" charset="-79"/>
              <a:cs typeface="Rubik" pitchFamily="2" charset="-79"/>
            </a:endParaRPr>
          </a:p>
        </p:txBody>
      </p:sp>
      <p:pic>
        <p:nvPicPr>
          <p:cNvPr id="7" name="Picture 2" descr="Microsoft Word Logo Icons for Your Projects">
            <a:extLst>
              <a:ext uri="{FF2B5EF4-FFF2-40B4-BE49-F238E27FC236}">
                <a16:creationId xmlns:a16="http://schemas.microsoft.com/office/drawing/2014/main" id="{9C42C473-2BA5-132D-72E7-B0F478A3E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0139" y="1289263"/>
            <a:ext cx="745582" cy="745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2222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888D-9F22-242E-48AA-A7A803E98ECF}"/>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57EC247E-D7BA-52A6-704A-58542CC4E28D}"/>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E7053F4F-E519-DD5D-7F97-7A470AD85CB2}"/>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ממסמך – למצגת מנהלים</a:t>
            </a:r>
          </a:p>
        </p:txBody>
      </p:sp>
      <p:sp>
        <p:nvSpPr>
          <p:cNvPr id="12" name="תיבת טקסט 11">
            <a:extLst>
              <a:ext uri="{FF2B5EF4-FFF2-40B4-BE49-F238E27FC236}">
                <a16:creationId xmlns:a16="http://schemas.microsoft.com/office/drawing/2014/main" id="{8AD93C80-F8A1-18E9-209B-BC9E2FA90C2A}"/>
              </a:ext>
            </a:extLst>
          </p:cNvPr>
          <p:cNvSpPr txBox="1"/>
          <p:nvPr/>
        </p:nvSpPr>
        <p:spPr>
          <a:xfrm>
            <a:off x="7962900" y="3090697"/>
            <a:ext cx="2719915" cy="1441998"/>
          </a:xfrm>
          <a:prstGeom prst="rect">
            <a:avLst/>
          </a:prstGeom>
          <a:noFill/>
        </p:spPr>
        <p:txBody>
          <a:bodyPr wrap="square" rtlCol="0">
            <a:spAutoFit/>
          </a:bodyPr>
          <a:lstStyle/>
          <a:p>
            <a:pPr>
              <a:lnSpc>
                <a:spcPct val="150000"/>
              </a:lnSpc>
            </a:pPr>
            <a:r>
              <a:rPr lang="he-IL" b="1" dirty="0">
                <a:latin typeface="Rubik" pitchFamily="2" charset="-79"/>
                <a:cs typeface="Rubik" pitchFamily="2" charset="-79"/>
              </a:rPr>
              <a:t>מה </a:t>
            </a:r>
            <a:r>
              <a:rPr lang="he-IL" b="1" dirty="0" err="1">
                <a:latin typeface="Rubik" pitchFamily="2" charset="-79"/>
                <a:cs typeface="Rubik" pitchFamily="2" charset="-79"/>
              </a:rPr>
              <a:t>Copilot</a:t>
            </a:r>
            <a:r>
              <a:rPr lang="he-IL" b="1" dirty="0">
                <a:latin typeface="Rubik" pitchFamily="2" charset="-79"/>
                <a:cs typeface="Rubik" pitchFamily="2" charset="-79"/>
              </a:rPr>
              <a:t> עושה:</a:t>
            </a:r>
          </a:p>
          <a:p>
            <a:pPr marL="285750" indent="-285750">
              <a:lnSpc>
                <a:spcPct val="150000"/>
              </a:lnSpc>
              <a:buFont typeface="Arial"/>
              <a:buChar char="•"/>
            </a:pPr>
            <a:r>
              <a:rPr lang="he-IL" sz="1400" dirty="0">
                <a:latin typeface="Rubik" pitchFamily="2" charset="-79"/>
                <a:cs typeface="Rubik" pitchFamily="2" charset="-79"/>
              </a:rPr>
              <a:t>הופך מסמך למצגת</a:t>
            </a:r>
          </a:p>
          <a:p>
            <a:pPr marL="285750" indent="-285750">
              <a:lnSpc>
                <a:spcPct val="150000"/>
              </a:lnSpc>
              <a:buFont typeface="Arial"/>
              <a:buChar char="•"/>
            </a:pPr>
            <a:r>
              <a:rPr lang="he-IL" sz="1400" dirty="0">
                <a:latin typeface="Rubik" pitchFamily="2" charset="-79"/>
                <a:cs typeface="Rubik" pitchFamily="2" charset="-79"/>
              </a:rPr>
              <a:t>בונה מבנה נכון</a:t>
            </a:r>
          </a:p>
          <a:p>
            <a:pPr marL="285750" indent="-285750">
              <a:lnSpc>
                <a:spcPct val="150000"/>
              </a:lnSpc>
              <a:buFont typeface="Arial"/>
              <a:buChar char="•"/>
            </a:pPr>
            <a:r>
              <a:rPr lang="he-IL" sz="1400" dirty="0">
                <a:latin typeface="Rubik" pitchFamily="2" charset="-79"/>
                <a:cs typeface="Rubik" pitchFamily="2" charset="-79"/>
              </a:rPr>
              <a:t>מציע מסר מרכזי</a:t>
            </a:r>
          </a:p>
        </p:txBody>
      </p:sp>
      <p:sp>
        <p:nvSpPr>
          <p:cNvPr id="8" name="תיבת טקסט 7">
            <a:extLst>
              <a:ext uri="{FF2B5EF4-FFF2-40B4-BE49-F238E27FC236}">
                <a16:creationId xmlns:a16="http://schemas.microsoft.com/office/drawing/2014/main" id="{45EEAE1E-FA65-6C22-A3BA-D1D79846BB97}"/>
              </a:ext>
            </a:extLst>
          </p:cNvPr>
          <p:cNvSpPr txBox="1"/>
          <p:nvPr/>
        </p:nvSpPr>
        <p:spPr>
          <a:xfrm>
            <a:off x="209550" y="3090696"/>
            <a:ext cx="5177366" cy="3380990"/>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הפוך את המסמך המצורף למצגת 8  שקופיות לקהל מנהלים: בעיה, מצב קיים, פתרון, תועלות, סיכונים, צעדים הבאים </a:t>
            </a:r>
          </a:p>
          <a:p>
            <a:pPr marL="285750" indent="-285750">
              <a:lnSpc>
                <a:spcPct val="150000"/>
              </a:lnSpc>
              <a:buFont typeface="Arial"/>
              <a:buChar char="•"/>
            </a:pPr>
            <a:r>
              <a:rPr lang="he-IL" sz="1400" dirty="0">
                <a:latin typeface="Rubik" pitchFamily="2" charset="-79"/>
                <a:cs typeface="Rubik" pitchFamily="2" charset="-79"/>
              </a:rPr>
              <a:t>צור שקופית אחת עם: מסר מרכזי, 3 נקודות מפתח, והערות דובר קצרות. </a:t>
            </a:r>
          </a:p>
          <a:p>
            <a:pPr marL="285750" indent="-285750">
              <a:lnSpc>
                <a:spcPct val="150000"/>
              </a:lnSpc>
              <a:buFont typeface="Arial"/>
              <a:buChar char="•"/>
            </a:pPr>
            <a:r>
              <a:rPr lang="he-IL" sz="1400" dirty="0">
                <a:latin typeface="Rubik" pitchFamily="2" charset="-79"/>
                <a:cs typeface="Rubik" pitchFamily="2" charset="-79"/>
              </a:rPr>
              <a:t>פשט את המצגת כך שכל שקופית תכיל מסר אחד ברור בלבד </a:t>
            </a:r>
          </a:p>
          <a:p>
            <a:pPr marL="285750" indent="-285750">
              <a:lnSpc>
                <a:spcPct val="150000"/>
              </a:lnSpc>
              <a:buFont typeface="Arial"/>
              <a:buChar char="•"/>
            </a:pPr>
            <a:r>
              <a:rPr lang="he-IL" sz="1400" dirty="0">
                <a:latin typeface="Rubik" pitchFamily="2" charset="-79"/>
                <a:cs typeface="Rubik" pitchFamily="2" charset="-79"/>
              </a:rPr>
              <a:t>כתוב הערות דובר לכל שקופית כדי שאוכל להעביר הרצאה של 40–60 דקות. </a:t>
            </a:r>
          </a:p>
          <a:p>
            <a:pPr marL="285750" indent="-285750">
              <a:lnSpc>
                <a:spcPct val="150000"/>
              </a:lnSpc>
              <a:buFont typeface="Arial"/>
              <a:buChar char="•"/>
            </a:pPr>
            <a:r>
              <a:rPr lang="he-IL" sz="1400" dirty="0">
                <a:latin typeface="Rubik" pitchFamily="2" charset="-79"/>
                <a:cs typeface="Rubik" pitchFamily="2" charset="-79"/>
              </a:rPr>
              <a:t>בנה שקופית 'עם מה יוצאים מההרצאה' (</a:t>
            </a:r>
            <a:r>
              <a:rPr lang="en-US" sz="1400" dirty="0">
                <a:latin typeface="Rubik" pitchFamily="2" charset="-79"/>
                <a:cs typeface="Rubik" pitchFamily="2" charset="-79"/>
              </a:rPr>
              <a:t>Takeaways</a:t>
            </a:r>
            <a:r>
              <a:rPr lang="he-IL" sz="1400" dirty="0">
                <a:latin typeface="Rubik" pitchFamily="2" charset="-79"/>
                <a:cs typeface="Rubik" pitchFamily="2" charset="-79"/>
              </a:rPr>
              <a:t>) ב-3 בולטים.</a:t>
            </a:r>
            <a:endParaRPr lang="en-US" sz="14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2CA612BC-A30D-9E52-4B5E-20D028F0C9B7}"/>
              </a:ext>
            </a:extLst>
          </p:cNvPr>
          <p:cNvSpPr txBox="1"/>
          <p:nvPr/>
        </p:nvSpPr>
        <p:spPr>
          <a:xfrm>
            <a:off x="5060663" y="2120950"/>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PowerPoint</a:t>
            </a:r>
            <a:endParaRPr lang="he-IL" sz="2000" i="0" dirty="0">
              <a:effectLst/>
              <a:latin typeface="Rubik" pitchFamily="2" charset="-79"/>
              <a:cs typeface="Rubik" pitchFamily="2" charset="-79"/>
            </a:endParaRPr>
          </a:p>
        </p:txBody>
      </p:sp>
      <p:pic>
        <p:nvPicPr>
          <p:cNvPr id="7" name="Picture 2" descr="High-Quality Powerpoint Logo and Icons for Presentations">
            <a:extLst>
              <a:ext uri="{FF2B5EF4-FFF2-40B4-BE49-F238E27FC236}">
                <a16:creationId xmlns:a16="http://schemas.microsoft.com/office/drawing/2014/main" id="{3F1D2FBB-9388-2DF8-CDFF-ECA5E28F4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5240" y="1253326"/>
            <a:ext cx="781519" cy="78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3772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20F64-5B3A-C494-8E5E-D19AF8FCCA43}"/>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68572004-A932-6F06-5C7A-E11C40065043}"/>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70CBC1A7-AA9E-2320-2244-7E85AE36216D}"/>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אקסל שמדבר ניהולית</a:t>
            </a:r>
          </a:p>
        </p:txBody>
      </p:sp>
      <p:sp>
        <p:nvSpPr>
          <p:cNvPr id="12" name="תיבת טקסט 11">
            <a:extLst>
              <a:ext uri="{FF2B5EF4-FFF2-40B4-BE49-F238E27FC236}">
                <a16:creationId xmlns:a16="http://schemas.microsoft.com/office/drawing/2014/main" id="{9E6E0803-75AE-22BD-0FD8-39EEA46D2226}"/>
              </a:ext>
            </a:extLst>
          </p:cNvPr>
          <p:cNvSpPr txBox="1"/>
          <p:nvPr/>
        </p:nvSpPr>
        <p:spPr>
          <a:xfrm>
            <a:off x="7962900" y="3090697"/>
            <a:ext cx="2719915" cy="1765163"/>
          </a:xfrm>
          <a:prstGeom prst="rect">
            <a:avLst/>
          </a:prstGeom>
          <a:noFill/>
        </p:spPr>
        <p:txBody>
          <a:bodyPr wrap="square" rtlCol="0">
            <a:spAutoFit/>
          </a:bodyPr>
          <a:lstStyle/>
          <a:p>
            <a:pPr>
              <a:lnSpc>
                <a:spcPct val="150000"/>
              </a:lnSpc>
            </a:pPr>
            <a:r>
              <a:rPr lang="he-IL" b="1" dirty="0">
                <a:latin typeface="Rubik" pitchFamily="2" charset="-79"/>
                <a:cs typeface="Rubik" pitchFamily="2" charset="-79"/>
              </a:rPr>
              <a:t>מה </a:t>
            </a:r>
            <a:r>
              <a:rPr lang="he-IL" b="1" dirty="0" err="1">
                <a:latin typeface="Rubik" pitchFamily="2" charset="-79"/>
                <a:cs typeface="Rubik" pitchFamily="2" charset="-79"/>
              </a:rPr>
              <a:t>Copilot</a:t>
            </a:r>
            <a:r>
              <a:rPr lang="he-IL" b="1" dirty="0">
                <a:latin typeface="Rubik" pitchFamily="2" charset="-79"/>
                <a:cs typeface="Rubik" pitchFamily="2" charset="-79"/>
              </a:rPr>
              <a:t> עושה:</a:t>
            </a:r>
          </a:p>
          <a:p>
            <a:pPr marL="285750" indent="-285750">
              <a:lnSpc>
                <a:spcPct val="150000"/>
              </a:lnSpc>
              <a:buFont typeface="Arial"/>
              <a:buChar char="•"/>
            </a:pPr>
            <a:r>
              <a:rPr lang="he-IL" sz="1400" dirty="0">
                <a:latin typeface="Rubik" pitchFamily="2" charset="-79"/>
                <a:cs typeface="Rubik" pitchFamily="2" charset="-79"/>
              </a:rPr>
              <a:t>מסביר נתונים במילים</a:t>
            </a:r>
          </a:p>
          <a:p>
            <a:pPr marL="285750" indent="-285750">
              <a:lnSpc>
                <a:spcPct val="150000"/>
              </a:lnSpc>
              <a:buFont typeface="Arial"/>
              <a:buChar char="•"/>
            </a:pPr>
            <a:r>
              <a:rPr lang="he-IL" sz="1400" dirty="0">
                <a:latin typeface="Rubik" pitchFamily="2" charset="-79"/>
                <a:cs typeface="Rubik" pitchFamily="2" charset="-79"/>
              </a:rPr>
              <a:t>מזהה חריגים</a:t>
            </a:r>
          </a:p>
          <a:p>
            <a:pPr marL="285750" indent="-285750">
              <a:lnSpc>
                <a:spcPct val="150000"/>
              </a:lnSpc>
              <a:buFont typeface="Arial"/>
              <a:buChar char="•"/>
            </a:pPr>
            <a:r>
              <a:rPr lang="he-IL" sz="1400" dirty="0">
                <a:latin typeface="Rubik" pitchFamily="2" charset="-79"/>
                <a:cs typeface="Rubik" pitchFamily="2" charset="-79"/>
              </a:rPr>
              <a:t>מציע תובנות ניהוליות</a:t>
            </a:r>
          </a:p>
          <a:p>
            <a:pPr marL="285750" indent="-285750">
              <a:lnSpc>
                <a:spcPct val="150000"/>
              </a:lnSpc>
              <a:buFont typeface="Arial"/>
              <a:buChar char="•"/>
            </a:pPr>
            <a:r>
              <a:rPr lang="he-IL" sz="1400" dirty="0">
                <a:latin typeface="Rubik" pitchFamily="2" charset="-79"/>
                <a:cs typeface="Rubik" pitchFamily="2" charset="-79"/>
              </a:rPr>
              <a:t>בונה סיכום להנהלה</a:t>
            </a:r>
          </a:p>
        </p:txBody>
      </p:sp>
      <p:sp>
        <p:nvSpPr>
          <p:cNvPr id="8" name="תיבת טקסט 7">
            <a:extLst>
              <a:ext uri="{FF2B5EF4-FFF2-40B4-BE49-F238E27FC236}">
                <a16:creationId xmlns:a16="http://schemas.microsoft.com/office/drawing/2014/main" id="{EC9AD0CF-D984-94AD-ABDE-3416E783F4FF}"/>
              </a:ext>
            </a:extLst>
          </p:cNvPr>
          <p:cNvSpPr txBox="1"/>
          <p:nvPr/>
        </p:nvSpPr>
        <p:spPr>
          <a:xfrm>
            <a:off x="209549" y="3090696"/>
            <a:ext cx="6677025" cy="3380990"/>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הסבר לי במילים פשוטות מה הנתונים </a:t>
            </a:r>
            <a:r>
              <a:rPr lang="he-IL" sz="1400" dirty="0" err="1">
                <a:latin typeface="Rubik" pitchFamily="2" charset="-79"/>
                <a:cs typeface="Rubik" pitchFamily="2" charset="-79"/>
              </a:rPr>
              <a:t>בגליון</a:t>
            </a:r>
            <a:r>
              <a:rPr lang="he-IL" sz="1400" dirty="0">
                <a:latin typeface="Rubik" pitchFamily="2" charset="-79"/>
                <a:cs typeface="Rubik" pitchFamily="2" charset="-79"/>
              </a:rPr>
              <a:t> מראים. מה שלושת הממצאים החשובים ביותר למנהל? </a:t>
            </a:r>
          </a:p>
          <a:p>
            <a:pPr marL="285750" indent="-285750">
              <a:lnSpc>
                <a:spcPct val="150000"/>
              </a:lnSpc>
              <a:buFont typeface="Arial"/>
              <a:buChar char="•"/>
            </a:pPr>
            <a:r>
              <a:rPr lang="he-IL" sz="1400" dirty="0">
                <a:latin typeface="Rubik" pitchFamily="2" charset="-79"/>
                <a:cs typeface="Rubik" pitchFamily="2" charset="-79"/>
              </a:rPr>
              <a:t>זהה חריגות משמעותיות ביחס לממוצע והצג אותן בטבלה חדשה עם הסבר אפשרי. </a:t>
            </a:r>
          </a:p>
          <a:p>
            <a:pPr marL="285750" indent="-285750">
              <a:lnSpc>
                <a:spcPct val="150000"/>
              </a:lnSpc>
              <a:buFont typeface="Arial"/>
              <a:buChar char="•"/>
            </a:pPr>
            <a:r>
              <a:rPr lang="he-IL" sz="1400" dirty="0">
                <a:latin typeface="Rubik" pitchFamily="2" charset="-79"/>
                <a:cs typeface="Rubik" pitchFamily="2" charset="-79"/>
              </a:rPr>
              <a:t>האם יש יחידות/מרפאות/תקופות שחורגות בצורה עקבית? סכם בתובנות. </a:t>
            </a:r>
          </a:p>
          <a:p>
            <a:pPr marL="285750" indent="-285750">
              <a:lnSpc>
                <a:spcPct val="150000"/>
              </a:lnSpc>
              <a:buFont typeface="Arial"/>
              <a:buChar char="•"/>
            </a:pPr>
            <a:r>
              <a:rPr lang="he-IL" sz="1400" dirty="0">
                <a:latin typeface="Rubik" pitchFamily="2" charset="-79"/>
                <a:cs typeface="Rubik" pitchFamily="2" charset="-79"/>
              </a:rPr>
              <a:t>כתוב סיכום ניהולי: מה עובד טוב | מה מדאיג | איפה כדאי להתמקד בשיפור. </a:t>
            </a:r>
          </a:p>
          <a:p>
            <a:pPr marL="285750" indent="-285750">
              <a:lnSpc>
                <a:spcPct val="150000"/>
              </a:lnSpc>
              <a:buFont typeface="Arial"/>
              <a:buChar char="•"/>
            </a:pPr>
            <a:r>
              <a:rPr lang="he-IL" sz="1400" dirty="0">
                <a:latin typeface="Rubik" pitchFamily="2" charset="-79"/>
                <a:cs typeface="Rubik" pitchFamily="2" charset="-79"/>
              </a:rPr>
              <a:t>אם הייתי צריך להציג את הנתונים להנהלה - איזה 3 גרפים היית מציע ולמה? </a:t>
            </a:r>
          </a:p>
          <a:p>
            <a:pPr marL="285750" indent="-285750">
              <a:lnSpc>
                <a:spcPct val="150000"/>
              </a:lnSpc>
              <a:buFont typeface="Arial"/>
              <a:buChar char="•"/>
            </a:pPr>
            <a:r>
              <a:rPr lang="he-IL" sz="1400" dirty="0">
                <a:latin typeface="Rubik" pitchFamily="2" charset="-79"/>
                <a:cs typeface="Rubik" pitchFamily="2" charset="-79"/>
              </a:rPr>
              <a:t>הצע נוסחה לחישוב חריגה חודשית מהיעד והסבר במילים פשוטות מה היא עושה. </a:t>
            </a:r>
          </a:p>
          <a:p>
            <a:pPr marL="285750" indent="-285750">
              <a:lnSpc>
                <a:spcPct val="150000"/>
              </a:lnSpc>
              <a:buFont typeface="Arial"/>
              <a:buChar char="•"/>
            </a:pPr>
            <a:r>
              <a:rPr lang="he-IL" sz="1400" dirty="0">
                <a:latin typeface="Rubik" pitchFamily="2" charset="-79"/>
                <a:cs typeface="Rubik" pitchFamily="2" charset="-79"/>
              </a:rPr>
              <a:t>בנה עמודת עזר שמסווגת כל שורה ל:תקין / חריגה קלה / חריגה חמורה, על בסיס עמודות?</a:t>
            </a:r>
          </a:p>
        </p:txBody>
      </p:sp>
      <p:sp>
        <p:nvSpPr>
          <p:cNvPr id="5" name="תיבת טקסט 4">
            <a:extLst>
              <a:ext uri="{FF2B5EF4-FFF2-40B4-BE49-F238E27FC236}">
                <a16:creationId xmlns:a16="http://schemas.microsoft.com/office/drawing/2014/main" id="{5B177DEA-F675-6453-1FD9-2B3EAA4E8417}"/>
              </a:ext>
            </a:extLst>
          </p:cNvPr>
          <p:cNvSpPr txBox="1"/>
          <p:nvPr/>
        </p:nvSpPr>
        <p:spPr>
          <a:xfrm>
            <a:off x="5060664" y="2120950"/>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Excel</a:t>
            </a:r>
            <a:endParaRPr lang="he-IL" sz="2000" i="0" dirty="0">
              <a:effectLst/>
              <a:latin typeface="Rubik" pitchFamily="2" charset="-79"/>
              <a:cs typeface="Rubik" pitchFamily="2" charset="-79"/>
            </a:endParaRPr>
          </a:p>
        </p:txBody>
      </p:sp>
      <p:pic>
        <p:nvPicPr>
          <p:cNvPr id="9" name="Picture 2" descr="Excel upload Icons, Logos, Symbols – Free Download PNG, SVG">
            <a:extLst>
              <a:ext uri="{FF2B5EF4-FFF2-40B4-BE49-F238E27FC236}">
                <a16:creationId xmlns:a16="http://schemas.microsoft.com/office/drawing/2014/main" id="{897F17AC-1E64-F180-AC96-D291DBFEF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1359" y="1209444"/>
            <a:ext cx="869281" cy="869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2228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0ACD2-C592-FF6B-84FF-9225C8A6FC8C}"/>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733A750B-74AB-4C01-B2FD-5153E4A8971D}"/>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246E4BF4-7C27-AE7A-1E79-4BE8FE393CC2}"/>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העוזר האישי שלכם!</a:t>
            </a:r>
          </a:p>
        </p:txBody>
      </p:sp>
      <p:sp>
        <p:nvSpPr>
          <p:cNvPr id="8" name="תיבת טקסט 7">
            <a:extLst>
              <a:ext uri="{FF2B5EF4-FFF2-40B4-BE49-F238E27FC236}">
                <a16:creationId xmlns:a16="http://schemas.microsoft.com/office/drawing/2014/main" id="{BFF120C7-55BF-A9C0-004A-B4BA366506A8}"/>
              </a:ext>
            </a:extLst>
          </p:cNvPr>
          <p:cNvSpPr txBox="1"/>
          <p:nvPr/>
        </p:nvSpPr>
        <p:spPr>
          <a:xfrm>
            <a:off x="1200150" y="2871621"/>
            <a:ext cx="10558990" cy="3704156"/>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עזור לי </a:t>
            </a:r>
            <a:r>
              <a:rPr lang="he-IL" sz="1400" dirty="0" err="1">
                <a:latin typeface="Rubik" pitchFamily="2" charset="-79"/>
                <a:cs typeface="Rubik" pitchFamily="2" charset="-79"/>
              </a:rPr>
              <a:t>לתעדף</a:t>
            </a:r>
            <a:r>
              <a:rPr lang="he-IL" sz="1400" dirty="0">
                <a:latin typeface="Rubik" pitchFamily="2" charset="-79"/>
                <a:cs typeface="Rubik" pitchFamily="2" charset="-79"/>
              </a:rPr>
              <a:t> את המשימות שלי לשבוע הקרוב. חלק לדחוף / חשוב / יכול לחכות. </a:t>
            </a:r>
          </a:p>
          <a:p>
            <a:pPr marL="285750" indent="-285750">
              <a:lnSpc>
                <a:spcPct val="150000"/>
              </a:lnSpc>
              <a:buFont typeface="Arial"/>
              <a:buChar char="•"/>
            </a:pPr>
            <a:r>
              <a:rPr lang="he-IL" sz="1400" dirty="0">
                <a:latin typeface="Rubik" pitchFamily="2" charset="-79"/>
                <a:cs typeface="Rubik" pitchFamily="2" charset="-79"/>
              </a:rPr>
              <a:t>סכם יתרונות וחסרונות של האפשרויות הבאות והצע כיוון פעולה מנומק: _____. </a:t>
            </a:r>
          </a:p>
          <a:p>
            <a:pPr marL="285750" indent="-285750">
              <a:lnSpc>
                <a:spcPct val="150000"/>
              </a:lnSpc>
              <a:buFont typeface="Arial"/>
              <a:buChar char="•"/>
            </a:pPr>
            <a:r>
              <a:rPr lang="he-IL" sz="1400" dirty="0">
                <a:latin typeface="Rubik" pitchFamily="2" charset="-79"/>
                <a:cs typeface="Rubik" pitchFamily="2" charset="-79"/>
              </a:rPr>
              <a:t>הכן אותי לשיחה מקצועית רגישה: מה חשוב להגיד, ממה להימנע, ואיך לשמור על טון ענייני. </a:t>
            </a:r>
          </a:p>
          <a:p>
            <a:pPr marL="285750" indent="-285750">
              <a:lnSpc>
                <a:spcPct val="150000"/>
              </a:lnSpc>
              <a:buFont typeface="Arial"/>
              <a:buChar char="•"/>
            </a:pPr>
            <a:r>
              <a:rPr lang="he-IL" sz="1400" dirty="0">
                <a:latin typeface="Rubik" pitchFamily="2" charset="-79"/>
                <a:cs typeface="Rubik" pitchFamily="2" charset="-79"/>
              </a:rPr>
              <a:t>הפוך את ההערות הבאות לסיכום מנהלים + הודעה קצרה לצוות:  [הדבק]</a:t>
            </a:r>
          </a:p>
          <a:p>
            <a:pPr marL="285750" indent="-285750">
              <a:lnSpc>
                <a:spcPct val="150000"/>
              </a:lnSpc>
              <a:buFont typeface="Arial"/>
              <a:buChar char="•"/>
            </a:pPr>
            <a:r>
              <a:rPr lang="he-IL" sz="1400" dirty="0">
                <a:latin typeface="Rubik" pitchFamily="2" charset="-79"/>
                <a:cs typeface="Rubik" pitchFamily="2" charset="-79"/>
              </a:rPr>
              <a:t>הסבר את הנושא הבא בשפה פשוטה כך שכל עובד יבין: _____. </a:t>
            </a:r>
          </a:p>
          <a:p>
            <a:pPr marL="285750" indent="-285750">
              <a:lnSpc>
                <a:spcPct val="150000"/>
              </a:lnSpc>
              <a:buFont typeface="Arial"/>
              <a:buChar char="•"/>
            </a:pPr>
            <a:r>
              <a:rPr lang="he-IL" sz="1400" dirty="0">
                <a:latin typeface="Rubik" pitchFamily="2" charset="-79"/>
                <a:cs typeface="Rubik" pitchFamily="2" charset="-79"/>
              </a:rPr>
              <a:t>איפה דיברנו על נושא </a:t>
            </a:r>
            <a:r>
              <a:rPr lang="en-US" sz="1400" dirty="0">
                <a:latin typeface="Rubik" pitchFamily="2" charset="-79"/>
                <a:cs typeface="Rubik" pitchFamily="2" charset="-79"/>
              </a:rPr>
              <a:t>X ? </a:t>
            </a:r>
            <a:r>
              <a:rPr lang="he-IL" sz="1400" dirty="0">
                <a:latin typeface="Rubik" pitchFamily="2" charset="-79"/>
                <a:cs typeface="Rubik" pitchFamily="2" charset="-79"/>
              </a:rPr>
              <a:t>תביא 3 מקורות (מסמך/מייל/פגישה) ותמצית מכל מקור. </a:t>
            </a:r>
          </a:p>
          <a:p>
            <a:pPr marL="285750" indent="-285750">
              <a:lnSpc>
                <a:spcPct val="150000"/>
              </a:lnSpc>
              <a:buFont typeface="Arial"/>
              <a:buChar char="•"/>
            </a:pPr>
            <a:r>
              <a:rPr lang="he-IL" sz="1400" dirty="0">
                <a:latin typeface="Rubik" pitchFamily="2" charset="-79"/>
                <a:cs typeface="Rubik" pitchFamily="2" charset="-79"/>
              </a:rPr>
              <a:t>מצא את המסמך/הקובץ האחרון שכולל את המונח ____ והסבר בקצרה מה יש בו. </a:t>
            </a:r>
          </a:p>
          <a:p>
            <a:pPr marL="285750" indent="-285750">
              <a:lnSpc>
                <a:spcPct val="150000"/>
              </a:lnSpc>
              <a:buFont typeface="Arial"/>
              <a:buChar char="•"/>
            </a:pPr>
            <a:r>
              <a:rPr lang="he-IL" sz="1400" dirty="0">
                <a:latin typeface="Rubik" pitchFamily="2" charset="-79"/>
                <a:cs typeface="Rubik" pitchFamily="2" charset="-79"/>
              </a:rPr>
              <a:t>ספק לי תמונת מצב על פרויקט </a:t>
            </a:r>
            <a:r>
              <a:rPr lang="en-US" sz="1400" dirty="0">
                <a:latin typeface="Rubik" pitchFamily="2" charset="-79"/>
                <a:cs typeface="Rubik" pitchFamily="2" charset="-79"/>
              </a:rPr>
              <a:t>X , </a:t>
            </a:r>
            <a:r>
              <a:rPr lang="he-IL" sz="1400" dirty="0">
                <a:latin typeface="Rubik" pitchFamily="2" charset="-79"/>
                <a:cs typeface="Rubik" pitchFamily="2" charset="-79"/>
              </a:rPr>
              <a:t>מה חדש, מה חסום, מה משימות פתוחות. </a:t>
            </a:r>
          </a:p>
          <a:p>
            <a:pPr marL="285750" indent="-285750">
              <a:lnSpc>
                <a:spcPct val="150000"/>
              </a:lnSpc>
              <a:buFont typeface="Arial"/>
              <a:buChar char="•"/>
            </a:pPr>
            <a:r>
              <a:rPr lang="he-IL" sz="1400" dirty="0">
                <a:latin typeface="Rubik" pitchFamily="2" charset="-79"/>
                <a:cs typeface="Rubik" pitchFamily="2" charset="-79"/>
              </a:rPr>
              <a:t>השווה בין שני הקבצים המצורפים והצג הבדלים מהותיים בטבלה. </a:t>
            </a:r>
          </a:p>
          <a:p>
            <a:pPr marL="285750" indent="-285750">
              <a:lnSpc>
                <a:spcPct val="150000"/>
              </a:lnSpc>
              <a:buFont typeface="Arial"/>
              <a:buChar char="•"/>
            </a:pPr>
            <a:r>
              <a:rPr lang="he-IL" sz="1400" dirty="0">
                <a:latin typeface="Rubik" pitchFamily="2" charset="-79"/>
                <a:cs typeface="Rubik" pitchFamily="2" charset="-79"/>
              </a:rPr>
              <a:t>סכם לי את המסמך המצורף ל-7 נקודות + המלצות. </a:t>
            </a:r>
            <a:endParaRPr lang="en-US" sz="1400" dirty="0">
              <a:latin typeface="Rubik" pitchFamily="2" charset="-79"/>
              <a:cs typeface="Rubik" pitchFamily="2" charset="-79"/>
            </a:endParaRPr>
          </a:p>
        </p:txBody>
      </p:sp>
      <p:sp>
        <p:nvSpPr>
          <p:cNvPr id="5" name="תיבת טקסט 4">
            <a:extLst>
              <a:ext uri="{FF2B5EF4-FFF2-40B4-BE49-F238E27FC236}">
                <a16:creationId xmlns:a16="http://schemas.microsoft.com/office/drawing/2014/main" id="{A0E0CECD-895D-6CAA-29F8-EE5911A128ED}"/>
              </a:ext>
            </a:extLst>
          </p:cNvPr>
          <p:cNvSpPr txBox="1"/>
          <p:nvPr/>
        </p:nvSpPr>
        <p:spPr>
          <a:xfrm>
            <a:off x="5102128" y="2095091"/>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Chat</a:t>
            </a:r>
            <a:endParaRPr lang="he-IL" sz="2000" i="0" dirty="0">
              <a:effectLst/>
              <a:latin typeface="Rubik" pitchFamily="2" charset="-79"/>
              <a:cs typeface="Rubik" pitchFamily="2" charset="-79"/>
            </a:endParaRPr>
          </a:p>
        </p:txBody>
      </p:sp>
      <p:pic>
        <p:nvPicPr>
          <p:cNvPr id="9" name="Picture 2" descr="Microsoft Copilot Stock Illustrations – 32 Microsoft Copilot ...">
            <a:extLst>
              <a:ext uri="{FF2B5EF4-FFF2-40B4-BE49-F238E27FC236}">
                <a16:creationId xmlns:a16="http://schemas.microsoft.com/office/drawing/2014/main" id="{FA78ED68-7B45-0AFA-EE79-9BFE97FEF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9737" y="1187748"/>
            <a:ext cx="992526" cy="992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097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F161-20E0-CFBC-AF33-26FE9F608584}"/>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6B6BC050-2435-C644-45ED-E94A21723119}"/>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05253902-96E7-C1CE-C77A-2FD0F533DCBF}"/>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כלי לבניית שאלונים פשוטים</a:t>
            </a:r>
          </a:p>
        </p:txBody>
      </p:sp>
      <p:sp>
        <p:nvSpPr>
          <p:cNvPr id="8" name="תיבת טקסט 7">
            <a:extLst>
              <a:ext uri="{FF2B5EF4-FFF2-40B4-BE49-F238E27FC236}">
                <a16:creationId xmlns:a16="http://schemas.microsoft.com/office/drawing/2014/main" id="{985BB0EB-66B8-E131-F373-5A2306A503E9}"/>
              </a:ext>
            </a:extLst>
          </p:cNvPr>
          <p:cNvSpPr txBox="1"/>
          <p:nvPr/>
        </p:nvSpPr>
        <p:spPr>
          <a:xfrm>
            <a:off x="1200150" y="2871621"/>
            <a:ext cx="10558990" cy="1765163"/>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נסח לי 10 שאלות קצרות לסקר בנושא  </a:t>
            </a:r>
            <a:r>
              <a:rPr lang="en-US" sz="1400" dirty="0">
                <a:latin typeface="Rubik" pitchFamily="2" charset="-79"/>
                <a:cs typeface="Rubik" pitchFamily="2" charset="-79"/>
              </a:rPr>
              <a:t>X,</a:t>
            </a:r>
            <a:r>
              <a:rPr lang="he-IL" sz="1400" dirty="0">
                <a:latin typeface="Rubik" pitchFamily="2" charset="-79"/>
                <a:cs typeface="Rubik" pitchFamily="2" charset="-79"/>
              </a:rPr>
              <a:t>תכלול גם שאלה פתוחה אחת</a:t>
            </a:r>
          </a:p>
          <a:p>
            <a:pPr marL="285750" indent="-285750">
              <a:lnSpc>
                <a:spcPct val="150000"/>
              </a:lnSpc>
              <a:buFont typeface="Arial"/>
              <a:buChar char="•"/>
            </a:pPr>
            <a:r>
              <a:rPr lang="he-IL" sz="1400" dirty="0">
                <a:latin typeface="Rubik" pitchFamily="2" charset="-79"/>
                <a:cs typeface="Rubik" pitchFamily="2" charset="-79"/>
              </a:rPr>
              <a:t>הצע מבנה לטופס דיווח תקלות: שדות חובה, שדות רשות, וסדר מילוי. </a:t>
            </a:r>
          </a:p>
          <a:p>
            <a:pPr marL="285750" indent="-285750">
              <a:lnSpc>
                <a:spcPct val="150000"/>
              </a:lnSpc>
              <a:buFont typeface="Arial"/>
              <a:buChar char="•"/>
            </a:pPr>
            <a:r>
              <a:rPr lang="he-IL" sz="1400" dirty="0">
                <a:latin typeface="Rubik" pitchFamily="2" charset="-79"/>
                <a:cs typeface="Rubik" pitchFamily="2" charset="-79"/>
              </a:rPr>
              <a:t>כתוב הודעת הזמנה למילוי סקר בטון ידידותי וקצר.</a:t>
            </a:r>
          </a:p>
          <a:p>
            <a:pPr marL="285750" indent="-285750">
              <a:lnSpc>
                <a:spcPct val="150000"/>
              </a:lnSpc>
              <a:buFont typeface="Arial"/>
              <a:buChar char="•"/>
            </a:pPr>
            <a:endParaRPr lang="en-US" sz="14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11881C72-2677-42EE-E251-E824B32675DE}"/>
              </a:ext>
            </a:extLst>
          </p:cNvPr>
          <p:cNvSpPr txBox="1"/>
          <p:nvPr/>
        </p:nvSpPr>
        <p:spPr>
          <a:xfrm>
            <a:off x="5062691" y="2123834"/>
            <a:ext cx="2070672" cy="338554"/>
          </a:xfrm>
          <a:prstGeom prst="rect">
            <a:avLst/>
          </a:prstGeom>
          <a:noFill/>
        </p:spPr>
        <p:txBody>
          <a:bodyPr wrap="square" rtlCol="0">
            <a:spAutoFit/>
          </a:bodyPr>
          <a:lstStyle/>
          <a:p>
            <a:pPr algn="ctr" rtl="0"/>
            <a:r>
              <a:rPr lang="en-US" sz="1600" b="1" i="0" dirty="0">
                <a:effectLst/>
                <a:latin typeface="Rubik" pitchFamily="2" charset="-79"/>
                <a:cs typeface="Rubik" pitchFamily="2" charset="-79"/>
              </a:rPr>
              <a:t>Forms</a:t>
            </a:r>
            <a:endParaRPr lang="he-IL" sz="2000" i="0" dirty="0">
              <a:effectLst/>
              <a:latin typeface="Rubik" pitchFamily="2" charset="-79"/>
              <a:cs typeface="Rubik" pitchFamily="2" charset="-79"/>
            </a:endParaRPr>
          </a:p>
        </p:txBody>
      </p:sp>
      <p:pic>
        <p:nvPicPr>
          <p:cNvPr id="7" name="Picture 2" descr="Microsoft Forms Icon - Customizable Forms Icons for Your ...">
            <a:extLst>
              <a:ext uri="{FF2B5EF4-FFF2-40B4-BE49-F238E27FC236}">
                <a16:creationId xmlns:a16="http://schemas.microsoft.com/office/drawing/2014/main" id="{047BEDE1-6BA4-764D-0B75-3AA544EC7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731" y="1253496"/>
            <a:ext cx="961532" cy="961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06383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81C8-D714-ADE5-5492-0344CD35FB99}"/>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F3B80B48-8097-12F1-698A-5E034316453C}"/>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204CF227-69C4-DD94-DCC4-23B48B0DC09A}"/>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כלי לניהול משימות/תוכניות/זמנים</a:t>
            </a:r>
          </a:p>
        </p:txBody>
      </p:sp>
      <p:sp>
        <p:nvSpPr>
          <p:cNvPr id="8" name="תיבת טקסט 7">
            <a:extLst>
              <a:ext uri="{FF2B5EF4-FFF2-40B4-BE49-F238E27FC236}">
                <a16:creationId xmlns:a16="http://schemas.microsoft.com/office/drawing/2014/main" id="{605984A7-96B4-8E9D-7542-8739EC4B3B30}"/>
              </a:ext>
            </a:extLst>
          </p:cNvPr>
          <p:cNvSpPr txBox="1"/>
          <p:nvPr/>
        </p:nvSpPr>
        <p:spPr>
          <a:xfrm>
            <a:off x="1200150" y="2871621"/>
            <a:ext cx="10558990" cy="1765163"/>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חלץ מתוך הטקסט הבא משימות והצע תאריכי יעד</a:t>
            </a:r>
          </a:p>
          <a:p>
            <a:pPr marL="285750" indent="-285750">
              <a:lnSpc>
                <a:spcPct val="150000"/>
              </a:lnSpc>
              <a:buFont typeface="Arial"/>
              <a:buChar char="•"/>
            </a:pPr>
            <a:r>
              <a:rPr lang="he-IL" sz="1400" dirty="0">
                <a:latin typeface="Rubik" pitchFamily="2" charset="-79"/>
                <a:cs typeface="Rubik" pitchFamily="2" charset="-79"/>
              </a:rPr>
              <a:t>בנה רשימת משימות לפי קטגוריות: דחוף/חשוב/שגרתי. </a:t>
            </a:r>
          </a:p>
          <a:p>
            <a:pPr marL="285750" indent="-285750">
              <a:lnSpc>
                <a:spcPct val="150000"/>
              </a:lnSpc>
              <a:buFont typeface="Arial"/>
              <a:buChar char="•"/>
            </a:pPr>
            <a:r>
              <a:rPr lang="he-IL" sz="1400" dirty="0">
                <a:latin typeface="Rubik" pitchFamily="2" charset="-79"/>
                <a:cs typeface="Rubik" pitchFamily="2" charset="-79"/>
              </a:rPr>
              <a:t>הכן הודעה לצוות עם 5 משימות השבוע ומי אחראי על מה. </a:t>
            </a:r>
          </a:p>
          <a:p>
            <a:pPr marL="285750" indent="-285750">
              <a:lnSpc>
                <a:spcPct val="150000"/>
              </a:lnSpc>
              <a:buFont typeface="Arial"/>
              <a:buChar char="•"/>
            </a:pPr>
            <a:endParaRPr lang="en-US" sz="1400" dirty="0">
              <a:latin typeface="Rubik" pitchFamily="2" charset="-79"/>
              <a:cs typeface="Rubik" pitchFamily="2" charset="-79"/>
            </a:endParaRPr>
          </a:p>
        </p:txBody>
      </p:sp>
      <p:sp>
        <p:nvSpPr>
          <p:cNvPr id="5" name="תיבת טקסט 4">
            <a:extLst>
              <a:ext uri="{FF2B5EF4-FFF2-40B4-BE49-F238E27FC236}">
                <a16:creationId xmlns:a16="http://schemas.microsoft.com/office/drawing/2014/main" id="{530CEFF9-45AA-1492-62B2-92401A6CE55A}"/>
              </a:ext>
            </a:extLst>
          </p:cNvPr>
          <p:cNvSpPr txBox="1"/>
          <p:nvPr/>
        </p:nvSpPr>
        <p:spPr>
          <a:xfrm>
            <a:off x="5062691" y="2123834"/>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Planner</a:t>
            </a:r>
            <a:endParaRPr lang="he-IL" sz="2000" i="0" dirty="0">
              <a:effectLst/>
              <a:latin typeface="Rubik" pitchFamily="2" charset="-79"/>
              <a:cs typeface="Rubik" pitchFamily="2" charset="-79"/>
            </a:endParaRPr>
          </a:p>
        </p:txBody>
      </p:sp>
      <p:pic>
        <p:nvPicPr>
          <p:cNvPr id="9" name="Picture 12" descr="Mastering Organization: How to Use Microsoft Planner">
            <a:extLst>
              <a:ext uri="{FF2B5EF4-FFF2-40B4-BE49-F238E27FC236}">
                <a16:creationId xmlns:a16="http://schemas.microsoft.com/office/drawing/2014/main" id="{A1D15E79-9E88-E4A6-6590-1E125C5E6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4931" y="1405550"/>
            <a:ext cx="727242" cy="727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5404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9540-9B67-BA9F-B96F-70FADB9926D6}"/>
            </a:ext>
          </a:extLst>
        </p:cNvPr>
        <p:cNvGrpSpPr/>
        <p:nvPr/>
      </p:nvGrpSpPr>
      <p:grpSpPr>
        <a:xfrm>
          <a:off x="0" y="0"/>
          <a:ext cx="0" cy="0"/>
          <a:chOff x="0" y="0"/>
          <a:chExt cx="0" cy="0"/>
        </a:xfrm>
      </p:grpSpPr>
      <p:sp>
        <p:nvSpPr>
          <p:cNvPr id="24" name="תיבת טקסט 23">
            <a:extLst>
              <a:ext uri="{FF2B5EF4-FFF2-40B4-BE49-F238E27FC236}">
                <a16:creationId xmlns:a16="http://schemas.microsoft.com/office/drawing/2014/main" id="{A8ADD91A-0C62-C608-0B85-1E7CAA5F0F98}"/>
              </a:ext>
            </a:extLst>
          </p:cNvPr>
          <p:cNvSpPr txBox="1"/>
          <p:nvPr/>
        </p:nvSpPr>
        <p:spPr>
          <a:xfrm>
            <a:off x="2037144" y="664528"/>
            <a:ext cx="9721996" cy="523220"/>
          </a:xfrm>
          <a:prstGeom prst="rect">
            <a:avLst/>
          </a:prstGeom>
          <a:noFill/>
        </p:spPr>
        <p:txBody>
          <a:bodyPr wrap="square" rtlCol="0">
            <a:spAutoFit/>
          </a:bodyPr>
          <a:lstStyle/>
          <a:p>
            <a:r>
              <a:rPr lang="he-IL" sz="2800" b="1" dirty="0">
                <a:solidFill>
                  <a:srgbClr val="F47221"/>
                </a:solidFill>
                <a:latin typeface="Rubik Black" pitchFamily="2" charset="-79"/>
                <a:cs typeface="Rubik Black" pitchFamily="2" charset="-79"/>
              </a:rPr>
              <a:t>כלי </a:t>
            </a:r>
            <a:r>
              <a:rPr lang="en-US" sz="2800" b="1" dirty="0">
                <a:solidFill>
                  <a:srgbClr val="F47221"/>
                </a:solidFill>
                <a:latin typeface="Rubik Black" pitchFamily="2" charset="-79"/>
                <a:cs typeface="Rubik Black" pitchFamily="2" charset="-79"/>
              </a:rPr>
              <a:t>AI</a:t>
            </a:r>
            <a:r>
              <a:rPr lang="he-IL" sz="2800" b="1" dirty="0">
                <a:solidFill>
                  <a:srgbClr val="F47221"/>
                </a:solidFill>
                <a:latin typeface="Rubik Black" pitchFamily="2" charset="-79"/>
                <a:cs typeface="Rubik Black" pitchFamily="2" charset="-79"/>
              </a:rPr>
              <a:t> לשיפור העבודה היומיומית</a:t>
            </a:r>
            <a:endParaRPr lang="LID4096" sz="2800" b="1" dirty="0">
              <a:solidFill>
                <a:srgbClr val="F47221"/>
              </a:solidFill>
              <a:latin typeface="Rubik Black" pitchFamily="2" charset="-79"/>
              <a:cs typeface="Rubik Black" pitchFamily="2" charset="-79"/>
            </a:endParaRPr>
          </a:p>
        </p:txBody>
      </p:sp>
      <p:sp>
        <p:nvSpPr>
          <p:cNvPr id="6" name="תיבת טקסט 5">
            <a:extLst>
              <a:ext uri="{FF2B5EF4-FFF2-40B4-BE49-F238E27FC236}">
                <a16:creationId xmlns:a16="http://schemas.microsoft.com/office/drawing/2014/main" id="{88078565-9B99-C28B-2328-196888B0AAD3}"/>
              </a:ext>
            </a:extLst>
          </p:cNvPr>
          <p:cNvSpPr txBox="1"/>
          <p:nvPr/>
        </p:nvSpPr>
        <p:spPr>
          <a:xfrm>
            <a:off x="3848337" y="2462388"/>
            <a:ext cx="4495327" cy="369332"/>
          </a:xfrm>
          <a:prstGeom prst="rect">
            <a:avLst/>
          </a:prstGeom>
          <a:noFill/>
        </p:spPr>
        <p:txBody>
          <a:bodyPr wrap="square" rtlCol="0">
            <a:spAutoFit/>
          </a:bodyPr>
          <a:lstStyle/>
          <a:p>
            <a:pPr algn="ctr"/>
            <a:r>
              <a:rPr lang="he-IL" b="1" i="0" dirty="0">
                <a:solidFill>
                  <a:srgbClr val="009CE1"/>
                </a:solidFill>
                <a:effectLst/>
                <a:latin typeface="Rubik" pitchFamily="2" charset="-79"/>
                <a:cs typeface="Rubik" pitchFamily="2" charset="-79"/>
              </a:rPr>
              <a:t>כלי לשיתוף מידע ובניית תהליכים משותפים</a:t>
            </a:r>
          </a:p>
        </p:txBody>
      </p:sp>
      <p:sp>
        <p:nvSpPr>
          <p:cNvPr id="8" name="תיבת טקסט 7">
            <a:extLst>
              <a:ext uri="{FF2B5EF4-FFF2-40B4-BE49-F238E27FC236}">
                <a16:creationId xmlns:a16="http://schemas.microsoft.com/office/drawing/2014/main" id="{B96C48C1-428A-BD57-4DCD-E07D66364E57}"/>
              </a:ext>
            </a:extLst>
          </p:cNvPr>
          <p:cNvSpPr txBox="1"/>
          <p:nvPr/>
        </p:nvSpPr>
        <p:spPr>
          <a:xfrm>
            <a:off x="1200150" y="2871621"/>
            <a:ext cx="10558990" cy="1765163"/>
          </a:xfrm>
          <a:prstGeom prst="rect">
            <a:avLst/>
          </a:prstGeom>
          <a:noFill/>
        </p:spPr>
        <p:txBody>
          <a:bodyPr wrap="square" rtlCol="0">
            <a:spAutoFit/>
          </a:bodyPr>
          <a:lstStyle/>
          <a:p>
            <a:pPr>
              <a:lnSpc>
                <a:spcPct val="150000"/>
              </a:lnSpc>
            </a:pPr>
            <a:r>
              <a:rPr lang="he-IL" b="1" dirty="0" err="1">
                <a:latin typeface="Rubik" pitchFamily="2" charset="-79"/>
                <a:cs typeface="Rubik" pitchFamily="2" charset="-79"/>
              </a:rPr>
              <a:t>פרומפטים</a:t>
            </a:r>
            <a:r>
              <a:rPr lang="he-IL" b="1" dirty="0">
                <a:latin typeface="Rubik" pitchFamily="2" charset="-79"/>
                <a:cs typeface="Rubik" pitchFamily="2" charset="-79"/>
              </a:rPr>
              <a:t> לדוגמה:</a:t>
            </a:r>
          </a:p>
          <a:p>
            <a:pPr marL="285750" indent="-285750">
              <a:lnSpc>
                <a:spcPct val="150000"/>
              </a:lnSpc>
              <a:buFont typeface="Arial"/>
              <a:buChar char="•"/>
            </a:pPr>
            <a:r>
              <a:rPr lang="he-IL" sz="1400" dirty="0">
                <a:latin typeface="Rubik" pitchFamily="2" charset="-79"/>
                <a:cs typeface="Rubik" pitchFamily="2" charset="-79"/>
              </a:rPr>
              <a:t>הפוך את הרשימה הבאה </a:t>
            </a:r>
            <a:r>
              <a:rPr lang="he-IL" sz="1400" dirty="0" err="1">
                <a:latin typeface="Rubik" pitchFamily="2" charset="-79"/>
                <a:cs typeface="Rubik" pitchFamily="2" charset="-79"/>
              </a:rPr>
              <a:t>לתכנית</a:t>
            </a:r>
            <a:r>
              <a:rPr lang="he-IL" sz="1400" dirty="0">
                <a:latin typeface="Rubik" pitchFamily="2" charset="-79"/>
                <a:cs typeface="Rubik" pitchFamily="2" charset="-79"/>
              </a:rPr>
              <a:t> עבודה ב-</a:t>
            </a:r>
            <a:r>
              <a:rPr lang="en-US" sz="1400" dirty="0">
                <a:latin typeface="Rubik" pitchFamily="2" charset="-79"/>
                <a:cs typeface="Rubik" pitchFamily="2" charset="-79"/>
              </a:rPr>
              <a:t>Loop: </a:t>
            </a:r>
            <a:r>
              <a:rPr lang="he-IL" sz="1400" dirty="0">
                <a:latin typeface="Rubik" pitchFamily="2" charset="-79"/>
                <a:cs typeface="Rubik" pitchFamily="2" charset="-79"/>
              </a:rPr>
              <a:t>מטרות, אבני דרך, אחריות, תלויות</a:t>
            </a:r>
          </a:p>
          <a:p>
            <a:pPr marL="285750" indent="-285750">
              <a:lnSpc>
                <a:spcPct val="150000"/>
              </a:lnSpc>
              <a:buFont typeface="Arial"/>
              <a:buChar char="•"/>
            </a:pPr>
            <a:r>
              <a:rPr lang="he-IL" sz="1400" dirty="0">
                <a:latin typeface="Rubik" pitchFamily="2" charset="-79"/>
                <a:cs typeface="Rubik" pitchFamily="2" charset="-79"/>
              </a:rPr>
              <a:t>בנה טבלת החלטות לישיבת הנהלה: נושא | החלטה | </a:t>
            </a:r>
            <a:r>
              <a:rPr lang="en-US" sz="1400" dirty="0">
                <a:latin typeface="Rubik" pitchFamily="2" charset="-79"/>
                <a:cs typeface="Rubik" pitchFamily="2" charset="-79"/>
              </a:rPr>
              <a:t> |  Owner</a:t>
            </a:r>
            <a:r>
              <a:rPr lang="he-IL" sz="1400" dirty="0" err="1">
                <a:latin typeface="Rubik" pitchFamily="2" charset="-79"/>
                <a:cs typeface="Rubik" pitchFamily="2" charset="-79"/>
              </a:rPr>
              <a:t>דדליין</a:t>
            </a:r>
            <a:r>
              <a:rPr lang="he-IL" sz="1400" dirty="0">
                <a:latin typeface="Rubik" pitchFamily="2" charset="-79"/>
                <a:cs typeface="Rubik" pitchFamily="2" charset="-79"/>
              </a:rPr>
              <a:t> | סטטוס. </a:t>
            </a:r>
          </a:p>
          <a:p>
            <a:pPr marL="285750" indent="-285750">
              <a:lnSpc>
                <a:spcPct val="150000"/>
              </a:lnSpc>
              <a:buFont typeface="Arial"/>
              <a:buChar char="•"/>
            </a:pPr>
            <a:r>
              <a:rPr lang="he-IL" sz="1400" dirty="0">
                <a:latin typeface="Rubik" pitchFamily="2" charset="-79"/>
                <a:cs typeface="Rubik" pitchFamily="2" charset="-79"/>
              </a:rPr>
              <a:t>סכם את הדיון הבא לעדכונים + החלטות + פתוחים</a:t>
            </a:r>
          </a:p>
          <a:p>
            <a:pPr marL="285750" indent="-285750">
              <a:lnSpc>
                <a:spcPct val="150000"/>
              </a:lnSpc>
              <a:buFont typeface="Arial"/>
              <a:buChar char="•"/>
            </a:pPr>
            <a:endParaRPr lang="en-US" sz="1400" dirty="0">
              <a:latin typeface="Rubik" pitchFamily="2" charset="-79"/>
              <a:cs typeface="Rubik" pitchFamily="2" charset="-79"/>
            </a:endParaRPr>
          </a:p>
        </p:txBody>
      </p:sp>
      <p:sp>
        <p:nvSpPr>
          <p:cNvPr id="4" name="תיבת טקסט 3">
            <a:extLst>
              <a:ext uri="{FF2B5EF4-FFF2-40B4-BE49-F238E27FC236}">
                <a16:creationId xmlns:a16="http://schemas.microsoft.com/office/drawing/2014/main" id="{D4593AAD-C384-CF5D-10C1-23BBCCE12757}"/>
              </a:ext>
            </a:extLst>
          </p:cNvPr>
          <p:cNvSpPr txBox="1"/>
          <p:nvPr/>
        </p:nvSpPr>
        <p:spPr>
          <a:xfrm>
            <a:off x="5037825" y="2123834"/>
            <a:ext cx="2070672" cy="338554"/>
          </a:xfrm>
          <a:prstGeom prst="rect">
            <a:avLst/>
          </a:prstGeom>
          <a:noFill/>
        </p:spPr>
        <p:txBody>
          <a:bodyPr wrap="square" rtlCol="0">
            <a:spAutoFit/>
          </a:bodyPr>
          <a:lstStyle/>
          <a:p>
            <a:pPr algn="ctr"/>
            <a:r>
              <a:rPr lang="en-US" sz="1600" b="1" i="0" dirty="0">
                <a:effectLst/>
                <a:latin typeface="Rubik" pitchFamily="2" charset="-79"/>
                <a:cs typeface="Rubik" pitchFamily="2" charset="-79"/>
              </a:rPr>
              <a:t>Loop</a:t>
            </a:r>
            <a:endParaRPr lang="he-IL" sz="2000" i="0" dirty="0">
              <a:effectLst/>
              <a:latin typeface="Rubik" pitchFamily="2" charset="-79"/>
              <a:cs typeface="Rubik" pitchFamily="2" charset="-79"/>
            </a:endParaRPr>
          </a:p>
        </p:txBody>
      </p:sp>
      <p:pic>
        <p:nvPicPr>
          <p:cNvPr id="7" name="Picture 6" descr="Expert Microsoft Loop : outil collaboration temps réel Microsoft 365">
            <a:extLst>
              <a:ext uri="{FF2B5EF4-FFF2-40B4-BE49-F238E27FC236}">
                <a16:creationId xmlns:a16="http://schemas.microsoft.com/office/drawing/2014/main" id="{71A1FC1F-0F96-ABCA-53C0-D8D28026B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0493" y="1339305"/>
            <a:ext cx="811014" cy="811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29319"/>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מסמך" ma:contentTypeID="0x0101008F2B7C84A18DFC44908A49D038C45C41" ma:contentTypeVersion="243" ma:contentTypeDescription="צור מסמך חדש." ma:contentTypeScope="" ma:versionID="6f5a8125debd1830476380aec2566ae9">
  <xsd:schema xmlns:xsd="http://www.w3.org/2001/XMLSchema" xmlns:xs="http://www.w3.org/2001/XMLSchema" xmlns:p="http://schemas.microsoft.com/office/2006/metadata/properties" xmlns:ns2="99204534-1384-4b3b-99bf-42ea6966beea" xmlns:ns3="c42bb2a1-ffd1-47b8-87fd-b1268cce8562" targetNamespace="http://schemas.microsoft.com/office/2006/metadata/properties" ma:root="true" ma:fieldsID="f33057092282f20c1ad27766e9db2484" ns2:_="" ns3:_="">
    <xsd:import namespace="99204534-1384-4b3b-99bf-42ea6966beea"/>
    <xsd:import namespace="c42bb2a1-ffd1-47b8-87fd-b1268cce856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sMyDocuments" minOccurs="0"/>
                <xsd:element ref="ns2:SharedWithInternalId" minOccurs="0"/>
                <xsd:element ref="ns2:SharedWithInternalStringId" minOccurs="0"/>
                <xsd:element ref="ns2:MediaServiceAutoTags0" minOccurs="0"/>
                <xsd:element ref="ns2:MediaServiceOCR0" minOccurs="0"/>
                <xsd:element ref="ns2:MediaServiceAutoTags1" minOccurs="0"/>
                <xsd:element ref="ns2:MediaServiceAutoTags2" minOccurs="0"/>
                <xsd:element ref="ns2:MediaServiceOCR1" minOccurs="0"/>
                <xsd:element ref="ns2:MediaServiceAutoTags3" minOccurs="0"/>
                <xsd:element ref="ns2:MediaServiceAutoTags4" minOccurs="0"/>
                <xsd:element ref="ns2:MediaServiceAutoTags5" minOccurs="0"/>
                <xsd:element ref="ns2:MediaServiceOCR2" minOccurs="0"/>
                <xsd:element ref="ns2:MediaServiceAutoTags6" minOccurs="0"/>
                <xsd:element ref="ns2:MediaServiceAutoTags7" minOccurs="0"/>
                <xsd:element ref="ns2:MediaServiceKeyPoints0" minOccurs="0"/>
                <xsd:element ref="ns2:MediaServiceAutoTags8" minOccurs="0"/>
                <xsd:element ref="ns2:MediaServiceOCR3" minOccurs="0"/>
                <xsd:element ref="ns2:MediaServiceAutoTags9" minOccurs="0"/>
                <xsd:element ref="ns2:MediaServiceOCR4" minOccurs="0"/>
                <xsd:element ref="ns2:MediaServiceKeyPoints1" minOccurs="0"/>
                <xsd:element ref="ns2:MediaServiceOCR5" minOccurs="0"/>
                <xsd:element ref="ns2:MediaServiceOCR6" minOccurs="0"/>
                <xsd:element ref="ns2:MediaServiceKeyPoints2" minOccurs="0"/>
                <xsd:element ref="ns2:MediaServiceOCR7" minOccurs="0"/>
                <xsd:element ref="ns2:MediaServiceKeyPoints3" minOccurs="0"/>
                <xsd:element ref="ns2:MediaServiceLocation0" minOccurs="0"/>
                <xsd:element ref="ns2:MediaServiceOCR8" minOccurs="0"/>
                <xsd:element ref="ns2:MediaServiceLocation1" minOccurs="0"/>
                <xsd:element ref="ns2:MediaServiceKeyPoints4" minOccurs="0"/>
                <xsd:element ref="ns2:MediaServiceOCR9" minOccurs="0"/>
                <xsd:element ref="ns2:MediaServiceKeyPoints5" minOccurs="0"/>
                <xsd:element ref="ns2:MediaServiceLocation2" minOccurs="0"/>
                <xsd:element ref="ns2:MediaServiceKeyPoints6" minOccurs="0"/>
                <xsd:element ref="ns2:MediaServiceKeyPoints7" minOccurs="0"/>
                <xsd:element ref="ns2:MediaServiceLocation3" minOccurs="0"/>
                <xsd:element ref="ns2:MediaServiceDateTaken" minOccurs="0"/>
                <xsd:element ref="ns2:MediaServiceKeyPoints8" minOccurs="0"/>
                <xsd:element ref="ns2:MediaServiceLocation4" minOccurs="0"/>
                <xsd:element ref="ns2:MediaServiceKeyPoints9" minOccurs="0"/>
                <xsd:element ref="ns2:MediaServiceAutoTags" minOccurs="0"/>
                <xsd:element ref="ns2:MediaServiceGenerationTime" minOccurs="0"/>
                <xsd:element ref="ns2:MediaServiceEventHashCode" minOccurs="0"/>
                <xsd:element ref="ns2:MediaServiceLocation5" minOccurs="0"/>
                <xsd:element ref="ns2:MediaServiceLocation6" minOccurs="0"/>
                <xsd:element ref="ns2:MediaServiceLocation7" minOccurs="0"/>
                <xsd:element ref="ns2:MediaServiceLocation8" minOccurs="0"/>
                <xsd:element ref="ns2:MediaServiceLocation9" minOccurs="0"/>
                <xsd:element ref="ns2:MediaServiceOCR10" minOccurs="0"/>
                <xsd:element ref="ns2:MediaServiceKeyPoints10" minOccurs="0"/>
                <xsd:element ref="ns2:MediaServiceLocation10" minOccurs="0"/>
                <xsd:element ref="ns2:MediaServiceOCR11" minOccurs="0"/>
                <xsd:element ref="ns2:MediaServiceKeyPoints11" minOccurs="0"/>
                <xsd:element ref="ns2:MediaServiceLocation11" minOccurs="0"/>
                <xsd:element ref="ns2:MediaServiceOCR12" minOccurs="0"/>
                <xsd:element ref="ns2:MediaServiceOCR13" minOccurs="0"/>
                <xsd:element ref="ns2:MediaServiceOCR14" minOccurs="0"/>
                <xsd:element ref="ns2:MediaServiceOCR15" minOccurs="0"/>
                <xsd:element ref="ns2:MediaServiceKeyPoints12" minOccurs="0"/>
                <xsd:element ref="ns2:MediaServiceLocation12" minOccurs="0"/>
                <xsd:element ref="ns2:MediaServiceOCR16" minOccurs="0"/>
                <xsd:element ref="ns2:MediaServiceKeyPoints13" minOccurs="0"/>
                <xsd:element ref="ns2:MediaServiceLocation13" minOccurs="0"/>
                <xsd:element ref="ns2:MediaServiceOCR17" minOccurs="0"/>
                <xsd:element ref="ns2:MediaServiceOCR" minOccurs="0"/>
                <xsd:element ref="ns2:MediaServiceKeyPoints14" minOccurs="0"/>
                <xsd:element ref="ns2:MediaServiceLocation14" minOccurs="0"/>
                <xsd:element ref="ns2:MediaServiceKeyPoints15" minOccurs="0"/>
                <xsd:element ref="ns2:MediaServiceLocation15" minOccurs="0"/>
                <xsd:element ref="ns2:MediaServiceKeyPoints16" minOccurs="0"/>
                <xsd:element ref="ns2:MediaServiceLocation16" minOccurs="0"/>
                <xsd:element ref="ns2:MediaServiceKeyPoints17" minOccurs="0"/>
                <xsd:element ref="ns2:MediaServiceLocation17" minOccurs="0"/>
                <xsd:element ref="ns2:MediaServiceKeyPoints18" minOccurs="0"/>
                <xsd:element ref="ns2:MediaServiceLocation18" minOccurs="0"/>
                <xsd:element ref="ns2:MediaServiceKeyPoints19" minOccurs="0"/>
                <xsd:element ref="ns2:MediaServiceKeyPoints20" minOccurs="0"/>
                <xsd:element ref="ns2:MediaServiceLocation19" minOccurs="0"/>
                <xsd:element ref="ns2:MediaServiceLocation20" minOccurs="0"/>
                <xsd:element ref="ns2:MediaServiceKeyPoints21" minOccurs="0"/>
                <xsd:element ref="ns2:MediaServiceLocation21" minOccurs="0"/>
                <xsd:element ref="ns2:MediaServiceKeyPoints22" minOccurs="0"/>
                <xsd:element ref="ns2:MediaServiceLocation22" minOccurs="0"/>
                <xsd:element ref="ns2:MediaServiceKeyPoints23" minOccurs="0"/>
                <xsd:element ref="ns2:MediaServiceLocation23" minOccurs="0"/>
                <xsd:element ref="ns2:MediaServiceKeyPoints24" minOccurs="0"/>
                <xsd:element ref="ns2:MediaServiceLocation24" minOccurs="0"/>
                <xsd:element ref="ns2:MediaServiceKeyPoints25" minOccurs="0"/>
                <xsd:element ref="ns2:MediaServiceLocation25" minOccurs="0"/>
                <xsd:element ref="ns2:MediaServiceKeyPoints26" minOccurs="0"/>
                <xsd:element ref="ns2:MediaServiceLocation26" minOccurs="0"/>
                <xsd:element ref="ns2:MediaServiceKeyPoints27" minOccurs="0"/>
                <xsd:element ref="ns2:MediaServiceLocation27" minOccurs="0"/>
                <xsd:element ref="ns2:MediaServiceKeyPoints28" minOccurs="0"/>
                <xsd:element ref="ns2:MediaServiceLocation28" minOccurs="0"/>
                <xsd:element ref="ns2:MediaServiceKeyPoints29" minOccurs="0"/>
                <xsd:element ref="ns2:MediaServiceLocation29" minOccurs="0"/>
                <xsd:element ref="ns2:MediaServiceKeyPoints30" minOccurs="0"/>
                <xsd:element ref="ns2:MediaServiceLocation30" minOccurs="0"/>
                <xsd:element ref="ns2:MediaServiceKeyPoints31" minOccurs="0"/>
                <xsd:element ref="ns2:MediaServiceLocation31" minOccurs="0"/>
                <xsd:element ref="ns2:MediaServiceKeyPoints32" minOccurs="0"/>
                <xsd:element ref="ns2:MediaServiceKeyPoints33" minOccurs="0"/>
                <xsd:element ref="ns2:MediaServiceKeyPoints34" minOccurs="0"/>
                <xsd:element ref="ns2:MediaServiceLocation32" minOccurs="0"/>
                <xsd:element ref="ns2:MediaServiceKeyPoints35" minOccurs="0"/>
                <xsd:element ref="ns2:MediaServiceKeyPoints36" minOccurs="0"/>
                <xsd:element ref="ns2:MediaServiceLocation33" minOccurs="0"/>
                <xsd:element ref="ns2:MediaServiceKeyPoints37" minOccurs="0"/>
                <xsd:element ref="ns2:MediaServiceLocation34" minOccurs="0"/>
                <xsd:element ref="ns2:MediaServiceLocation35" minOccurs="0"/>
                <xsd:element ref="ns2:MediaServiceKeyPoints38" minOccurs="0"/>
                <xsd:element ref="ns2:MediaServiceLocation36" minOccurs="0"/>
                <xsd:element ref="ns2:MediaServiceLocation37" minOccurs="0"/>
                <xsd:element ref="ns2:MediaServiceKeyPoints39" minOccurs="0"/>
                <xsd:element ref="ns2:MediaServiceLocation38" minOccurs="0"/>
                <xsd:element ref="ns2:MediaServiceKeyPoints40" minOccurs="0"/>
                <xsd:element ref="ns2:MediaServiceKeyPoints41" minOccurs="0"/>
                <xsd:element ref="ns2:MediaServiceKeyPoints42" minOccurs="0"/>
                <xsd:element ref="ns2:MediaServiceKeyPoints43" minOccurs="0"/>
                <xsd:element ref="ns2:MediaServiceLocation39" minOccurs="0"/>
                <xsd:element ref="ns2:MediaServiceLocation40" minOccurs="0"/>
                <xsd:element ref="ns2:MediaServiceKeyPoints44" minOccurs="0"/>
                <xsd:element ref="ns2:MediaServiceLocation41" minOccurs="0"/>
                <xsd:element ref="ns2:MediaServiceLocation42" minOccurs="0"/>
                <xsd:element ref="ns2:MediaServiceKeyPoints45" minOccurs="0"/>
                <xsd:element ref="ns2:MediaServiceKeyPoints46" minOccurs="0"/>
                <xsd:element ref="ns2:MediaServiceLocation43" minOccurs="0"/>
                <xsd:element ref="ns2:MediaServiceLocation44" minOccurs="0"/>
                <xsd:element ref="ns2:MediaServiceKeyPoints47" minOccurs="0"/>
                <xsd:element ref="ns2:MediaServiceKeyPoints48" minOccurs="0"/>
                <xsd:element ref="ns2:MediaServiceKeyPoints49" minOccurs="0"/>
                <xsd:element ref="ns2:MediaServiceLocation45" minOccurs="0"/>
                <xsd:element ref="ns2:MediaServiceKeyPoints50" minOccurs="0"/>
                <xsd:element ref="ns2:MediaServiceLocation46" minOccurs="0"/>
                <xsd:element ref="ns2:MediaServiceLocation47" minOccurs="0"/>
                <xsd:element ref="ns2:MediaServiceLocation48" minOccurs="0"/>
                <xsd:element ref="ns2:MediaServiceKeyPoints51" minOccurs="0"/>
                <xsd:element ref="ns2:MediaServiceLocation49" minOccurs="0"/>
                <xsd:element ref="ns2:MediaServiceLocation50" minOccurs="0"/>
                <xsd:element ref="ns2:MediaServiceLocation51" minOccurs="0"/>
                <xsd:element ref="ns2:MediaServiceKeyPoints52" minOccurs="0"/>
                <xsd:element ref="ns2:MediaServiceLocation52" minOccurs="0"/>
                <xsd:element ref="ns2:MediaServiceKeyPoints53" minOccurs="0"/>
                <xsd:element ref="ns2:MediaServiceKeyPoints54" minOccurs="0"/>
                <xsd:element ref="ns2:MediaServiceLocation53" minOccurs="0"/>
                <xsd:element ref="ns2:MediaServiceKeyPoints55" minOccurs="0"/>
                <xsd:element ref="ns2:MediaServiceKeyPoints56" minOccurs="0"/>
                <xsd:element ref="ns2:MediaServiceKeyPoints57" minOccurs="0"/>
                <xsd:element ref="ns2:MediaServiceKeyPoints58" minOccurs="0"/>
                <xsd:element ref="ns2:MediaServiceLocation54" minOccurs="0"/>
                <xsd:element ref="ns2:MediaServiceLocation55" minOccurs="0"/>
                <xsd:element ref="ns2:MediaServiceKeyPoints59" minOccurs="0"/>
                <xsd:element ref="ns2:MediaServiceLocation56" minOccurs="0"/>
                <xsd:element ref="ns2:MediaServiceKeyPoints60" minOccurs="0"/>
                <xsd:element ref="ns2:MediaServiceLocation57" minOccurs="0"/>
                <xsd:element ref="ns2:MediaServiceKeyPoints61" minOccurs="0"/>
                <xsd:element ref="ns2:MediaServiceLocation58" minOccurs="0"/>
                <xsd:element ref="ns2:MediaServiceLocation59" minOccurs="0"/>
                <xsd:element ref="ns2:MediaServiceKeyPoints62" minOccurs="0"/>
                <xsd:element ref="ns2:MediaServiceKeyPoints63" minOccurs="0"/>
                <xsd:element ref="ns2:MediaServiceLocation60" minOccurs="0"/>
                <xsd:element ref="ns2:MediaServiceKeyPoints64" minOccurs="0"/>
                <xsd:element ref="ns2:MediaServiceLocation61" minOccurs="0"/>
                <xsd:element ref="ns2:MediaServiceKeyPoints65" minOccurs="0"/>
                <xsd:element ref="ns2:MediaServiceLocation62" minOccurs="0"/>
                <xsd:element ref="ns2:MediaServiceKeyPoints66" minOccurs="0"/>
                <xsd:element ref="ns2:MediaServiceLocation63" minOccurs="0"/>
                <xsd:element ref="ns2:MediaServiceLocation64" minOccurs="0"/>
                <xsd:element ref="ns2:MediaServiceKeyPoints67" minOccurs="0"/>
                <xsd:element ref="ns2:MediaServiceLocation65" minOccurs="0"/>
                <xsd:element ref="ns2:MediaServiceLocation66" minOccurs="0"/>
                <xsd:element ref="ns2:MediaServiceLocation67" minOccurs="0"/>
                <xsd:element ref="ns2:MediaServiceKeyPoints68" minOccurs="0"/>
                <xsd:element ref="ns2:MediaServiceLocation68" minOccurs="0"/>
                <xsd:element ref="ns2:MediaServiceKeyPoints69" minOccurs="0"/>
                <xsd:element ref="ns2:MediaServiceKeyPoints70" minOccurs="0"/>
                <xsd:element ref="ns2:MediaServiceKeyPoints71" minOccurs="0"/>
                <xsd:element ref="ns2:MediaServiceKeyPoints72" minOccurs="0"/>
                <xsd:element ref="ns2:MediaServiceKeyPoints73" minOccurs="0"/>
                <xsd:element ref="ns2:MediaServiceLocation69" minOccurs="0"/>
                <xsd:element ref="ns2:MediaServiceKeyPoints74" minOccurs="0"/>
                <xsd:element ref="ns2:MediaServiceKeyPoints75" minOccurs="0"/>
                <xsd:element ref="ns2:MediaServiceLocation70" minOccurs="0"/>
                <xsd:element ref="ns2:MediaServiceKeyPoints76" minOccurs="0"/>
                <xsd:element ref="ns2:MediaServiceLocation71" minOccurs="0"/>
                <xsd:element ref="ns2:MediaServiceLocation72" minOccurs="0"/>
                <xsd:element ref="ns2:MediaServiceLocation73" minOccurs="0"/>
                <xsd:element ref="ns2:MediaServiceLocation74" minOccurs="0"/>
                <xsd:element ref="ns2:MediaServiceKeyPoints77" minOccurs="0"/>
                <xsd:element ref="ns2:MediaServiceLocation75" minOccurs="0"/>
                <xsd:element ref="ns2:MediaServiceLocation76" minOccurs="0"/>
                <xsd:element ref="ns2:MediaServiceKeyPoints78" minOccurs="0"/>
                <xsd:element ref="ns2:MediaServiceKeyPoints79" minOccurs="0"/>
                <xsd:element ref="ns2:MediaServiceKeyPoints80" minOccurs="0"/>
                <xsd:element ref="ns2:MediaServiceKeyPoints81" minOccurs="0"/>
                <xsd:element ref="ns2:MediaServiceLocation77" minOccurs="0"/>
                <xsd:element ref="ns2:MediaServiceKeyPoints82" minOccurs="0"/>
                <xsd:element ref="ns2:MediaServiceKeyPoints83" minOccurs="0"/>
                <xsd:element ref="ns2:MediaServiceLocation78" minOccurs="0"/>
                <xsd:element ref="ns2:MediaServiceLocation79" minOccurs="0"/>
                <xsd:element ref="ns2:MediaServiceLocation80" minOccurs="0"/>
                <xsd:element ref="ns2:MediaServiceLocation81" minOccurs="0"/>
                <xsd:element ref="ns2:MediaServiceLocation82" minOccurs="0"/>
                <xsd:element ref="ns2:MediaServiceKeyPoints84" minOccurs="0"/>
                <xsd:element ref="ns2:MediaServiceLocation83" minOccurs="0"/>
                <xsd:element ref="ns2:MediaServiceKeyPoints85" minOccurs="0"/>
                <xsd:element ref="ns2:MediaServiceLocation84" minOccurs="0"/>
                <xsd:element ref="ns2:MediaServiceKeyPoints86" minOccurs="0"/>
                <xsd:element ref="ns2:MediaServiceLocation85" minOccurs="0"/>
                <xsd:element ref="ns2:MediaServiceKeyPoints87" minOccurs="0"/>
                <xsd:element ref="ns2:MediaServiceLocation86" minOccurs="0"/>
                <xsd:element ref="ns2:MediaServiceKeyPoints88" minOccurs="0"/>
                <xsd:element ref="ns2:MediaServiceLocation87" minOccurs="0"/>
                <xsd:element ref="ns2:MediaServiceKeyPoints89" minOccurs="0"/>
                <xsd:element ref="ns2:MediaServiceLocation88" minOccurs="0"/>
                <xsd:element ref="ns2:MediaServiceKeyPoints90" minOccurs="0"/>
                <xsd:element ref="ns2:MediaServiceLocation89" minOccurs="0"/>
                <xsd:element ref="ns2:MediaServiceKeyPoints91" minOccurs="0"/>
                <xsd:element ref="ns2:MediaServiceLocation90" minOccurs="0"/>
                <xsd:element ref="ns2:MediaServiceKeyPoints92" minOccurs="0"/>
                <xsd:element ref="ns2:MediaServiceLocation91" minOccurs="0"/>
                <xsd:element ref="ns2:MediaServiceKeyPoints93" minOccurs="0"/>
                <xsd:element ref="ns2:MediaServiceLocation92" minOccurs="0"/>
                <xsd:element ref="ns2:MediaServiceKeyPoints94" minOccurs="0"/>
                <xsd:element ref="ns2:MediaServiceKeyPoints95" minOccurs="0"/>
                <xsd:element ref="ns2:MediaServiceLocation93" minOccurs="0"/>
                <xsd:element ref="ns2:MediaServiceKeyPoints96" minOccurs="0"/>
                <xsd:element ref="ns2:MediaServiceKeyPoints97" minOccurs="0"/>
                <xsd:element ref="ns2:MediaServiceLocation94" minOccurs="0"/>
                <xsd:element ref="ns2:MediaServiceKeyPoints98" minOccurs="0"/>
                <xsd:element ref="ns2:MediaServiceLocation95" minOccurs="0"/>
                <xsd:element ref="ns2:MediaServiceKeyPoints99" minOccurs="0"/>
                <xsd:element ref="ns2:MediaServiceLocation96" minOccurs="0"/>
                <xsd:element ref="ns2:MediaServiceKeyPoints100" minOccurs="0"/>
                <xsd:element ref="ns2:MediaServiceLocation97" minOccurs="0"/>
                <xsd:element ref="ns2:MediaServiceKeyPoints101" minOccurs="0"/>
                <xsd:element ref="ns2:MediaServiceKeyPoints102" minOccurs="0"/>
                <xsd:element ref="ns2:MediaServiceLocation98" minOccurs="0"/>
                <xsd:element ref="ns2:MediaServiceLocation99"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204534-1384-4b3b-99bf-42ea6966be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sMyDocuments" ma:index="12" nillable="true" ma:displayName="IsMyDocuments" ma:internalName="IsMyDocuments">
      <xsd:simpleType>
        <xsd:restriction base="dms:Text">
          <xsd:maxLength value="250"/>
        </xsd:restriction>
      </xsd:simpleType>
    </xsd:element>
    <xsd:element name="SharedWithInternalId" ma:index="13" nillable="true" ma:displayName="SharedWithInternalId" ma:internalName="SharedWithInternalId">
      <xsd:simpleType>
        <xsd:restriction base="dms:Text">
          <xsd:maxLength value="250"/>
        </xsd:restriction>
      </xsd:simpleType>
    </xsd:element>
    <xsd:element name="SharedWithInternalStringId" ma:index="14" nillable="true" ma:displayName="SharedWithInternalStringId" ma:internalName="SharedWithInternalStringId">
      <xsd:simpleType>
        <xsd:restriction base="dms:Text">
          <xsd:maxLength value="250"/>
        </xsd:restriction>
      </xsd:simpleType>
    </xsd:element>
    <xsd:element name="MediaServiceAutoTags0" ma:index="15" nillable="true" ma:displayName="MediaServiceAutoTags" ma:internalName="MediaServiceAutoTags0">
      <xsd:simpleType>
        <xsd:restriction base="dms:Text">
          <xsd:maxLength value="250"/>
        </xsd:restriction>
      </xsd:simpleType>
    </xsd:element>
    <xsd:element name="MediaServiceOCR0" ma:index="16" nillable="true" ma:displayName="MediaServiceOCR" ma:internalName="MediaServiceOCR0">
      <xsd:simpleType>
        <xsd:restriction base="dms:Text">
          <xsd:maxLength value="250"/>
        </xsd:restriction>
      </xsd:simpleType>
    </xsd:element>
    <xsd:element name="MediaServiceAutoTags1" ma:index="17" nillable="true" ma:displayName="MediaServiceAutoTags" ma:internalName="MediaServiceAutoTags1">
      <xsd:simpleType>
        <xsd:restriction base="dms:Text">
          <xsd:maxLength value="250"/>
        </xsd:restriction>
      </xsd:simpleType>
    </xsd:element>
    <xsd:element name="MediaServiceAutoTags2" ma:index="18" nillable="true" ma:displayName="MediaServiceAutoTags" ma:internalName="MediaServiceAutoTags2">
      <xsd:simpleType>
        <xsd:restriction base="dms:Text">
          <xsd:maxLength value="250"/>
        </xsd:restriction>
      </xsd:simpleType>
    </xsd:element>
    <xsd:element name="MediaServiceOCR1" ma:index="19" nillable="true" ma:displayName="MediaServiceOCR" ma:internalName="MediaServiceOCR1">
      <xsd:simpleType>
        <xsd:restriction base="dms:Text">
          <xsd:maxLength value="250"/>
        </xsd:restriction>
      </xsd:simpleType>
    </xsd:element>
    <xsd:element name="MediaServiceAutoTags3" ma:index="20" nillable="true" ma:displayName="MediaServiceAutoTags" ma:internalName="MediaServiceAutoTags3">
      <xsd:simpleType>
        <xsd:restriction base="dms:Text">
          <xsd:maxLength value="250"/>
        </xsd:restriction>
      </xsd:simpleType>
    </xsd:element>
    <xsd:element name="MediaServiceAutoTags4" ma:index="21" nillable="true" ma:displayName="MediaServiceAutoTags" ma:internalName="MediaServiceAutoTags4">
      <xsd:simpleType>
        <xsd:restriction base="dms:Text">
          <xsd:maxLength value="250"/>
        </xsd:restriction>
      </xsd:simpleType>
    </xsd:element>
    <xsd:element name="MediaServiceAutoTags5" ma:index="22" nillable="true" ma:displayName="MediaServiceAutoTags" ma:internalName="MediaServiceAutoTags5">
      <xsd:simpleType>
        <xsd:restriction base="dms:Text">
          <xsd:maxLength value="250"/>
        </xsd:restriction>
      </xsd:simpleType>
    </xsd:element>
    <xsd:element name="MediaServiceOCR2" ma:index="23" nillable="true" ma:displayName="MediaServiceOCR" ma:internalName="MediaServiceOCR2">
      <xsd:simpleType>
        <xsd:restriction base="dms:Text">
          <xsd:maxLength value="250"/>
        </xsd:restriction>
      </xsd:simpleType>
    </xsd:element>
    <xsd:element name="MediaServiceAutoTags6" ma:index="24" nillable="true" ma:displayName="MediaServiceAutoTags" ma:internalName="MediaServiceAutoTags6">
      <xsd:simpleType>
        <xsd:restriction base="dms:Text">
          <xsd:maxLength value="250"/>
        </xsd:restriction>
      </xsd:simpleType>
    </xsd:element>
    <xsd:element name="MediaServiceAutoTags7" ma:index="25" nillable="true" ma:displayName="MediaServiceAutoTags" ma:internalName="MediaServiceAutoTags7">
      <xsd:simpleType>
        <xsd:restriction base="dms:Text">
          <xsd:maxLength value="250"/>
        </xsd:restriction>
      </xsd:simpleType>
    </xsd:element>
    <xsd:element name="MediaServiceKeyPoints0" ma:index="26" nillable="true" ma:displayName="MediaServiceKeyPoints" ma:internalName="MediaServiceKeyPoints0">
      <xsd:simpleType>
        <xsd:restriction base="dms:Text">
          <xsd:maxLength value="250"/>
        </xsd:restriction>
      </xsd:simpleType>
    </xsd:element>
    <xsd:element name="MediaServiceAutoTags8" ma:index="27" nillable="true" ma:displayName="MediaServiceAutoTags" ma:internalName="MediaServiceAutoTags8">
      <xsd:simpleType>
        <xsd:restriction base="dms:Text">
          <xsd:maxLength value="250"/>
        </xsd:restriction>
      </xsd:simpleType>
    </xsd:element>
    <xsd:element name="MediaServiceOCR3" ma:index="28" nillable="true" ma:displayName="MediaServiceOCR" ma:internalName="MediaServiceOCR3">
      <xsd:simpleType>
        <xsd:restriction base="dms:Text">
          <xsd:maxLength value="250"/>
        </xsd:restriction>
      </xsd:simpleType>
    </xsd:element>
    <xsd:element name="MediaServiceAutoTags9" ma:index="29" nillable="true" ma:displayName="MediaServiceAutoTags" ma:internalName="MediaServiceAutoTags9">
      <xsd:simpleType>
        <xsd:restriction base="dms:Text">
          <xsd:maxLength value="250"/>
        </xsd:restriction>
      </xsd:simpleType>
    </xsd:element>
    <xsd:element name="MediaServiceOCR4" ma:index="30" nillable="true" ma:displayName="MediaServiceOCR" ma:internalName="MediaServiceOCR4">
      <xsd:simpleType>
        <xsd:restriction base="dms:Text">
          <xsd:maxLength value="250"/>
        </xsd:restriction>
      </xsd:simpleType>
    </xsd:element>
    <xsd:element name="MediaServiceKeyPoints1" ma:index="31" nillable="true" ma:displayName="MediaServiceKeyPoints" ma:internalName="MediaServiceKeyPoints1">
      <xsd:simpleType>
        <xsd:restriction base="dms:Text">
          <xsd:maxLength value="250"/>
        </xsd:restriction>
      </xsd:simpleType>
    </xsd:element>
    <xsd:element name="MediaServiceOCR5" ma:index="32" nillable="true" ma:displayName="MediaServiceOCR" ma:internalName="MediaServiceOCR5">
      <xsd:simpleType>
        <xsd:restriction base="dms:Text">
          <xsd:maxLength value="250"/>
        </xsd:restriction>
      </xsd:simpleType>
    </xsd:element>
    <xsd:element name="MediaServiceOCR6" ma:index="33" nillable="true" ma:displayName="MediaServiceOCR" ma:internalName="MediaServiceOCR6">
      <xsd:simpleType>
        <xsd:restriction base="dms:Text">
          <xsd:maxLength value="250"/>
        </xsd:restriction>
      </xsd:simpleType>
    </xsd:element>
    <xsd:element name="MediaServiceKeyPoints2" ma:index="34" nillable="true" ma:displayName="MediaServiceKeyPoints" ma:internalName="MediaServiceKeyPoints2">
      <xsd:simpleType>
        <xsd:restriction base="dms:Text">
          <xsd:maxLength value="250"/>
        </xsd:restriction>
      </xsd:simpleType>
    </xsd:element>
    <xsd:element name="MediaServiceOCR7" ma:index="35" nillable="true" ma:displayName="MediaServiceOCR" ma:internalName="MediaServiceOCR7">
      <xsd:simpleType>
        <xsd:restriction base="dms:Text">
          <xsd:maxLength value="250"/>
        </xsd:restriction>
      </xsd:simpleType>
    </xsd:element>
    <xsd:element name="MediaServiceKeyPoints3" ma:index="36" nillable="true" ma:displayName="MediaServiceKeyPoints" ma:internalName="MediaServiceKeyPoints3">
      <xsd:simpleType>
        <xsd:restriction base="dms:Text">
          <xsd:maxLength value="250"/>
        </xsd:restriction>
      </xsd:simpleType>
    </xsd:element>
    <xsd:element name="MediaServiceLocation0" ma:index="37" nillable="true" ma:displayName="MediaServiceLocation" ma:internalName="MediaServiceLocation0">
      <xsd:simpleType>
        <xsd:restriction base="dms:Text">
          <xsd:maxLength value="250"/>
        </xsd:restriction>
      </xsd:simpleType>
    </xsd:element>
    <xsd:element name="MediaServiceOCR8" ma:index="38" nillable="true" ma:displayName="MediaServiceOCR" ma:internalName="MediaServiceOCR8">
      <xsd:simpleType>
        <xsd:restriction base="dms:Text">
          <xsd:maxLength value="250"/>
        </xsd:restriction>
      </xsd:simpleType>
    </xsd:element>
    <xsd:element name="MediaServiceLocation1" ma:index="39" nillable="true" ma:displayName="MediaServiceLocation" ma:internalName="MediaServiceLocation1">
      <xsd:simpleType>
        <xsd:restriction base="dms:Text">
          <xsd:maxLength value="250"/>
        </xsd:restriction>
      </xsd:simpleType>
    </xsd:element>
    <xsd:element name="MediaServiceKeyPoints4" ma:index="40" nillable="true" ma:displayName="MediaServiceKeyPoints" ma:internalName="MediaServiceKeyPoints4">
      <xsd:simpleType>
        <xsd:restriction base="dms:Text">
          <xsd:maxLength value="250"/>
        </xsd:restriction>
      </xsd:simpleType>
    </xsd:element>
    <xsd:element name="MediaServiceOCR9" ma:index="41" nillable="true" ma:displayName="MediaServiceOCR" ma:internalName="MediaServiceOCR9">
      <xsd:simpleType>
        <xsd:restriction base="dms:Text">
          <xsd:maxLength value="250"/>
        </xsd:restriction>
      </xsd:simpleType>
    </xsd:element>
    <xsd:element name="MediaServiceKeyPoints5" ma:index="42" nillable="true" ma:displayName="MediaServiceKeyPoints" ma:internalName="MediaServiceKeyPoints5">
      <xsd:simpleType>
        <xsd:restriction base="dms:Text">
          <xsd:maxLength value="250"/>
        </xsd:restriction>
      </xsd:simpleType>
    </xsd:element>
    <xsd:element name="MediaServiceLocation2" ma:index="43" nillable="true" ma:displayName="MediaServiceLocation" ma:internalName="MediaServiceLocation2">
      <xsd:simpleType>
        <xsd:restriction base="dms:Text">
          <xsd:maxLength value="250"/>
        </xsd:restriction>
      </xsd:simpleType>
    </xsd:element>
    <xsd:element name="MediaServiceKeyPoints6" ma:index="44" nillable="true" ma:displayName="MediaServiceKeyPoints" ma:internalName="MediaServiceKeyPoints6">
      <xsd:simpleType>
        <xsd:restriction base="dms:Text">
          <xsd:maxLength value="250"/>
        </xsd:restriction>
      </xsd:simpleType>
    </xsd:element>
    <xsd:element name="MediaServiceKeyPoints7" ma:index="45" nillable="true" ma:displayName="MediaServiceKeyPoints" ma:internalName="MediaServiceKeyPoints7">
      <xsd:simpleType>
        <xsd:restriction base="dms:Text">
          <xsd:maxLength value="250"/>
        </xsd:restriction>
      </xsd:simpleType>
    </xsd:element>
    <xsd:element name="MediaServiceLocation3" ma:index="46" nillable="true" ma:displayName="MediaServiceLocation" ma:internalName="MediaServiceLocation3">
      <xsd:simpleType>
        <xsd:restriction base="dms:Text">
          <xsd:maxLength value="250"/>
        </xsd:restriction>
      </xsd:simpleType>
    </xsd:element>
    <xsd:element name="MediaServiceDateTaken" ma:index="47" nillable="true" ma:displayName="MediaServiceDateTaken" ma:hidden="true" ma:internalName="MediaServiceDateTaken" ma:readOnly="true">
      <xsd:simpleType>
        <xsd:restriction base="dms:Text"/>
      </xsd:simpleType>
    </xsd:element>
    <xsd:element name="MediaServiceKeyPoints8" ma:index="48" nillable="true" ma:displayName="MediaServiceKeyPoints" ma:internalName="MediaServiceKeyPoints8">
      <xsd:simpleType>
        <xsd:restriction base="dms:Text">
          <xsd:maxLength value="250"/>
        </xsd:restriction>
      </xsd:simpleType>
    </xsd:element>
    <xsd:element name="MediaServiceLocation4" ma:index="49" nillable="true" ma:displayName="MediaServiceLocation" ma:internalName="MediaServiceLocation4">
      <xsd:simpleType>
        <xsd:restriction base="dms:Text">
          <xsd:maxLength value="250"/>
        </xsd:restriction>
      </xsd:simpleType>
    </xsd:element>
    <xsd:element name="MediaServiceKeyPoints9" ma:index="50" nillable="true" ma:displayName="MediaServiceKeyPoints" ma:internalName="MediaServiceKeyPoints9">
      <xsd:simpleType>
        <xsd:restriction base="dms:Text">
          <xsd:maxLength value="250"/>
        </xsd:restriction>
      </xsd:simpleType>
    </xsd:element>
    <xsd:element name="MediaServiceAutoTags" ma:index="51" nillable="true" ma:displayName="Tags" ma:internalName="MediaServiceAutoTags" ma:readOnly="true">
      <xsd:simpleType>
        <xsd:restriction base="dms:Text"/>
      </xsd:simpleType>
    </xsd:element>
    <xsd:element name="MediaServiceGenerationTime" ma:index="52" nillable="true" ma:displayName="MediaServiceGenerationTime" ma:hidden="true" ma:internalName="MediaServiceGenerationTime" ma:readOnly="true">
      <xsd:simpleType>
        <xsd:restriction base="dms:Text"/>
      </xsd:simpleType>
    </xsd:element>
    <xsd:element name="MediaServiceEventHashCode" ma:index="53" nillable="true" ma:displayName="MediaServiceEventHashCode" ma:hidden="true" ma:internalName="MediaServiceEventHashCode" ma:readOnly="true">
      <xsd:simpleType>
        <xsd:restriction base="dms:Text"/>
      </xsd:simpleType>
    </xsd:element>
    <xsd:element name="MediaServiceLocation5" ma:index="54" nillable="true" ma:displayName="MediaServiceLocation" ma:internalName="MediaServiceLocation5">
      <xsd:simpleType>
        <xsd:restriction base="dms:Text">
          <xsd:maxLength value="250"/>
        </xsd:restriction>
      </xsd:simpleType>
    </xsd:element>
    <xsd:element name="MediaServiceLocation6" ma:index="55" nillable="true" ma:displayName="MediaServiceLocation" ma:internalName="MediaServiceLocation6">
      <xsd:simpleType>
        <xsd:restriction base="dms:Text">
          <xsd:maxLength value="250"/>
        </xsd:restriction>
      </xsd:simpleType>
    </xsd:element>
    <xsd:element name="MediaServiceLocation7" ma:index="56" nillable="true" ma:displayName="MediaServiceLocation" ma:internalName="MediaServiceLocation7">
      <xsd:simpleType>
        <xsd:restriction base="dms:Text">
          <xsd:maxLength value="250"/>
        </xsd:restriction>
      </xsd:simpleType>
    </xsd:element>
    <xsd:element name="MediaServiceLocation8" ma:index="57" nillable="true" ma:displayName="MediaServiceLocation" ma:internalName="MediaServiceLocation8">
      <xsd:simpleType>
        <xsd:restriction base="dms:Text">
          <xsd:maxLength value="250"/>
        </xsd:restriction>
      </xsd:simpleType>
    </xsd:element>
    <xsd:element name="MediaServiceLocation9" ma:index="58" nillable="true" ma:displayName="MediaServiceLocation" ma:internalName="MediaServiceLocation9">
      <xsd:simpleType>
        <xsd:restriction base="dms:Text">
          <xsd:maxLength value="250"/>
        </xsd:restriction>
      </xsd:simpleType>
    </xsd:element>
    <xsd:element name="MediaServiceOCR10" ma:index="59" nillable="true" ma:displayName="MediaServiceOCR" ma:internalName="MediaServiceOCR10">
      <xsd:simpleType>
        <xsd:restriction base="dms:Text">
          <xsd:maxLength value="250"/>
        </xsd:restriction>
      </xsd:simpleType>
    </xsd:element>
    <xsd:element name="MediaServiceKeyPoints10" ma:index="60" nillable="true" ma:displayName="MediaServiceKeyPoints" ma:internalName="MediaServiceKeyPoints10">
      <xsd:simpleType>
        <xsd:restriction base="dms:Text">
          <xsd:maxLength value="250"/>
        </xsd:restriction>
      </xsd:simpleType>
    </xsd:element>
    <xsd:element name="MediaServiceLocation10" ma:index="61" nillable="true" ma:displayName="MediaServiceLocation" ma:internalName="MediaServiceLocation10">
      <xsd:simpleType>
        <xsd:restriction base="dms:Text">
          <xsd:maxLength value="250"/>
        </xsd:restriction>
      </xsd:simpleType>
    </xsd:element>
    <xsd:element name="MediaServiceOCR11" ma:index="62" nillable="true" ma:displayName="MediaServiceOCR" ma:internalName="MediaServiceOCR11">
      <xsd:simpleType>
        <xsd:restriction base="dms:Text">
          <xsd:maxLength value="250"/>
        </xsd:restriction>
      </xsd:simpleType>
    </xsd:element>
    <xsd:element name="MediaServiceKeyPoints11" ma:index="63" nillable="true" ma:displayName="MediaServiceKeyPoints" ma:internalName="MediaServiceKeyPoints11">
      <xsd:simpleType>
        <xsd:restriction base="dms:Text">
          <xsd:maxLength value="250"/>
        </xsd:restriction>
      </xsd:simpleType>
    </xsd:element>
    <xsd:element name="MediaServiceLocation11" ma:index="64" nillable="true" ma:displayName="MediaServiceLocation" ma:internalName="MediaServiceLocation11">
      <xsd:simpleType>
        <xsd:restriction base="dms:Text">
          <xsd:maxLength value="250"/>
        </xsd:restriction>
      </xsd:simpleType>
    </xsd:element>
    <xsd:element name="MediaServiceOCR12" ma:index="65" nillable="true" ma:displayName="MediaServiceOCR" ma:internalName="MediaServiceOCR12">
      <xsd:simpleType>
        <xsd:restriction base="dms:Text">
          <xsd:maxLength value="250"/>
        </xsd:restriction>
      </xsd:simpleType>
    </xsd:element>
    <xsd:element name="MediaServiceOCR13" ma:index="66" nillable="true" ma:displayName="MediaServiceOCR" ma:internalName="MediaServiceOCR13">
      <xsd:simpleType>
        <xsd:restriction base="dms:Text">
          <xsd:maxLength value="250"/>
        </xsd:restriction>
      </xsd:simpleType>
    </xsd:element>
    <xsd:element name="MediaServiceOCR14" ma:index="67" nillable="true" ma:displayName="MediaServiceOCR" ma:internalName="MediaServiceOCR14">
      <xsd:simpleType>
        <xsd:restriction base="dms:Text">
          <xsd:maxLength value="250"/>
        </xsd:restriction>
      </xsd:simpleType>
    </xsd:element>
    <xsd:element name="MediaServiceOCR15" ma:index="68" nillable="true" ma:displayName="MediaServiceOCR" ma:internalName="MediaServiceOCR15">
      <xsd:simpleType>
        <xsd:restriction base="dms:Text">
          <xsd:maxLength value="250"/>
        </xsd:restriction>
      </xsd:simpleType>
    </xsd:element>
    <xsd:element name="MediaServiceKeyPoints12" ma:index="69" nillable="true" ma:displayName="MediaServiceKeyPoints" ma:internalName="MediaServiceKeyPoints12">
      <xsd:simpleType>
        <xsd:restriction base="dms:Text">
          <xsd:maxLength value="250"/>
        </xsd:restriction>
      </xsd:simpleType>
    </xsd:element>
    <xsd:element name="MediaServiceLocation12" ma:index="70" nillable="true" ma:displayName="MediaServiceLocation" ma:internalName="MediaServiceLocation12">
      <xsd:simpleType>
        <xsd:restriction base="dms:Text">
          <xsd:maxLength value="250"/>
        </xsd:restriction>
      </xsd:simpleType>
    </xsd:element>
    <xsd:element name="MediaServiceOCR16" ma:index="71" nillable="true" ma:displayName="MediaServiceOCR" ma:internalName="MediaServiceOCR16">
      <xsd:simpleType>
        <xsd:restriction base="dms:Text">
          <xsd:maxLength value="250"/>
        </xsd:restriction>
      </xsd:simpleType>
    </xsd:element>
    <xsd:element name="MediaServiceKeyPoints13" ma:index="72" nillable="true" ma:displayName="MediaServiceKeyPoints" ma:internalName="MediaServiceKeyPoints13">
      <xsd:simpleType>
        <xsd:restriction base="dms:Text">
          <xsd:maxLength value="250"/>
        </xsd:restriction>
      </xsd:simpleType>
    </xsd:element>
    <xsd:element name="MediaServiceLocation13" ma:index="73" nillable="true" ma:displayName="MediaServiceLocation" ma:internalName="MediaServiceLocation13">
      <xsd:simpleType>
        <xsd:restriction base="dms:Text">
          <xsd:maxLength value="250"/>
        </xsd:restriction>
      </xsd:simpleType>
    </xsd:element>
    <xsd:element name="MediaServiceOCR17" ma:index="74" nillable="true" ma:displayName="MediaServiceOCR" ma:internalName="MediaServiceOCR17">
      <xsd:simpleType>
        <xsd:restriction base="dms:Text">
          <xsd:maxLength value="250"/>
        </xsd:restriction>
      </xsd:simpleType>
    </xsd:element>
    <xsd:element name="MediaServiceOCR" ma:index="75" nillable="true" ma:displayName="Extracted Text" ma:internalName="MediaServiceOCR" ma:readOnly="true">
      <xsd:simpleType>
        <xsd:restriction base="dms:Note">
          <xsd:maxLength value="255"/>
        </xsd:restriction>
      </xsd:simpleType>
    </xsd:element>
    <xsd:element name="MediaServiceKeyPoints14" ma:index="76" nillable="true" ma:displayName="MediaServiceKeyPoints" ma:internalName="MediaServiceKeyPoints14">
      <xsd:simpleType>
        <xsd:restriction base="dms:Text">
          <xsd:maxLength value="250"/>
        </xsd:restriction>
      </xsd:simpleType>
    </xsd:element>
    <xsd:element name="MediaServiceLocation14" ma:index="77" nillable="true" ma:displayName="MediaServiceLocation" ma:internalName="MediaServiceLocation14">
      <xsd:simpleType>
        <xsd:restriction base="dms:Text">
          <xsd:maxLength value="250"/>
        </xsd:restriction>
      </xsd:simpleType>
    </xsd:element>
    <xsd:element name="MediaServiceKeyPoints15" ma:index="78" nillable="true" ma:displayName="MediaServiceKeyPoints" ma:internalName="MediaServiceKeyPoints15">
      <xsd:simpleType>
        <xsd:restriction base="dms:Text">
          <xsd:maxLength value="250"/>
        </xsd:restriction>
      </xsd:simpleType>
    </xsd:element>
    <xsd:element name="MediaServiceLocation15" ma:index="79" nillable="true" ma:displayName="MediaServiceLocation" ma:internalName="MediaServiceLocation15">
      <xsd:simpleType>
        <xsd:restriction base="dms:Text">
          <xsd:maxLength value="250"/>
        </xsd:restriction>
      </xsd:simpleType>
    </xsd:element>
    <xsd:element name="MediaServiceKeyPoints16" ma:index="80" nillable="true" ma:displayName="MediaServiceKeyPoints" ma:internalName="MediaServiceKeyPoints16">
      <xsd:simpleType>
        <xsd:restriction base="dms:Text">
          <xsd:maxLength value="250"/>
        </xsd:restriction>
      </xsd:simpleType>
    </xsd:element>
    <xsd:element name="MediaServiceLocation16" ma:index="81" nillable="true" ma:displayName="MediaServiceLocation" ma:internalName="MediaServiceLocation16">
      <xsd:simpleType>
        <xsd:restriction base="dms:Text">
          <xsd:maxLength value="250"/>
        </xsd:restriction>
      </xsd:simpleType>
    </xsd:element>
    <xsd:element name="MediaServiceKeyPoints17" ma:index="82" nillable="true" ma:displayName="MediaServiceKeyPoints" ma:internalName="MediaServiceKeyPoints17">
      <xsd:simpleType>
        <xsd:restriction base="dms:Text">
          <xsd:maxLength value="250"/>
        </xsd:restriction>
      </xsd:simpleType>
    </xsd:element>
    <xsd:element name="MediaServiceLocation17" ma:index="83" nillable="true" ma:displayName="MediaServiceLocation" ma:internalName="MediaServiceLocation17">
      <xsd:simpleType>
        <xsd:restriction base="dms:Text">
          <xsd:maxLength value="250"/>
        </xsd:restriction>
      </xsd:simpleType>
    </xsd:element>
    <xsd:element name="MediaServiceKeyPoints18" ma:index="84" nillable="true" ma:displayName="MediaServiceKeyPoints" ma:internalName="MediaServiceKeyPoints18">
      <xsd:simpleType>
        <xsd:restriction base="dms:Text">
          <xsd:maxLength value="250"/>
        </xsd:restriction>
      </xsd:simpleType>
    </xsd:element>
    <xsd:element name="MediaServiceLocation18" ma:index="85" nillable="true" ma:displayName="MediaServiceLocation" ma:internalName="MediaServiceLocation18">
      <xsd:simpleType>
        <xsd:restriction base="dms:Text">
          <xsd:maxLength value="250"/>
        </xsd:restriction>
      </xsd:simpleType>
    </xsd:element>
    <xsd:element name="MediaServiceKeyPoints19" ma:index="86" nillable="true" ma:displayName="MediaServiceKeyPoints" ma:internalName="MediaServiceKeyPoints19">
      <xsd:simpleType>
        <xsd:restriction base="dms:Text">
          <xsd:maxLength value="250"/>
        </xsd:restriction>
      </xsd:simpleType>
    </xsd:element>
    <xsd:element name="MediaServiceKeyPoints20" ma:index="87" nillable="true" ma:displayName="MediaServiceKeyPoints" ma:internalName="MediaServiceKeyPoints20">
      <xsd:simpleType>
        <xsd:restriction base="dms:Text">
          <xsd:maxLength value="250"/>
        </xsd:restriction>
      </xsd:simpleType>
    </xsd:element>
    <xsd:element name="MediaServiceLocation19" ma:index="88" nillable="true" ma:displayName="MediaServiceLocation" ma:internalName="MediaServiceLocation19">
      <xsd:simpleType>
        <xsd:restriction base="dms:Text">
          <xsd:maxLength value="250"/>
        </xsd:restriction>
      </xsd:simpleType>
    </xsd:element>
    <xsd:element name="MediaServiceLocation20" ma:index="89" nillable="true" ma:displayName="MediaServiceLocation" ma:internalName="MediaServiceLocation20">
      <xsd:simpleType>
        <xsd:restriction base="dms:Text">
          <xsd:maxLength value="250"/>
        </xsd:restriction>
      </xsd:simpleType>
    </xsd:element>
    <xsd:element name="MediaServiceKeyPoints21" ma:index="90" nillable="true" ma:displayName="MediaServiceKeyPoints" ma:internalName="MediaServiceKeyPoints21">
      <xsd:simpleType>
        <xsd:restriction base="dms:Text">
          <xsd:maxLength value="250"/>
        </xsd:restriction>
      </xsd:simpleType>
    </xsd:element>
    <xsd:element name="MediaServiceLocation21" ma:index="91" nillable="true" ma:displayName="MediaServiceLocation" ma:internalName="MediaServiceLocation21">
      <xsd:simpleType>
        <xsd:restriction base="dms:Text">
          <xsd:maxLength value="250"/>
        </xsd:restriction>
      </xsd:simpleType>
    </xsd:element>
    <xsd:element name="MediaServiceKeyPoints22" ma:index="92" nillable="true" ma:displayName="MediaServiceKeyPoints" ma:internalName="MediaServiceKeyPoints22">
      <xsd:simpleType>
        <xsd:restriction base="dms:Text">
          <xsd:maxLength value="250"/>
        </xsd:restriction>
      </xsd:simpleType>
    </xsd:element>
    <xsd:element name="MediaServiceLocation22" ma:index="93" nillable="true" ma:displayName="MediaServiceLocation" ma:internalName="MediaServiceLocation22">
      <xsd:simpleType>
        <xsd:restriction base="dms:Text">
          <xsd:maxLength value="250"/>
        </xsd:restriction>
      </xsd:simpleType>
    </xsd:element>
    <xsd:element name="MediaServiceKeyPoints23" ma:index="94" nillable="true" ma:displayName="MediaServiceKeyPoints" ma:internalName="MediaServiceKeyPoints23">
      <xsd:simpleType>
        <xsd:restriction base="dms:Text">
          <xsd:maxLength value="250"/>
        </xsd:restriction>
      </xsd:simpleType>
    </xsd:element>
    <xsd:element name="MediaServiceLocation23" ma:index="95" nillable="true" ma:displayName="MediaServiceLocation" ma:internalName="MediaServiceLocation23">
      <xsd:simpleType>
        <xsd:restriction base="dms:Text">
          <xsd:maxLength value="250"/>
        </xsd:restriction>
      </xsd:simpleType>
    </xsd:element>
    <xsd:element name="MediaServiceKeyPoints24" ma:index="96" nillable="true" ma:displayName="MediaServiceKeyPoints" ma:internalName="MediaServiceKeyPoints24">
      <xsd:simpleType>
        <xsd:restriction base="dms:Text">
          <xsd:maxLength value="250"/>
        </xsd:restriction>
      </xsd:simpleType>
    </xsd:element>
    <xsd:element name="MediaServiceLocation24" ma:index="97" nillable="true" ma:displayName="MediaServiceLocation" ma:internalName="MediaServiceLocation24">
      <xsd:simpleType>
        <xsd:restriction base="dms:Text">
          <xsd:maxLength value="250"/>
        </xsd:restriction>
      </xsd:simpleType>
    </xsd:element>
    <xsd:element name="MediaServiceKeyPoints25" ma:index="98" nillable="true" ma:displayName="MediaServiceKeyPoints" ma:internalName="MediaServiceKeyPoints25">
      <xsd:simpleType>
        <xsd:restriction base="dms:Text">
          <xsd:maxLength value="250"/>
        </xsd:restriction>
      </xsd:simpleType>
    </xsd:element>
    <xsd:element name="MediaServiceLocation25" ma:index="99" nillable="true" ma:displayName="MediaServiceLocation" ma:internalName="MediaServiceLocation25">
      <xsd:simpleType>
        <xsd:restriction base="dms:Text">
          <xsd:maxLength value="250"/>
        </xsd:restriction>
      </xsd:simpleType>
    </xsd:element>
    <xsd:element name="MediaServiceKeyPoints26" ma:index="100" nillable="true" ma:displayName="MediaServiceKeyPoints" ma:internalName="MediaServiceKeyPoints26">
      <xsd:simpleType>
        <xsd:restriction base="dms:Text">
          <xsd:maxLength value="250"/>
        </xsd:restriction>
      </xsd:simpleType>
    </xsd:element>
    <xsd:element name="MediaServiceLocation26" ma:index="101" nillable="true" ma:displayName="MediaServiceLocation" ma:internalName="MediaServiceLocation26">
      <xsd:simpleType>
        <xsd:restriction base="dms:Text">
          <xsd:maxLength value="250"/>
        </xsd:restriction>
      </xsd:simpleType>
    </xsd:element>
    <xsd:element name="MediaServiceKeyPoints27" ma:index="102" nillable="true" ma:displayName="MediaServiceKeyPoints" ma:internalName="MediaServiceKeyPoints27">
      <xsd:simpleType>
        <xsd:restriction base="dms:Text">
          <xsd:maxLength value="250"/>
        </xsd:restriction>
      </xsd:simpleType>
    </xsd:element>
    <xsd:element name="MediaServiceLocation27" ma:index="103" nillable="true" ma:displayName="MediaServiceLocation" ma:internalName="MediaServiceLocation27">
      <xsd:simpleType>
        <xsd:restriction base="dms:Text">
          <xsd:maxLength value="250"/>
        </xsd:restriction>
      </xsd:simpleType>
    </xsd:element>
    <xsd:element name="MediaServiceKeyPoints28" ma:index="104" nillable="true" ma:displayName="MediaServiceKeyPoints" ma:internalName="MediaServiceKeyPoints28">
      <xsd:simpleType>
        <xsd:restriction base="dms:Text">
          <xsd:maxLength value="250"/>
        </xsd:restriction>
      </xsd:simpleType>
    </xsd:element>
    <xsd:element name="MediaServiceLocation28" ma:index="105" nillable="true" ma:displayName="MediaServiceLocation" ma:internalName="MediaServiceLocation28">
      <xsd:simpleType>
        <xsd:restriction base="dms:Text">
          <xsd:maxLength value="250"/>
        </xsd:restriction>
      </xsd:simpleType>
    </xsd:element>
    <xsd:element name="MediaServiceKeyPoints29" ma:index="106" nillable="true" ma:displayName="MediaServiceKeyPoints" ma:internalName="MediaServiceKeyPoints29">
      <xsd:simpleType>
        <xsd:restriction base="dms:Text">
          <xsd:maxLength value="250"/>
        </xsd:restriction>
      </xsd:simpleType>
    </xsd:element>
    <xsd:element name="MediaServiceLocation29" ma:index="107" nillable="true" ma:displayName="MediaServiceLocation" ma:internalName="MediaServiceLocation29">
      <xsd:simpleType>
        <xsd:restriction base="dms:Text">
          <xsd:maxLength value="250"/>
        </xsd:restriction>
      </xsd:simpleType>
    </xsd:element>
    <xsd:element name="MediaServiceKeyPoints30" ma:index="108" nillable="true" ma:displayName="MediaServiceKeyPoints" ma:internalName="MediaServiceKeyPoints30">
      <xsd:simpleType>
        <xsd:restriction base="dms:Text">
          <xsd:maxLength value="250"/>
        </xsd:restriction>
      </xsd:simpleType>
    </xsd:element>
    <xsd:element name="MediaServiceLocation30" ma:index="109" nillable="true" ma:displayName="MediaServiceLocation" ma:internalName="MediaServiceLocation30">
      <xsd:simpleType>
        <xsd:restriction base="dms:Text">
          <xsd:maxLength value="250"/>
        </xsd:restriction>
      </xsd:simpleType>
    </xsd:element>
    <xsd:element name="MediaServiceKeyPoints31" ma:index="110" nillable="true" ma:displayName="MediaServiceKeyPoints" ma:internalName="MediaServiceKeyPoints31">
      <xsd:simpleType>
        <xsd:restriction base="dms:Text">
          <xsd:maxLength value="250"/>
        </xsd:restriction>
      </xsd:simpleType>
    </xsd:element>
    <xsd:element name="MediaServiceLocation31" ma:index="111" nillable="true" ma:displayName="MediaServiceLocation" ma:internalName="MediaServiceLocation31">
      <xsd:simpleType>
        <xsd:restriction base="dms:Text">
          <xsd:maxLength value="250"/>
        </xsd:restriction>
      </xsd:simpleType>
    </xsd:element>
    <xsd:element name="MediaServiceKeyPoints32" ma:index="112" nillable="true" ma:displayName="MediaServiceKeyPoints" ma:internalName="MediaServiceKeyPoints32">
      <xsd:simpleType>
        <xsd:restriction base="dms:Text">
          <xsd:maxLength value="250"/>
        </xsd:restriction>
      </xsd:simpleType>
    </xsd:element>
    <xsd:element name="MediaServiceKeyPoints33" ma:index="113" nillable="true" ma:displayName="MediaServiceKeyPoints" ma:internalName="MediaServiceKeyPoints33">
      <xsd:simpleType>
        <xsd:restriction base="dms:Text">
          <xsd:maxLength value="250"/>
        </xsd:restriction>
      </xsd:simpleType>
    </xsd:element>
    <xsd:element name="MediaServiceKeyPoints34" ma:index="114" nillable="true" ma:displayName="MediaServiceKeyPoints" ma:internalName="MediaServiceKeyPoints34">
      <xsd:simpleType>
        <xsd:restriction base="dms:Text">
          <xsd:maxLength value="250"/>
        </xsd:restriction>
      </xsd:simpleType>
    </xsd:element>
    <xsd:element name="MediaServiceLocation32" ma:index="115" nillable="true" ma:displayName="MediaServiceLocation" ma:internalName="MediaServiceLocation32">
      <xsd:simpleType>
        <xsd:restriction base="dms:Text">
          <xsd:maxLength value="250"/>
        </xsd:restriction>
      </xsd:simpleType>
    </xsd:element>
    <xsd:element name="MediaServiceKeyPoints35" ma:index="116" nillable="true" ma:displayName="MediaServiceKeyPoints" ma:internalName="MediaServiceKeyPoints35">
      <xsd:simpleType>
        <xsd:restriction base="dms:Text">
          <xsd:maxLength value="250"/>
        </xsd:restriction>
      </xsd:simpleType>
    </xsd:element>
    <xsd:element name="MediaServiceKeyPoints36" ma:index="117" nillable="true" ma:displayName="MediaServiceKeyPoints" ma:internalName="MediaServiceKeyPoints36">
      <xsd:simpleType>
        <xsd:restriction base="dms:Text">
          <xsd:maxLength value="250"/>
        </xsd:restriction>
      </xsd:simpleType>
    </xsd:element>
    <xsd:element name="MediaServiceLocation33" ma:index="118" nillable="true" ma:displayName="MediaServiceLocation" ma:internalName="MediaServiceLocation33">
      <xsd:simpleType>
        <xsd:restriction base="dms:Text">
          <xsd:maxLength value="250"/>
        </xsd:restriction>
      </xsd:simpleType>
    </xsd:element>
    <xsd:element name="MediaServiceKeyPoints37" ma:index="119" nillable="true" ma:displayName="MediaServiceKeyPoints" ma:internalName="MediaServiceKeyPoints37">
      <xsd:simpleType>
        <xsd:restriction base="dms:Text">
          <xsd:maxLength value="250"/>
        </xsd:restriction>
      </xsd:simpleType>
    </xsd:element>
    <xsd:element name="MediaServiceLocation34" ma:index="120" nillable="true" ma:displayName="MediaServiceLocation" ma:internalName="MediaServiceLocation34">
      <xsd:simpleType>
        <xsd:restriction base="dms:Text">
          <xsd:maxLength value="250"/>
        </xsd:restriction>
      </xsd:simpleType>
    </xsd:element>
    <xsd:element name="MediaServiceLocation35" ma:index="121" nillable="true" ma:displayName="MediaServiceLocation" ma:internalName="MediaServiceLocation35">
      <xsd:simpleType>
        <xsd:restriction base="dms:Text">
          <xsd:maxLength value="250"/>
        </xsd:restriction>
      </xsd:simpleType>
    </xsd:element>
    <xsd:element name="MediaServiceKeyPoints38" ma:index="122" nillable="true" ma:displayName="MediaServiceKeyPoints" ma:internalName="MediaServiceKeyPoints38">
      <xsd:simpleType>
        <xsd:restriction base="dms:Text">
          <xsd:maxLength value="250"/>
        </xsd:restriction>
      </xsd:simpleType>
    </xsd:element>
    <xsd:element name="MediaServiceLocation36" ma:index="123" nillable="true" ma:displayName="MediaServiceLocation" ma:internalName="MediaServiceLocation36">
      <xsd:simpleType>
        <xsd:restriction base="dms:Text">
          <xsd:maxLength value="250"/>
        </xsd:restriction>
      </xsd:simpleType>
    </xsd:element>
    <xsd:element name="MediaServiceLocation37" ma:index="124" nillable="true" ma:displayName="MediaServiceLocation" ma:internalName="MediaServiceLocation37">
      <xsd:simpleType>
        <xsd:restriction base="dms:Text">
          <xsd:maxLength value="250"/>
        </xsd:restriction>
      </xsd:simpleType>
    </xsd:element>
    <xsd:element name="MediaServiceKeyPoints39" ma:index="125" nillable="true" ma:displayName="MediaServiceKeyPoints" ma:internalName="MediaServiceKeyPoints39">
      <xsd:simpleType>
        <xsd:restriction base="dms:Text">
          <xsd:maxLength value="250"/>
        </xsd:restriction>
      </xsd:simpleType>
    </xsd:element>
    <xsd:element name="MediaServiceLocation38" ma:index="126" nillable="true" ma:displayName="MediaServiceLocation" ma:internalName="MediaServiceLocation38">
      <xsd:simpleType>
        <xsd:restriction base="dms:Text">
          <xsd:maxLength value="250"/>
        </xsd:restriction>
      </xsd:simpleType>
    </xsd:element>
    <xsd:element name="MediaServiceKeyPoints40" ma:index="127" nillable="true" ma:displayName="MediaServiceKeyPoints" ma:internalName="MediaServiceKeyPoints40">
      <xsd:simpleType>
        <xsd:restriction base="dms:Text">
          <xsd:maxLength value="250"/>
        </xsd:restriction>
      </xsd:simpleType>
    </xsd:element>
    <xsd:element name="MediaServiceKeyPoints41" ma:index="128" nillable="true" ma:displayName="MediaServiceKeyPoints" ma:internalName="MediaServiceKeyPoints41">
      <xsd:simpleType>
        <xsd:restriction base="dms:Text">
          <xsd:maxLength value="250"/>
        </xsd:restriction>
      </xsd:simpleType>
    </xsd:element>
    <xsd:element name="MediaServiceKeyPoints42" ma:index="129" nillable="true" ma:displayName="MediaServiceKeyPoints" ma:internalName="MediaServiceKeyPoints42">
      <xsd:simpleType>
        <xsd:restriction base="dms:Text">
          <xsd:maxLength value="250"/>
        </xsd:restriction>
      </xsd:simpleType>
    </xsd:element>
    <xsd:element name="MediaServiceKeyPoints43" ma:index="130" nillable="true" ma:displayName="MediaServiceKeyPoints" ma:internalName="MediaServiceKeyPoints43">
      <xsd:simpleType>
        <xsd:restriction base="dms:Text">
          <xsd:maxLength value="250"/>
        </xsd:restriction>
      </xsd:simpleType>
    </xsd:element>
    <xsd:element name="MediaServiceLocation39" ma:index="131" nillable="true" ma:displayName="MediaServiceLocation" ma:internalName="MediaServiceLocation39">
      <xsd:simpleType>
        <xsd:restriction base="dms:Text">
          <xsd:maxLength value="250"/>
        </xsd:restriction>
      </xsd:simpleType>
    </xsd:element>
    <xsd:element name="MediaServiceLocation40" ma:index="132" nillable="true" ma:displayName="MediaServiceLocation" ma:internalName="MediaServiceLocation40">
      <xsd:simpleType>
        <xsd:restriction base="dms:Text">
          <xsd:maxLength value="250"/>
        </xsd:restriction>
      </xsd:simpleType>
    </xsd:element>
    <xsd:element name="MediaServiceKeyPoints44" ma:index="133" nillable="true" ma:displayName="MediaServiceKeyPoints" ma:internalName="MediaServiceKeyPoints44">
      <xsd:simpleType>
        <xsd:restriction base="dms:Text">
          <xsd:maxLength value="250"/>
        </xsd:restriction>
      </xsd:simpleType>
    </xsd:element>
    <xsd:element name="MediaServiceLocation41" ma:index="134" nillable="true" ma:displayName="MediaServiceLocation" ma:internalName="MediaServiceLocation41">
      <xsd:simpleType>
        <xsd:restriction base="dms:Text">
          <xsd:maxLength value="250"/>
        </xsd:restriction>
      </xsd:simpleType>
    </xsd:element>
    <xsd:element name="MediaServiceLocation42" ma:index="135" nillable="true" ma:displayName="MediaServiceLocation" ma:internalName="MediaServiceLocation42">
      <xsd:simpleType>
        <xsd:restriction base="dms:Text">
          <xsd:maxLength value="250"/>
        </xsd:restriction>
      </xsd:simpleType>
    </xsd:element>
    <xsd:element name="MediaServiceKeyPoints45" ma:index="136" nillable="true" ma:displayName="MediaServiceKeyPoints" ma:internalName="MediaServiceKeyPoints45">
      <xsd:simpleType>
        <xsd:restriction base="dms:Text">
          <xsd:maxLength value="250"/>
        </xsd:restriction>
      </xsd:simpleType>
    </xsd:element>
    <xsd:element name="MediaServiceKeyPoints46" ma:index="137" nillable="true" ma:displayName="MediaServiceKeyPoints" ma:internalName="MediaServiceKeyPoints46">
      <xsd:simpleType>
        <xsd:restriction base="dms:Text">
          <xsd:maxLength value="250"/>
        </xsd:restriction>
      </xsd:simpleType>
    </xsd:element>
    <xsd:element name="MediaServiceLocation43" ma:index="138" nillable="true" ma:displayName="MediaServiceLocation" ma:internalName="MediaServiceLocation43">
      <xsd:simpleType>
        <xsd:restriction base="dms:Text">
          <xsd:maxLength value="250"/>
        </xsd:restriction>
      </xsd:simpleType>
    </xsd:element>
    <xsd:element name="MediaServiceLocation44" ma:index="139" nillable="true" ma:displayName="MediaServiceLocation" ma:internalName="MediaServiceLocation44">
      <xsd:simpleType>
        <xsd:restriction base="dms:Text">
          <xsd:maxLength value="250"/>
        </xsd:restriction>
      </xsd:simpleType>
    </xsd:element>
    <xsd:element name="MediaServiceKeyPoints47" ma:index="140" nillable="true" ma:displayName="MediaServiceKeyPoints" ma:internalName="MediaServiceKeyPoints47">
      <xsd:simpleType>
        <xsd:restriction base="dms:Text">
          <xsd:maxLength value="250"/>
        </xsd:restriction>
      </xsd:simpleType>
    </xsd:element>
    <xsd:element name="MediaServiceKeyPoints48" ma:index="141" nillable="true" ma:displayName="MediaServiceKeyPoints" ma:internalName="MediaServiceKeyPoints48">
      <xsd:simpleType>
        <xsd:restriction base="dms:Text">
          <xsd:maxLength value="250"/>
        </xsd:restriction>
      </xsd:simpleType>
    </xsd:element>
    <xsd:element name="MediaServiceKeyPoints49" ma:index="142" nillable="true" ma:displayName="MediaServiceKeyPoints" ma:internalName="MediaServiceKeyPoints49">
      <xsd:simpleType>
        <xsd:restriction base="dms:Text">
          <xsd:maxLength value="250"/>
        </xsd:restriction>
      </xsd:simpleType>
    </xsd:element>
    <xsd:element name="MediaServiceLocation45" ma:index="143" nillable="true" ma:displayName="MediaServiceLocation" ma:internalName="MediaServiceLocation45">
      <xsd:simpleType>
        <xsd:restriction base="dms:Text">
          <xsd:maxLength value="250"/>
        </xsd:restriction>
      </xsd:simpleType>
    </xsd:element>
    <xsd:element name="MediaServiceKeyPoints50" ma:index="144" nillable="true" ma:displayName="MediaServiceKeyPoints" ma:internalName="MediaServiceKeyPoints50">
      <xsd:simpleType>
        <xsd:restriction base="dms:Text">
          <xsd:maxLength value="250"/>
        </xsd:restriction>
      </xsd:simpleType>
    </xsd:element>
    <xsd:element name="MediaServiceLocation46" ma:index="145" nillable="true" ma:displayName="MediaServiceLocation" ma:internalName="MediaServiceLocation46">
      <xsd:simpleType>
        <xsd:restriction base="dms:Text">
          <xsd:maxLength value="250"/>
        </xsd:restriction>
      </xsd:simpleType>
    </xsd:element>
    <xsd:element name="MediaServiceLocation47" ma:index="146" nillable="true" ma:displayName="MediaServiceLocation" ma:internalName="MediaServiceLocation47">
      <xsd:simpleType>
        <xsd:restriction base="dms:Text">
          <xsd:maxLength value="250"/>
        </xsd:restriction>
      </xsd:simpleType>
    </xsd:element>
    <xsd:element name="MediaServiceLocation48" ma:index="147" nillable="true" ma:displayName="MediaServiceLocation" ma:internalName="MediaServiceLocation48">
      <xsd:simpleType>
        <xsd:restriction base="dms:Text">
          <xsd:maxLength value="250"/>
        </xsd:restriction>
      </xsd:simpleType>
    </xsd:element>
    <xsd:element name="MediaServiceKeyPoints51" ma:index="148" nillable="true" ma:displayName="MediaServiceKeyPoints" ma:internalName="MediaServiceKeyPoints51">
      <xsd:simpleType>
        <xsd:restriction base="dms:Text">
          <xsd:maxLength value="250"/>
        </xsd:restriction>
      </xsd:simpleType>
    </xsd:element>
    <xsd:element name="MediaServiceLocation49" ma:index="149" nillable="true" ma:displayName="MediaServiceLocation" ma:internalName="MediaServiceLocation49">
      <xsd:simpleType>
        <xsd:restriction base="dms:Text">
          <xsd:maxLength value="250"/>
        </xsd:restriction>
      </xsd:simpleType>
    </xsd:element>
    <xsd:element name="MediaServiceLocation50" ma:index="150" nillable="true" ma:displayName="MediaServiceLocation" ma:internalName="MediaServiceLocation50">
      <xsd:simpleType>
        <xsd:restriction base="dms:Text">
          <xsd:maxLength value="250"/>
        </xsd:restriction>
      </xsd:simpleType>
    </xsd:element>
    <xsd:element name="MediaServiceLocation51" ma:index="151" nillable="true" ma:displayName="MediaServiceLocation" ma:internalName="MediaServiceLocation51">
      <xsd:simpleType>
        <xsd:restriction base="dms:Text">
          <xsd:maxLength value="250"/>
        </xsd:restriction>
      </xsd:simpleType>
    </xsd:element>
    <xsd:element name="MediaServiceKeyPoints52" ma:index="152" nillable="true" ma:displayName="MediaServiceKeyPoints" ma:internalName="MediaServiceKeyPoints52">
      <xsd:simpleType>
        <xsd:restriction base="dms:Text">
          <xsd:maxLength value="250"/>
        </xsd:restriction>
      </xsd:simpleType>
    </xsd:element>
    <xsd:element name="MediaServiceLocation52" ma:index="153" nillable="true" ma:displayName="MediaServiceLocation" ma:internalName="MediaServiceLocation52">
      <xsd:simpleType>
        <xsd:restriction base="dms:Text">
          <xsd:maxLength value="250"/>
        </xsd:restriction>
      </xsd:simpleType>
    </xsd:element>
    <xsd:element name="MediaServiceKeyPoints53" ma:index="154" nillable="true" ma:displayName="MediaServiceKeyPoints" ma:internalName="MediaServiceKeyPoints53">
      <xsd:simpleType>
        <xsd:restriction base="dms:Text">
          <xsd:maxLength value="250"/>
        </xsd:restriction>
      </xsd:simpleType>
    </xsd:element>
    <xsd:element name="MediaServiceKeyPoints54" ma:index="155" nillable="true" ma:displayName="MediaServiceKeyPoints" ma:internalName="MediaServiceKeyPoints54">
      <xsd:simpleType>
        <xsd:restriction base="dms:Text">
          <xsd:maxLength value="250"/>
        </xsd:restriction>
      </xsd:simpleType>
    </xsd:element>
    <xsd:element name="MediaServiceLocation53" ma:index="156" nillable="true" ma:displayName="MediaServiceLocation" ma:internalName="MediaServiceLocation53">
      <xsd:simpleType>
        <xsd:restriction base="dms:Text">
          <xsd:maxLength value="250"/>
        </xsd:restriction>
      </xsd:simpleType>
    </xsd:element>
    <xsd:element name="MediaServiceKeyPoints55" ma:index="157" nillable="true" ma:displayName="MediaServiceKeyPoints" ma:internalName="MediaServiceKeyPoints55">
      <xsd:simpleType>
        <xsd:restriction base="dms:Text">
          <xsd:maxLength value="250"/>
        </xsd:restriction>
      </xsd:simpleType>
    </xsd:element>
    <xsd:element name="MediaServiceKeyPoints56" ma:index="158" nillable="true" ma:displayName="MediaServiceKeyPoints" ma:internalName="MediaServiceKeyPoints56">
      <xsd:simpleType>
        <xsd:restriction base="dms:Text">
          <xsd:maxLength value="250"/>
        </xsd:restriction>
      </xsd:simpleType>
    </xsd:element>
    <xsd:element name="MediaServiceKeyPoints57" ma:index="159" nillable="true" ma:displayName="MediaServiceKeyPoints" ma:internalName="MediaServiceKeyPoints57">
      <xsd:simpleType>
        <xsd:restriction base="dms:Text">
          <xsd:maxLength value="250"/>
        </xsd:restriction>
      </xsd:simpleType>
    </xsd:element>
    <xsd:element name="MediaServiceKeyPoints58" ma:index="160" nillable="true" ma:displayName="MediaServiceKeyPoints" ma:internalName="MediaServiceKeyPoints58">
      <xsd:simpleType>
        <xsd:restriction base="dms:Text">
          <xsd:maxLength value="250"/>
        </xsd:restriction>
      </xsd:simpleType>
    </xsd:element>
    <xsd:element name="MediaServiceLocation54" ma:index="161" nillable="true" ma:displayName="MediaServiceLocation" ma:internalName="MediaServiceLocation54">
      <xsd:simpleType>
        <xsd:restriction base="dms:Text">
          <xsd:maxLength value="250"/>
        </xsd:restriction>
      </xsd:simpleType>
    </xsd:element>
    <xsd:element name="MediaServiceLocation55" ma:index="162" nillable="true" ma:displayName="MediaServiceLocation" ma:internalName="MediaServiceLocation55">
      <xsd:simpleType>
        <xsd:restriction base="dms:Text">
          <xsd:maxLength value="250"/>
        </xsd:restriction>
      </xsd:simpleType>
    </xsd:element>
    <xsd:element name="MediaServiceKeyPoints59" ma:index="163" nillable="true" ma:displayName="MediaServiceKeyPoints" ma:internalName="MediaServiceKeyPoints59">
      <xsd:simpleType>
        <xsd:restriction base="dms:Text">
          <xsd:maxLength value="250"/>
        </xsd:restriction>
      </xsd:simpleType>
    </xsd:element>
    <xsd:element name="MediaServiceLocation56" ma:index="164" nillable="true" ma:displayName="MediaServiceLocation" ma:internalName="MediaServiceLocation56">
      <xsd:simpleType>
        <xsd:restriction base="dms:Text">
          <xsd:maxLength value="250"/>
        </xsd:restriction>
      </xsd:simpleType>
    </xsd:element>
    <xsd:element name="MediaServiceKeyPoints60" ma:index="165" nillable="true" ma:displayName="MediaServiceKeyPoints" ma:internalName="MediaServiceKeyPoints60">
      <xsd:simpleType>
        <xsd:restriction base="dms:Text">
          <xsd:maxLength value="250"/>
        </xsd:restriction>
      </xsd:simpleType>
    </xsd:element>
    <xsd:element name="MediaServiceLocation57" ma:index="166" nillable="true" ma:displayName="MediaServiceLocation" ma:internalName="MediaServiceLocation57">
      <xsd:simpleType>
        <xsd:restriction base="dms:Text">
          <xsd:maxLength value="250"/>
        </xsd:restriction>
      </xsd:simpleType>
    </xsd:element>
    <xsd:element name="MediaServiceKeyPoints61" ma:index="167" nillable="true" ma:displayName="MediaServiceKeyPoints" ma:internalName="MediaServiceKeyPoints61">
      <xsd:simpleType>
        <xsd:restriction base="dms:Text">
          <xsd:maxLength value="250"/>
        </xsd:restriction>
      </xsd:simpleType>
    </xsd:element>
    <xsd:element name="MediaServiceLocation58" ma:index="168" nillable="true" ma:displayName="MediaServiceLocation" ma:internalName="MediaServiceLocation58">
      <xsd:simpleType>
        <xsd:restriction base="dms:Text">
          <xsd:maxLength value="250"/>
        </xsd:restriction>
      </xsd:simpleType>
    </xsd:element>
    <xsd:element name="MediaServiceLocation59" ma:index="169" nillable="true" ma:displayName="MediaServiceLocation" ma:internalName="MediaServiceLocation59">
      <xsd:simpleType>
        <xsd:restriction base="dms:Text">
          <xsd:maxLength value="250"/>
        </xsd:restriction>
      </xsd:simpleType>
    </xsd:element>
    <xsd:element name="MediaServiceKeyPoints62" ma:index="170" nillable="true" ma:displayName="MediaServiceKeyPoints" ma:internalName="MediaServiceKeyPoints62">
      <xsd:simpleType>
        <xsd:restriction base="dms:Text">
          <xsd:maxLength value="250"/>
        </xsd:restriction>
      </xsd:simpleType>
    </xsd:element>
    <xsd:element name="MediaServiceKeyPoints63" ma:index="171" nillable="true" ma:displayName="MediaServiceKeyPoints" ma:internalName="MediaServiceKeyPoints63">
      <xsd:simpleType>
        <xsd:restriction base="dms:Text">
          <xsd:maxLength value="250"/>
        </xsd:restriction>
      </xsd:simpleType>
    </xsd:element>
    <xsd:element name="MediaServiceLocation60" ma:index="172" nillable="true" ma:displayName="MediaServiceLocation" ma:internalName="MediaServiceLocation60">
      <xsd:simpleType>
        <xsd:restriction base="dms:Text">
          <xsd:maxLength value="250"/>
        </xsd:restriction>
      </xsd:simpleType>
    </xsd:element>
    <xsd:element name="MediaServiceKeyPoints64" ma:index="173" nillable="true" ma:displayName="MediaServiceKeyPoints" ma:internalName="MediaServiceKeyPoints64">
      <xsd:simpleType>
        <xsd:restriction base="dms:Text">
          <xsd:maxLength value="250"/>
        </xsd:restriction>
      </xsd:simpleType>
    </xsd:element>
    <xsd:element name="MediaServiceLocation61" ma:index="174" nillable="true" ma:displayName="MediaServiceLocation" ma:internalName="MediaServiceLocation61">
      <xsd:simpleType>
        <xsd:restriction base="dms:Text">
          <xsd:maxLength value="250"/>
        </xsd:restriction>
      </xsd:simpleType>
    </xsd:element>
    <xsd:element name="MediaServiceKeyPoints65" ma:index="175" nillable="true" ma:displayName="MediaServiceKeyPoints" ma:internalName="MediaServiceKeyPoints65">
      <xsd:simpleType>
        <xsd:restriction base="dms:Text">
          <xsd:maxLength value="250"/>
        </xsd:restriction>
      </xsd:simpleType>
    </xsd:element>
    <xsd:element name="MediaServiceLocation62" ma:index="176" nillable="true" ma:displayName="MediaServiceLocation" ma:internalName="MediaServiceLocation62">
      <xsd:simpleType>
        <xsd:restriction base="dms:Text">
          <xsd:maxLength value="250"/>
        </xsd:restriction>
      </xsd:simpleType>
    </xsd:element>
    <xsd:element name="MediaServiceKeyPoints66" ma:index="177" nillable="true" ma:displayName="MediaServiceKeyPoints" ma:internalName="MediaServiceKeyPoints66">
      <xsd:simpleType>
        <xsd:restriction base="dms:Text">
          <xsd:maxLength value="250"/>
        </xsd:restriction>
      </xsd:simpleType>
    </xsd:element>
    <xsd:element name="MediaServiceLocation63" ma:index="178" nillable="true" ma:displayName="MediaServiceLocation" ma:internalName="MediaServiceLocation63">
      <xsd:simpleType>
        <xsd:restriction base="dms:Text">
          <xsd:maxLength value="250"/>
        </xsd:restriction>
      </xsd:simpleType>
    </xsd:element>
    <xsd:element name="MediaServiceLocation64" ma:index="179" nillable="true" ma:displayName="MediaServiceLocation" ma:internalName="MediaServiceLocation64">
      <xsd:simpleType>
        <xsd:restriction base="dms:Text">
          <xsd:maxLength value="250"/>
        </xsd:restriction>
      </xsd:simpleType>
    </xsd:element>
    <xsd:element name="MediaServiceKeyPoints67" ma:index="180" nillable="true" ma:displayName="MediaServiceKeyPoints" ma:internalName="MediaServiceKeyPoints67">
      <xsd:simpleType>
        <xsd:restriction base="dms:Text">
          <xsd:maxLength value="250"/>
        </xsd:restriction>
      </xsd:simpleType>
    </xsd:element>
    <xsd:element name="MediaServiceLocation65" ma:index="181" nillable="true" ma:displayName="MediaServiceLocation" ma:internalName="MediaServiceLocation65">
      <xsd:simpleType>
        <xsd:restriction base="dms:Text">
          <xsd:maxLength value="250"/>
        </xsd:restriction>
      </xsd:simpleType>
    </xsd:element>
    <xsd:element name="MediaServiceLocation66" ma:index="182" nillable="true" ma:displayName="MediaServiceLocation" ma:internalName="MediaServiceLocation66">
      <xsd:simpleType>
        <xsd:restriction base="dms:Text">
          <xsd:maxLength value="250"/>
        </xsd:restriction>
      </xsd:simpleType>
    </xsd:element>
    <xsd:element name="MediaServiceLocation67" ma:index="183" nillable="true" ma:displayName="MediaServiceLocation" ma:internalName="MediaServiceLocation67">
      <xsd:simpleType>
        <xsd:restriction base="dms:Text">
          <xsd:maxLength value="250"/>
        </xsd:restriction>
      </xsd:simpleType>
    </xsd:element>
    <xsd:element name="MediaServiceKeyPoints68" ma:index="184" nillable="true" ma:displayName="MediaServiceKeyPoints" ma:internalName="MediaServiceKeyPoints68">
      <xsd:simpleType>
        <xsd:restriction base="dms:Text">
          <xsd:maxLength value="250"/>
        </xsd:restriction>
      </xsd:simpleType>
    </xsd:element>
    <xsd:element name="MediaServiceLocation68" ma:index="185" nillable="true" ma:displayName="MediaServiceLocation" ma:internalName="MediaServiceLocation68">
      <xsd:simpleType>
        <xsd:restriction base="dms:Text">
          <xsd:maxLength value="250"/>
        </xsd:restriction>
      </xsd:simpleType>
    </xsd:element>
    <xsd:element name="MediaServiceKeyPoints69" ma:index="186" nillable="true" ma:displayName="MediaServiceKeyPoints" ma:internalName="MediaServiceKeyPoints69">
      <xsd:simpleType>
        <xsd:restriction base="dms:Text">
          <xsd:maxLength value="250"/>
        </xsd:restriction>
      </xsd:simpleType>
    </xsd:element>
    <xsd:element name="MediaServiceKeyPoints70" ma:index="187" nillable="true" ma:displayName="MediaServiceKeyPoints" ma:internalName="MediaServiceKeyPoints70">
      <xsd:simpleType>
        <xsd:restriction base="dms:Text">
          <xsd:maxLength value="250"/>
        </xsd:restriction>
      </xsd:simpleType>
    </xsd:element>
    <xsd:element name="MediaServiceKeyPoints71" ma:index="188" nillable="true" ma:displayName="MediaServiceKeyPoints" ma:internalName="MediaServiceKeyPoints71">
      <xsd:simpleType>
        <xsd:restriction base="dms:Text">
          <xsd:maxLength value="250"/>
        </xsd:restriction>
      </xsd:simpleType>
    </xsd:element>
    <xsd:element name="MediaServiceKeyPoints72" ma:index="189" nillable="true" ma:displayName="MediaServiceKeyPoints" ma:internalName="MediaServiceKeyPoints72">
      <xsd:simpleType>
        <xsd:restriction base="dms:Text">
          <xsd:maxLength value="250"/>
        </xsd:restriction>
      </xsd:simpleType>
    </xsd:element>
    <xsd:element name="MediaServiceKeyPoints73" ma:index="190" nillable="true" ma:displayName="MediaServiceKeyPoints" ma:internalName="MediaServiceKeyPoints73">
      <xsd:simpleType>
        <xsd:restriction base="dms:Text">
          <xsd:maxLength value="250"/>
        </xsd:restriction>
      </xsd:simpleType>
    </xsd:element>
    <xsd:element name="MediaServiceLocation69" ma:index="191" nillable="true" ma:displayName="MediaServiceLocation" ma:internalName="MediaServiceLocation69">
      <xsd:simpleType>
        <xsd:restriction base="dms:Text">
          <xsd:maxLength value="250"/>
        </xsd:restriction>
      </xsd:simpleType>
    </xsd:element>
    <xsd:element name="MediaServiceKeyPoints74" ma:index="192" nillable="true" ma:displayName="MediaServiceKeyPoints" ma:internalName="MediaServiceKeyPoints74">
      <xsd:simpleType>
        <xsd:restriction base="dms:Text">
          <xsd:maxLength value="250"/>
        </xsd:restriction>
      </xsd:simpleType>
    </xsd:element>
    <xsd:element name="MediaServiceKeyPoints75" ma:index="193" nillable="true" ma:displayName="MediaServiceKeyPoints" ma:internalName="MediaServiceKeyPoints75">
      <xsd:simpleType>
        <xsd:restriction base="dms:Text">
          <xsd:maxLength value="250"/>
        </xsd:restriction>
      </xsd:simpleType>
    </xsd:element>
    <xsd:element name="MediaServiceLocation70" ma:index="194" nillable="true" ma:displayName="MediaServiceLocation" ma:internalName="MediaServiceLocation70">
      <xsd:simpleType>
        <xsd:restriction base="dms:Text">
          <xsd:maxLength value="250"/>
        </xsd:restriction>
      </xsd:simpleType>
    </xsd:element>
    <xsd:element name="MediaServiceKeyPoints76" ma:index="195" nillable="true" ma:displayName="MediaServiceKeyPoints" ma:internalName="MediaServiceKeyPoints76">
      <xsd:simpleType>
        <xsd:restriction base="dms:Text">
          <xsd:maxLength value="250"/>
        </xsd:restriction>
      </xsd:simpleType>
    </xsd:element>
    <xsd:element name="MediaServiceLocation71" ma:index="196" nillable="true" ma:displayName="MediaServiceLocation" ma:internalName="MediaServiceLocation71">
      <xsd:simpleType>
        <xsd:restriction base="dms:Text">
          <xsd:maxLength value="250"/>
        </xsd:restriction>
      </xsd:simpleType>
    </xsd:element>
    <xsd:element name="MediaServiceLocation72" ma:index="197" nillable="true" ma:displayName="MediaServiceLocation" ma:internalName="MediaServiceLocation72">
      <xsd:simpleType>
        <xsd:restriction base="dms:Text">
          <xsd:maxLength value="250"/>
        </xsd:restriction>
      </xsd:simpleType>
    </xsd:element>
    <xsd:element name="MediaServiceLocation73" ma:index="198" nillable="true" ma:displayName="MediaServiceLocation" ma:internalName="MediaServiceLocation73">
      <xsd:simpleType>
        <xsd:restriction base="dms:Text">
          <xsd:maxLength value="250"/>
        </xsd:restriction>
      </xsd:simpleType>
    </xsd:element>
    <xsd:element name="MediaServiceLocation74" ma:index="199" nillable="true" ma:displayName="MediaServiceLocation" ma:internalName="MediaServiceLocation74">
      <xsd:simpleType>
        <xsd:restriction base="dms:Text">
          <xsd:maxLength value="250"/>
        </xsd:restriction>
      </xsd:simpleType>
    </xsd:element>
    <xsd:element name="MediaServiceKeyPoints77" ma:index="200" nillable="true" ma:displayName="MediaServiceKeyPoints" ma:internalName="MediaServiceKeyPoints77">
      <xsd:simpleType>
        <xsd:restriction base="dms:Text">
          <xsd:maxLength value="250"/>
        </xsd:restriction>
      </xsd:simpleType>
    </xsd:element>
    <xsd:element name="MediaServiceLocation75" ma:index="201" nillable="true" ma:displayName="MediaServiceLocation" ma:internalName="MediaServiceLocation75">
      <xsd:simpleType>
        <xsd:restriction base="dms:Text">
          <xsd:maxLength value="250"/>
        </xsd:restriction>
      </xsd:simpleType>
    </xsd:element>
    <xsd:element name="MediaServiceLocation76" ma:index="202" nillable="true" ma:displayName="MediaServiceLocation" ma:internalName="MediaServiceLocation76">
      <xsd:simpleType>
        <xsd:restriction base="dms:Text">
          <xsd:maxLength value="250"/>
        </xsd:restriction>
      </xsd:simpleType>
    </xsd:element>
    <xsd:element name="MediaServiceKeyPoints78" ma:index="203" nillable="true" ma:displayName="MediaServiceKeyPoints" ma:internalName="MediaServiceKeyPoints78">
      <xsd:simpleType>
        <xsd:restriction base="dms:Text">
          <xsd:maxLength value="250"/>
        </xsd:restriction>
      </xsd:simpleType>
    </xsd:element>
    <xsd:element name="MediaServiceKeyPoints79" ma:index="204" nillable="true" ma:displayName="MediaServiceKeyPoints" ma:internalName="MediaServiceKeyPoints79">
      <xsd:simpleType>
        <xsd:restriction base="dms:Text">
          <xsd:maxLength value="250"/>
        </xsd:restriction>
      </xsd:simpleType>
    </xsd:element>
    <xsd:element name="MediaServiceKeyPoints80" ma:index="205" nillable="true" ma:displayName="MediaServiceKeyPoints" ma:internalName="MediaServiceKeyPoints80">
      <xsd:simpleType>
        <xsd:restriction base="dms:Text">
          <xsd:maxLength value="250"/>
        </xsd:restriction>
      </xsd:simpleType>
    </xsd:element>
    <xsd:element name="MediaServiceKeyPoints81" ma:index="206" nillable="true" ma:displayName="MediaServiceKeyPoints" ma:internalName="MediaServiceKeyPoints81">
      <xsd:simpleType>
        <xsd:restriction base="dms:Text">
          <xsd:maxLength value="250"/>
        </xsd:restriction>
      </xsd:simpleType>
    </xsd:element>
    <xsd:element name="MediaServiceLocation77" ma:index="207" nillable="true" ma:displayName="MediaServiceLocation" ma:internalName="MediaServiceLocation77">
      <xsd:simpleType>
        <xsd:restriction base="dms:Text">
          <xsd:maxLength value="250"/>
        </xsd:restriction>
      </xsd:simpleType>
    </xsd:element>
    <xsd:element name="MediaServiceKeyPoints82" ma:index="208" nillable="true" ma:displayName="MediaServiceKeyPoints" ma:internalName="MediaServiceKeyPoints82">
      <xsd:simpleType>
        <xsd:restriction base="dms:Text">
          <xsd:maxLength value="250"/>
        </xsd:restriction>
      </xsd:simpleType>
    </xsd:element>
    <xsd:element name="MediaServiceKeyPoints83" ma:index="209" nillable="true" ma:displayName="MediaServiceKeyPoints" ma:internalName="MediaServiceKeyPoints83">
      <xsd:simpleType>
        <xsd:restriction base="dms:Text">
          <xsd:maxLength value="250"/>
        </xsd:restriction>
      </xsd:simpleType>
    </xsd:element>
    <xsd:element name="MediaServiceLocation78" ma:index="210" nillable="true" ma:displayName="MediaServiceLocation" ma:internalName="MediaServiceLocation78">
      <xsd:simpleType>
        <xsd:restriction base="dms:Text">
          <xsd:maxLength value="250"/>
        </xsd:restriction>
      </xsd:simpleType>
    </xsd:element>
    <xsd:element name="MediaServiceLocation79" ma:index="211" nillable="true" ma:displayName="MediaServiceLocation" ma:internalName="MediaServiceLocation79">
      <xsd:simpleType>
        <xsd:restriction base="dms:Text">
          <xsd:maxLength value="250"/>
        </xsd:restriction>
      </xsd:simpleType>
    </xsd:element>
    <xsd:element name="MediaServiceLocation80" ma:index="212" nillable="true" ma:displayName="MediaServiceLocation" ma:internalName="MediaServiceLocation80">
      <xsd:simpleType>
        <xsd:restriction base="dms:Text">
          <xsd:maxLength value="250"/>
        </xsd:restriction>
      </xsd:simpleType>
    </xsd:element>
    <xsd:element name="MediaServiceLocation81" ma:index="213" nillable="true" ma:displayName="MediaServiceLocation" ma:internalName="MediaServiceLocation81">
      <xsd:simpleType>
        <xsd:restriction base="dms:Text">
          <xsd:maxLength value="250"/>
        </xsd:restriction>
      </xsd:simpleType>
    </xsd:element>
    <xsd:element name="MediaServiceLocation82" ma:index="214" nillable="true" ma:displayName="MediaServiceLocation" ma:internalName="MediaServiceLocation82">
      <xsd:simpleType>
        <xsd:restriction base="dms:Text">
          <xsd:maxLength value="250"/>
        </xsd:restriction>
      </xsd:simpleType>
    </xsd:element>
    <xsd:element name="MediaServiceKeyPoints84" ma:index="215" nillable="true" ma:displayName="MediaServiceKeyPoints" ma:internalName="MediaServiceKeyPoints84">
      <xsd:simpleType>
        <xsd:restriction base="dms:Text">
          <xsd:maxLength value="250"/>
        </xsd:restriction>
      </xsd:simpleType>
    </xsd:element>
    <xsd:element name="MediaServiceLocation83" ma:index="216" nillable="true" ma:displayName="MediaServiceLocation" ma:internalName="MediaServiceLocation83">
      <xsd:simpleType>
        <xsd:restriction base="dms:Text">
          <xsd:maxLength value="250"/>
        </xsd:restriction>
      </xsd:simpleType>
    </xsd:element>
    <xsd:element name="MediaServiceKeyPoints85" ma:index="217" nillable="true" ma:displayName="MediaServiceKeyPoints" ma:internalName="MediaServiceKeyPoints85">
      <xsd:simpleType>
        <xsd:restriction base="dms:Text">
          <xsd:maxLength value="250"/>
        </xsd:restriction>
      </xsd:simpleType>
    </xsd:element>
    <xsd:element name="MediaServiceLocation84" ma:index="218" nillable="true" ma:displayName="MediaServiceLocation" ma:internalName="MediaServiceLocation84">
      <xsd:simpleType>
        <xsd:restriction base="dms:Text">
          <xsd:maxLength value="250"/>
        </xsd:restriction>
      </xsd:simpleType>
    </xsd:element>
    <xsd:element name="MediaServiceKeyPoints86" ma:index="219" nillable="true" ma:displayName="MediaServiceKeyPoints" ma:internalName="MediaServiceKeyPoints86">
      <xsd:simpleType>
        <xsd:restriction base="dms:Text">
          <xsd:maxLength value="250"/>
        </xsd:restriction>
      </xsd:simpleType>
    </xsd:element>
    <xsd:element name="MediaServiceLocation85" ma:index="220" nillable="true" ma:displayName="MediaServiceLocation" ma:internalName="MediaServiceLocation85">
      <xsd:simpleType>
        <xsd:restriction base="dms:Text">
          <xsd:maxLength value="250"/>
        </xsd:restriction>
      </xsd:simpleType>
    </xsd:element>
    <xsd:element name="MediaServiceKeyPoints87" ma:index="221" nillable="true" ma:displayName="MediaServiceKeyPoints" ma:internalName="MediaServiceKeyPoints87">
      <xsd:simpleType>
        <xsd:restriction base="dms:Text">
          <xsd:maxLength value="250"/>
        </xsd:restriction>
      </xsd:simpleType>
    </xsd:element>
    <xsd:element name="MediaServiceLocation86" ma:index="222" nillable="true" ma:displayName="MediaServiceLocation" ma:internalName="MediaServiceLocation86">
      <xsd:simpleType>
        <xsd:restriction base="dms:Text">
          <xsd:maxLength value="250"/>
        </xsd:restriction>
      </xsd:simpleType>
    </xsd:element>
    <xsd:element name="MediaServiceKeyPoints88" ma:index="223" nillable="true" ma:displayName="MediaServiceKeyPoints" ma:internalName="MediaServiceKeyPoints88">
      <xsd:simpleType>
        <xsd:restriction base="dms:Text">
          <xsd:maxLength value="250"/>
        </xsd:restriction>
      </xsd:simpleType>
    </xsd:element>
    <xsd:element name="MediaServiceLocation87" ma:index="224" nillable="true" ma:displayName="MediaServiceLocation" ma:internalName="MediaServiceLocation87">
      <xsd:simpleType>
        <xsd:restriction base="dms:Text">
          <xsd:maxLength value="250"/>
        </xsd:restriction>
      </xsd:simpleType>
    </xsd:element>
    <xsd:element name="MediaServiceKeyPoints89" ma:index="225" nillable="true" ma:displayName="MediaServiceKeyPoints" ma:internalName="MediaServiceKeyPoints89">
      <xsd:simpleType>
        <xsd:restriction base="dms:Text">
          <xsd:maxLength value="250"/>
        </xsd:restriction>
      </xsd:simpleType>
    </xsd:element>
    <xsd:element name="MediaServiceLocation88" ma:index="226" nillable="true" ma:displayName="MediaServiceLocation" ma:internalName="MediaServiceLocation88">
      <xsd:simpleType>
        <xsd:restriction base="dms:Text">
          <xsd:maxLength value="250"/>
        </xsd:restriction>
      </xsd:simpleType>
    </xsd:element>
    <xsd:element name="MediaServiceKeyPoints90" ma:index="227" nillable="true" ma:displayName="MediaServiceKeyPoints" ma:internalName="MediaServiceKeyPoints90">
      <xsd:simpleType>
        <xsd:restriction base="dms:Text">
          <xsd:maxLength value="250"/>
        </xsd:restriction>
      </xsd:simpleType>
    </xsd:element>
    <xsd:element name="MediaServiceLocation89" ma:index="228" nillable="true" ma:displayName="MediaServiceLocation" ma:internalName="MediaServiceLocation89">
      <xsd:simpleType>
        <xsd:restriction base="dms:Text">
          <xsd:maxLength value="250"/>
        </xsd:restriction>
      </xsd:simpleType>
    </xsd:element>
    <xsd:element name="MediaServiceKeyPoints91" ma:index="229" nillable="true" ma:displayName="MediaServiceKeyPoints" ma:internalName="MediaServiceKeyPoints91">
      <xsd:simpleType>
        <xsd:restriction base="dms:Text">
          <xsd:maxLength value="250"/>
        </xsd:restriction>
      </xsd:simpleType>
    </xsd:element>
    <xsd:element name="MediaServiceLocation90" ma:index="230" nillable="true" ma:displayName="MediaServiceLocation" ma:internalName="MediaServiceLocation90">
      <xsd:simpleType>
        <xsd:restriction base="dms:Text">
          <xsd:maxLength value="250"/>
        </xsd:restriction>
      </xsd:simpleType>
    </xsd:element>
    <xsd:element name="MediaServiceKeyPoints92" ma:index="231" nillable="true" ma:displayName="MediaServiceKeyPoints" ma:internalName="MediaServiceKeyPoints92">
      <xsd:simpleType>
        <xsd:restriction base="dms:Text">
          <xsd:maxLength value="250"/>
        </xsd:restriction>
      </xsd:simpleType>
    </xsd:element>
    <xsd:element name="MediaServiceLocation91" ma:index="232" nillable="true" ma:displayName="MediaServiceLocation" ma:internalName="MediaServiceLocation91">
      <xsd:simpleType>
        <xsd:restriction base="dms:Text">
          <xsd:maxLength value="250"/>
        </xsd:restriction>
      </xsd:simpleType>
    </xsd:element>
    <xsd:element name="MediaServiceKeyPoints93" ma:index="233" nillable="true" ma:displayName="MediaServiceKeyPoints" ma:internalName="MediaServiceKeyPoints93">
      <xsd:simpleType>
        <xsd:restriction base="dms:Text">
          <xsd:maxLength value="250"/>
        </xsd:restriction>
      </xsd:simpleType>
    </xsd:element>
    <xsd:element name="MediaServiceLocation92" ma:index="234" nillable="true" ma:displayName="MediaServiceLocation" ma:internalName="MediaServiceLocation92">
      <xsd:simpleType>
        <xsd:restriction base="dms:Text">
          <xsd:maxLength value="250"/>
        </xsd:restriction>
      </xsd:simpleType>
    </xsd:element>
    <xsd:element name="MediaServiceKeyPoints94" ma:index="235" nillable="true" ma:displayName="MediaServiceKeyPoints" ma:internalName="MediaServiceKeyPoints94">
      <xsd:simpleType>
        <xsd:restriction base="dms:Text">
          <xsd:maxLength value="250"/>
        </xsd:restriction>
      </xsd:simpleType>
    </xsd:element>
    <xsd:element name="MediaServiceKeyPoints95" ma:index="236" nillable="true" ma:displayName="MediaServiceKeyPoints" ma:internalName="MediaServiceKeyPoints95">
      <xsd:simpleType>
        <xsd:restriction base="dms:Text">
          <xsd:maxLength value="250"/>
        </xsd:restriction>
      </xsd:simpleType>
    </xsd:element>
    <xsd:element name="MediaServiceLocation93" ma:index="237" nillable="true" ma:displayName="MediaServiceLocation" ma:internalName="MediaServiceLocation93">
      <xsd:simpleType>
        <xsd:restriction base="dms:Text">
          <xsd:maxLength value="250"/>
        </xsd:restriction>
      </xsd:simpleType>
    </xsd:element>
    <xsd:element name="MediaServiceKeyPoints96" ma:index="238" nillable="true" ma:displayName="MediaServiceKeyPoints" ma:internalName="MediaServiceKeyPoints96">
      <xsd:simpleType>
        <xsd:restriction base="dms:Text">
          <xsd:maxLength value="250"/>
        </xsd:restriction>
      </xsd:simpleType>
    </xsd:element>
    <xsd:element name="MediaServiceKeyPoints97" ma:index="239" nillable="true" ma:displayName="MediaServiceKeyPoints" ma:internalName="MediaServiceKeyPoints97">
      <xsd:simpleType>
        <xsd:restriction base="dms:Text">
          <xsd:maxLength value="250"/>
        </xsd:restriction>
      </xsd:simpleType>
    </xsd:element>
    <xsd:element name="MediaServiceLocation94" ma:index="240" nillable="true" ma:displayName="MediaServiceLocation" ma:internalName="MediaServiceLocation94">
      <xsd:simpleType>
        <xsd:restriction base="dms:Text">
          <xsd:maxLength value="250"/>
        </xsd:restriction>
      </xsd:simpleType>
    </xsd:element>
    <xsd:element name="MediaServiceKeyPoints98" ma:index="241" nillable="true" ma:displayName="MediaServiceKeyPoints" ma:internalName="MediaServiceKeyPoints98">
      <xsd:simpleType>
        <xsd:restriction base="dms:Text">
          <xsd:maxLength value="250"/>
        </xsd:restriction>
      </xsd:simpleType>
    </xsd:element>
    <xsd:element name="MediaServiceLocation95" ma:index="242" nillable="true" ma:displayName="MediaServiceLocation" ma:internalName="MediaServiceLocation95">
      <xsd:simpleType>
        <xsd:restriction base="dms:Text">
          <xsd:maxLength value="250"/>
        </xsd:restriction>
      </xsd:simpleType>
    </xsd:element>
    <xsd:element name="MediaServiceKeyPoints99" ma:index="243" nillable="true" ma:displayName="MediaServiceKeyPoints" ma:internalName="MediaServiceKeyPoints99">
      <xsd:simpleType>
        <xsd:restriction base="dms:Text">
          <xsd:maxLength value="250"/>
        </xsd:restriction>
      </xsd:simpleType>
    </xsd:element>
    <xsd:element name="MediaServiceLocation96" ma:index="244" nillable="true" ma:displayName="MediaServiceLocation" ma:internalName="MediaServiceLocation96">
      <xsd:simpleType>
        <xsd:restriction base="dms:Text">
          <xsd:maxLength value="250"/>
        </xsd:restriction>
      </xsd:simpleType>
    </xsd:element>
    <xsd:element name="MediaServiceKeyPoints100" ma:index="245" nillable="true" ma:displayName="MediaServiceKeyPoints" ma:internalName="MediaServiceKeyPoints100">
      <xsd:simpleType>
        <xsd:restriction base="dms:Text">
          <xsd:maxLength value="250"/>
        </xsd:restriction>
      </xsd:simpleType>
    </xsd:element>
    <xsd:element name="MediaServiceLocation97" ma:index="246" nillable="true" ma:displayName="MediaServiceLocation" ma:internalName="MediaServiceLocation97">
      <xsd:simpleType>
        <xsd:restriction base="dms:Text">
          <xsd:maxLength value="250"/>
        </xsd:restriction>
      </xsd:simpleType>
    </xsd:element>
    <xsd:element name="MediaServiceKeyPoints101" ma:index="247" nillable="true" ma:displayName="MediaServiceKeyPoints" ma:internalName="MediaServiceKeyPoints101">
      <xsd:simpleType>
        <xsd:restriction base="dms:Text">
          <xsd:maxLength value="250"/>
        </xsd:restriction>
      </xsd:simpleType>
    </xsd:element>
    <xsd:element name="MediaServiceKeyPoints102" ma:index="248" nillable="true" ma:displayName="MediaServiceKeyPoints" ma:internalName="MediaServiceKeyPoints102">
      <xsd:simpleType>
        <xsd:restriction base="dms:Text">
          <xsd:maxLength value="250"/>
        </xsd:restriction>
      </xsd:simpleType>
    </xsd:element>
    <xsd:element name="MediaServiceLocation98" ma:index="249" nillable="true" ma:displayName="MediaServiceLocation" ma:internalName="MediaServiceLocation98">
      <xsd:simpleType>
        <xsd:restriction base="dms:Text">
          <xsd:maxLength value="250"/>
        </xsd:restriction>
      </xsd:simpleType>
    </xsd:element>
    <xsd:element name="MediaServiceLocation99" ma:index="250" nillable="true" ma:displayName="MediaServiceLocation" ma:internalName="MediaServiceLocation99">
      <xsd:simpleType>
        <xsd:restriction base="dms:Text">
          <xsd:maxLength value="250"/>
        </xsd:restriction>
      </xsd:simpleType>
    </xsd:element>
  </xsd:schema>
  <xsd:schema xmlns:xsd="http://www.w3.org/2001/XMLSchema" xmlns:xs="http://www.w3.org/2001/XMLSchema" xmlns:dms="http://schemas.microsoft.com/office/2006/documentManagement/types" xmlns:pc="http://schemas.microsoft.com/office/infopath/2007/PartnerControls" targetNamespace="c42bb2a1-ffd1-47b8-87fd-b1268cce8562" elementFormDefault="qualified">
    <xsd:import namespace="http://schemas.microsoft.com/office/2006/documentManagement/types"/>
    <xsd:import namespace="http://schemas.microsoft.com/office/infopath/2007/PartnerControls"/>
    <xsd:element name="SharedWithUsers" ma:index="10"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משותף עם פרטים"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AutoTags4 xmlns="99204534-1384-4b3b-99bf-42ea6966beea" xsi:nil="true"/>
    <MediaServiceLocation24 xmlns="99204534-1384-4b3b-99bf-42ea6966beea" xsi:nil="true"/>
    <MediaServiceKeyPoints26 xmlns="99204534-1384-4b3b-99bf-42ea6966beea" xsi:nil="true"/>
    <MediaServiceKeyPoints52 xmlns="99204534-1384-4b3b-99bf-42ea6966beea" xsi:nil="true"/>
    <MediaServiceLocation60 xmlns="99204534-1384-4b3b-99bf-42ea6966beea" xsi:nil="true"/>
    <MediaServiceLocation65 xmlns="99204534-1384-4b3b-99bf-42ea6966beea" xsi:nil="true"/>
    <MediaServiceKeyPoints86 xmlns="99204534-1384-4b3b-99bf-42ea6966beea" xsi:nil="true"/>
    <MediaServiceAutoTags5 xmlns="99204534-1384-4b3b-99bf-42ea6966beea" xsi:nil="true"/>
    <MediaServiceKeyPoints27 xmlns="99204534-1384-4b3b-99bf-42ea6966beea" xsi:nil="true"/>
    <MediaServiceLocation34 xmlns="99204534-1384-4b3b-99bf-42ea6966beea" xsi:nil="true"/>
    <MediaServiceKeyPoints53 xmlns="99204534-1384-4b3b-99bf-42ea6966beea" xsi:nil="true"/>
    <MediaServiceLocation70 xmlns="99204534-1384-4b3b-99bf-42ea6966beea" xsi:nil="true"/>
    <MediaServiceLocation75 xmlns="99204534-1384-4b3b-99bf-42ea6966beea" xsi:nil="true"/>
    <MediaServiceKeyPoints87 xmlns="99204534-1384-4b3b-99bf-42ea6966beea" xsi:nil="true"/>
    <MediaServiceAutoTags6 xmlns="99204534-1384-4b3b-99bf-42ea6966beea" xsi:nil="true"/>
    <MediaServiceKeyPoints3 xmlns="99204534-1384-4b3b-99bf-42ea6966beea" xsi:nil="true"/>
    <MediaServiceKeyPoints6 xmlns="99204534-1384-4b3b-99bf-42ea6966beea" xsi:nil="true"/>
    <MediaServiceKeyPoints9 xmlns="99204534-1384-4b3b-99bf-42ea6966beea" xsi:nil="true"/>
    <MediaServiceLocation8 xmlns="99204534-1384-4b3b-99bf-42ea6966beea" xsi:nil="true"/>
    <MediaServiceKeyPoints24 xmlns="99204534-1384-4b3b-99bf-42ea6966beea" xsi:nil="true"/>
    <MediaServiceLocation40 xmlns="99204534-1384-4b3b-99bf-42ea6966beea" xsi:nil="true"/>
    <MediaServiceLocation45 xmlns="99204534-1384-4b3b-99bf-42ea6966beea" xsi:nil="true"/>
    <MediaServiceKeyPoints50 xmlns="99204534-1384-4b3b-99bf-42ea6966beea" xsi:nil="true"/>
    <MediaServiceKeyPoints78 xmlns="99204534-1384-4b3b-99bf-42ea6966beea" xsi:nil="true"/>
    <MediaServiceLocation81 xmlns="99204534-1384-4b3b-99bf-42ea6966beea" xsi:nil="true"/>
    <MediaServiceKeyPoints84 xmlns="99204534-1384-4b3b-99bf-42ea6966beea" xsi:nil="true"/>
    <MediaServiceLocation86 xmlns="99204534-1384-4b3b-99bf-42ea6966beea" xsi:nil="true"/>
    <MediaServiceKeyPoints102 xmlns="99204534-1384-4b3b-99bf-42ea6966beea" xsi:nil="true"/>
    <MediaServiceOCR0 xmlns="99204534-1384-4b3b-99bf-42ea6966beea" xsi:nil="true"/>
    <MediaServiceAutoTags7 xmlns="99204534-1384-4b3b-99bf-42ea6966beea" xsi:nil="true"/>
    <MediaServiceOCR5 xmlns="99204534-1384-4b3b-99bf-42ea6966beea" xsi:nil="true"/>
    <MediaServiceLocation9 xmlns="99204534-1384-4b3b-99bf-42ea6966beea" xsi:nil="true"/>
    <MediaServiceLocation14 xmlns="99204534-1384-4b3b-99bf-42ea6966beea" xsi:nil="true"/>
    <MediaServiceKeyPoints25 xmlns="99204534-1384-4b3b-99bf-42ea6966beea" xsi:nil="true"/>
    <MediaServiceKeyPoints51 xmlns="99204534-1384-4b3b-99bf-42ea6966beea" xsi:nil="true"/>
    <MediaServiceLocation50 xmlns="99204534-1384-4b3b-99bf-42ea6966beea" xsi:nil="true"/>
    <MediaServiceLocation55 xmlns="99204534-1384-4b3b-99bf-42ea6966beea" xsi:nil="true"/>
    <MediaServiceKeyPoints79 xmlns="99204534-1384-4b3b-99bf-42ea6966beea" xsi:nil="true"/>
    <MediaServiceKeyPoints85 xmlns="99204534-1384-4b3b-99bf-42ea6966beea" xsi:nil="true"/>
    <MediaServiceLocation91 xmlns="99204534-1384-4b3b-99bf-42ea6966beea" xsi:nil="true"/>
    <MediaServiceLocation96 xmlns="99204534-1384-4b3b-99bf-42ea6966beea" xsi:nil="true"/>
    <MediaServiceAutoTags0 xmlns="99204534-1384-4b3b-99bf-42ea6966beea" xsi:nil="true"/>
    <MediaServiceLocation6 xmlns="99204534-1384-4b3b-99bf-42ea6966beea" xsi:nil="true"/>
    <MediaServiceKeyPoints12 xmlns="99204534-1384-4b3b-99bf-42ea6966beea" xsi:nil="true"/>
    <MediaServiceOCR17 xmlns="99204534-1384-4b3b-99bf-42ea6966beea" xsi:nil="true"/>
    <MediaServiceLocation20 xmlns="99204534-1384-4b3b-99bf-42ea6966beea" xsi:nil="true"/>
    <MediaServiceLocation25 xmlns="99204534-1384-4b3b-99bf-42ea6966beea" xsi:nil="true"/>
    <MediaServiceKeyPoints42 xmlns="99204534-1384-4b3b-99bf-42ea6966beea" xsi:nil="true"/>
    <MediaServiceKeyPoints56 xmlns="99204534-1384-4b3b-99bf-42ea6966beea" xsi:nil="true"/>
    <MediaServiceLocation61 xmlns="99204534-1384-4b3b-99bf-42ea6966beea" xsi:nil="true"/>
    <MediaServiceLocation66 xmlns="99204534-1384-4b3b-99bf-42ea6966beea" xsi:nil="true"/>
    <MediaServiceAutoTags1 xmlns="99204534-1384-4b3b-99bf-42ea6966beea" xsi:nil="true"/>
    <MediaServiceLocation7 xmlns="99204534-1384-4b3b-99bf-42ea6966beea" xsi:nil="true"/>
    <MediaServiceOCR16 xmlns="99204534-1384-4b3b-99bf-42ea6966beea" xsi:nil="true"/>
    <MediaServiceKeyPoints13 xmlns="99204534-1384-4b3b-99bf-42ea6966beea" xsi:nil="true"/>
    <MediaServiceLocation30 xmlns="99204534-1384-4b3b-99bf-42ea6966beea" xsi:nil="true"/>
    <MediaServiceLocation35 xmlns="99204534-1384-4b3b-99bf-42ea6966beea" xsi:nil="true"/>
    <MediaServiceKeyPoints43 xmlns="99204534-1384-4b3b-99bf-42ea6966beea" xsi:nil="true"/>
    <MediaServiceKeyPoints57 xmlns="99204534-1384-4b3b-99bf-42ea6966beea" xsi:nil="true"/>
    <MediaServiceLocation71 xmlns="99204534-1384-4b3b-99bf-42ea6966beea" xsi:nil="true"/>
    <MediaServiceLocation76 xmlns="99204534-1384-4b3b-99bf-42ea6966beea" xsi:nil="true"/>
    <SharedWithInternalStringId xmlns="99204534-1384-4b3b-99bf-42ea6966beea" xsi:nil="true"/>
    <MediaServiceAutoTags2 xmlns="99204534-1384-4b3b-99bf-42ea6966beea" xsi:nil="true"/>
    <MediaServiceKeyPoints2 xmlns="99204534-1384-4b3b-99bf-42ea6966beea" xsi:nil="true"/>
    <MediaServiceKeyPoints8 xmlns="99204534-1384-4b3b-99bf-42ea6966beea" xsi:nil="true"/>
    <MediaServiceLocation4 xmlns="99204534-1384-4b3b-99bf-42ea6966beea" xsi:nil="true"/>
    <MediaServiceKeyPoints10 xmlns="99204534-1384-4b3b-99bf-42ea6966beea" xsi:nil="true"/>
    <MediaServiceOCR15 xmlns="99204534-1384-4b3b-99bf-42ea6966beea" xsi:nil="true"/>
    <MediaServiceKeyPoints38 xmlns="99204534-1384-4b3b-99bf-42ea6966beea" xsi:nil="true"/>
    <MediaServiceKeyPoints40 xmlns="99204534-1384-4b3b-99bf-42ea6966beea" xsi:nil="true"/>
    <MediaServiceLocation41 xmlns="99204534-1384-4b3b-99bf-42ea6966beea" xsi:nil="true"/>
    <MediaServiceLocation46 xmlns="99204534-1384-4b3b-99bf-42ea6966beea" xsi:nil="true"/>
    <MediaServiceKeyPoints54 xmlns="99204534-1384-4b3b-99bf-42ea6966beea" xsi:nil="true"/>
    <MediaServiceKeyPoints68 xmlns="99204534-1384-4b3b-99bf-42ea6966beea" xsi:nil="true"/>
    <MediaServiceLocation82 xmlns="99204534-1384-4b3b-99bf-42ea6966beea" xsi:nil="true"/>
    <MediaServiceLocation87 xmlns="99204534-1384-4b3b-99bf-42ea6966beea" xsi:nil="true"/>
    <MediaServiceLocation88 xmlns="99204534-1384-4b3b-99bf-42ea6966beea" xsi:nil="true"/>
    <MediaServiceKeyPoints98 xmlns="99204534-1384-4b3b-99bf-42ea6966beea" xsi:nil="true"/>
    <MediaServiceOCR1 xmlns="99204534-1384-4b3b-99bf-42ea6966beea" xsi:nil="true"/>
    <MediaServiceAutoTags3 xmlns="99204534-1384-4b3b-99bf-42ea6966beea" xsi:nil="true"/>
    <MediaServiceLocation5 xmlns="99204534-1384-4b3b-99bf-42ea6966beea" xsi:nil="true"/>
    <MediaServiceLocation10 xmlns="99204534-1384-4b3b-99bf-42ea6966beea" xsi:nil="true"/>
    <MediaServiceKeyPoints11 xmlns="99204534-1384-4b3b-99bf-42ea6966beea" xsi:nil="true"/>
    <MediaServiceOCR14 xmlns="99204534-1384-4b3b-99bf-42ea6966beea" xsi:nil="true"/>
    <MediaServiceLocation15 xmlns="99204534-1384-4b3b-99bf-42ea6966beea" xsi:nil="true"/>
    <MediaServiceKeyPoints39 xmlns="99204534-1384-4b3b-99bf-42ea6966beea" xsi:nil="true"/>
    <MediaServiceKeyPoints41 xmlns="99204534-1384-4b3b-99bf-42ea6966beea" xsi:nil="true"/>
    <MediaServiceLocation51 xmlns="99204534-1384-4b3b-99bf-42ea6966beea" xsi:nil="true"/>
    <MediaServiceKeyPoints55 xmlns="99204534-1384-4b3b-99bf-42ea6966beea" xsi:nil="true"/>
    <MediaServiceLocation56 xmlns="99204534-1384-4b3b-99bf-42ea6966beea" xsi:nil="true"/>
    <MediaServiceKeyPoints69 xmlns="99204534-1384-4b3b-99bf-42ea6966beea" xsi:nil="true"/>
    <MediaServiceLocation92 xmlns="99204534-1384-4b3b-99bf-42ea6966beea" xsi:nil="true"/>
    <MediaServiceKeyPoints99 xmlns="99204534-1384-4b3b-99bf-42ea6966beea" xsi:nil="true"/>
    <MediaServiceLocation97 xmlns="99204534-1384-4b3b-99bf-42ea6966beea" xsi:nil="true"/>
    <MediaServiceLocation98 xmlns="99204534-1384-4b3b-99bf-42ea6966beea" xsi:nil="true"/>
    <MediaServiceLocation2 xmlns="99204534-1384-4b3b-99bf-42ea6966beea" xsi:nil="true"/>
    <MediaServiceOCR13 xmlns="99204534-1384-4b3b-99bf-42ea6966beea" xsi:nil="true"/>
    <MediaServiceKeyPoints16 xmlns="99204534-1384-4b3b-99bf-42ea6966beea" xsi:nil="true"/>
    <MediaServiceLocation21 xmlns="99204534-1384-4b3b-99bf-42ea6966beea" xsi:nil="true"/>
    <MediaServiceLocation26 xmlns="99204534-1384-4b3b-99bf-42ea6966beea" xsi:nil="true"/>
    <MediaServiceKeyPoints46 xmlns="99204534-1384-4b3b-99bf-42ea6966beea" xsi:nil="true"/>
    <MediaServiceLocation62 xmlns="99204534-1384-4b3b-99bf-42ea6966beea" xsi:nil="true"/>
    <MediaServiceLocation67 xmlns="99204534-1384-4b3b-99bf-42ea6966beea" xsi:nil="true"/>
    <MediaServiceLocation68 xmlns="99204534-1384-4b3b-99bf-42ea6966beea" xsi:nil="true"/>
    <MediaServiceKeyPoints72 xmlns="99204534-1384-4b3b-99bf-42ea6966beea" xsi:nil="true"/>
    <MediaServiceLocation3 xmlns="99204534-1384-4b3b-99bf-42ea6966beea" xsi:nil="true"/>
    <MediaServiceOCR12 xmlns="99204534-1384-4b3b-99bf-42ea6966beea" xsi:nil="true"/>
    <MediaServiceKeyPoints17 xmlns="99204534-1384-4b3b-99bf-42ea6966beea" xsi:nil="true"/>
    <MediaServiceLocation31 xmlns="99204534-1384-4b3b-99bf-42ea6966beea" xsi:nil="true"/>
    <MediaServiceLocation36 xmlns="99204534-1384-4b3b-99bf-42ea6966beea" xsi:nil="true"/>
    <MediaServiceKeyPoints47 xmlns="99204534-1384-4b3b-99bf-42ea6966beea" xsi:nil="true"/>
    <MediaServiceKeyPoints73 xmlns="99204534-1384-4b3b-99bf-42ea6966beea" xsi:nil="true"/>
    <MediaServiceLocation72 xmlns="99204534-1384-4b3b-99bf-42ea6966beea" xsi:nil="true"/>
    <MediaServiceLocation77 xmlns="99204534-1384-4b3b-99bf-42ea6966beea" xsi:nil="true"/>
    <MediaServiceLocation78 xmlns="99204534-1384-4b3b-99bf-42ea6966beea" xsi:nil="true"/>
    <MediaServiceLocation0 xmlns="99204534-1384-4b3b-99bf-42ea6966beea" xsi:nil="true"/>
    <MediaServiceKeyPoints5 xmlns="99204534-1384-4b3b-99bf-42ea6966beea" xsi:nil="true"/>
    <MediaServiceOCR11 xmlns="99204534-1384-4b3b-99bf-42ea6966beea" xsi:nil="true"/>
    <MediaServiceKeyPoints14 xmlns="99204534-1384-4b3b-99bf-42ea6966beea" xsi:nil="true"/>
    <MediaServiceKeyPoints28 xmlns="99204534-1384-4b3b-99bf-42ea6966beea" xsi:nil="true"/>
    <MediaServiceKeyPoints44 xmlns="99204534-1384-4b3b-99bf-42ea6966beea" xsi:nil="true"/>
    <MediaServiceLocation42 xmlns="99204534-1384-4b3b-99bf-42ea6966beea" xsi:nil="true"/>
    <MediaServiceLocation47 xmlns="99204534-1384-4b3b-99bf-42ea6966beea" xsi:nil="true"/>
    <MediaServiceLocation48 xmlns="99204534-1384-4b3b-99bf-42ea6966beea" xsi:nil="true"/>
    <MediaServiceKeyPoints70 xmlns="99204534-1384-4b3b-99bf-42ea6966beea" xsi:nil="true"/>
    <MediaServiceLocation83 xmlns="99204534-1384-4b3b-99bf-42ea6966beea" xsi:nil="true"/>
    <MediaServiceKeyPoints88 xmlns="99204534-1384-4b3b-99bf-42ea6966beea" xsi:nil="true"/>
    <MediaServiceLocation89 xmlns="99204534-1384-4b3b-99bf-42ea6966beea" xsi:nil="true"/>
    <MediaServiceOCR6 xmlns="99204534-1384-4b3b-99bf-42ea6966beea" xsi:nil="true"/>
    <MediaServiceLocation1 xmlns="99204534-1384-4b3b-99bf-42ea6966beea" xsi:nil="true"/>
    <MediaServiceOCR10 xmlns="99204534-1384-4b3b-99bf-42ea6966beea" xsi:nil="true"/>
    <MediaServiceLocation11 xmlns="99204534-1384-4b3b-99bf-42ea6966beea" xsi:nil="true"/>
    <MediaServiceKeyPoints15 xmlns="99204534-1384-4b3b-99bf-42ea6966beea" xsi:nil="true"/>
    <MediaServiceLocation16 xmlns="99204534-1384-4b3b-99bf-42ea6966beea" xsi:nil="true"/>
    <MediaServiceKeyPoints29 xmlns="99204534-1384-4b3b-99bf-42ea6966beea" xsi:nil="true"/>
    <MediaServiceKeyPoints45 xmlns="99204534-1384-4b3b-99bf-42ea6966beea" xsi:nil="true"/>
    <MediaServiceLocation52 xmlns="99204534-1384-4b3b-99bf-42ea6966beea" xsi:nil="true"/>
    <MediaServiceLocation57 xmlns="99204534-1384-4b3b-99bf-42ea6966beea" xsi:nil="true"/>
    <MediaServiceLocation58 xmlns="99204534-1384-4b3b-99bf-42ea6966beea" xsi:nil="true"/>
    <MediaServiceKeyPoints71 xmlns="99204534-1384-4b3b-99bf-42ea6966beea" xsi:nil="true"/>
    <MediaServiceKeyPoints89 xmlns="99204534-1384-4b3b-99bf-42ea6966beea" xsi:nil="true"/>
    <MediaServiceLocation93 xmlns="99204534-1384-4b3b-99bf-42ea6966beea" xsi:nil="true"/>
    <MediaServiceLocation99 xmlns="99204534-1384-4b3b-99bf-42ea6966beea" xsi:nil="true"/>
    <MediaServiceLocation22 xmlns="99204534-1384-4b3b-99bf-42ea6966beea" xsi:nil="true"/>
    <MediaServiceLocation27 xmlns="99204534-1384-4b3b-99bf-42ea6966beea" xsi:nil="true"/>
    <MediaServiceLocation28 xmlns="99204534-1384-4b3b-99bf-42ea6966beea" xsi:nil="true"/>
    <MediaServiceKeyPoints32 xmlns="99204534-1384-4b3b-99bf-42ea6966beea" xsi:nil="true"/>
    <MediaServiceKeyPoints62 xmlns="99204534-1384-4b3b-99bf-42ea6966beea" xsi:nil="true"/>
    <MediaServiceLocation63 xmlns="99204534-1384-4b3b-99bf-42ea6966beea" xsi:nil="true"/>
    <MediaServiceLocation69 xmlns="99204534-1384-4b3b-99bf-42ea6966beea" xsi:nil="true"/>
    <MediaServiceKeyPoints76 xmlns="99204534-1384-4b3b-99bf-42ea6966beea" xsi:nil="true"/>
    <MediaServiceKeyPoints92 xmlns="99204534-1384-4b3b-99bf-42ea6966beea" xsi:nil="true"/>
    <IsMyDocuments xmlns="99204534-1384-4b3b-99bf-42ea6966beea" xsi:nil="true"/>
    <MediaServiceKeyPoints33 xmlns="99204534-1384-4b3b-99bf-42ea6966beea" xsi:nil="true"/>
    <MediaServiceLocation32 xmlns="99204534-1384-4b3b-99bf-42ea6966beea" xsi:nil="true"/>
    <MediaServiceLocation37 xmlns="99204534-1384-4b3b-99bf-42ea6966beea" xsi:nil="true"/>
    <MediaServiceLocation38 xmlns="99204534-1384-4b3b-99bf-42ea6966beea" xsi:nil="true"/>
    <MediaServiceKeyPoints63 xmlns="99204534-1384-4b3b-99bf-42ea6966beea" xsi:nil="true"/>
    <MediaServiceLocation73 xmlns="99204534-1384-4b3b-99bf-42ea6966beea" xsi:nil="true"/>
    <MediaServiceKeyPoints77 xmlns="99204534-1384-4b3b-99bf-42ea6966beea" xsi:nil="true"/>
    <MediaServiceLocation79 xmlns="99204534-1384-4b3b-99bf-42ea6966beea" xsi:nil="true"/>
    <MediaServiceKeyPoints93 xmlns="99204534-1384-4b3b-99bf-42ea6966beea" xsi:nil="true"/>
    <MediaServiceKeyPoints1 xmlns="99204534-1384-4b3b-99bf-42ea6966beea" xsi:nil="true"/>
    <MediaServiceKeyPoints4 xmlns="99204534-1384-4b3b-99bf-42ea6966beea" xsi:nil="true"/>
    <MediaServiceKeyPoints30 xmlns="99204534-1384-4b3b-99bf-42ea6966beea" xsi:nil="true"/>
    <MediaServiceLocation43 xmlns="99204534-1384-4b3b-99bf-42ea6966beea" xsi:nil="true"/>
    <MediaServiceLocation49 xmlns="99204534-1384-4b3b-99bf-42ea6966beea" xsi:nil="true"/>
    <MediaServiceKeyPoints58 xmlns="99204534-1384-4b3b-99bf-42ea6966beea" xsi:nil="true"/>
    <MediaServiceKeyPoints60 xmlns="99204534-1384-4b3b-99bf-42ea6966beea" xsi:nil="true"/>
    <MediaServiceKeyPoints74 xmlns="99204534-1384-4b3b-99bf-42ea6966beea" xsi:nil="true"/>
    <MediaServiceLocation84 xmlns="99204534-1384-4b3b-99bf-42ea6966beea" xsi:nil="true"/>
    <MediaServiceKeyPoints90 xmlns="99204534-1384-4b3b-99bf-42ea6966beea" xsi:nil="true"/>
    <MediaServiceKeyPoints100 xmlns="99204534-1384-4b3b-99bf-42ea6966beea" xsi:nil="true"/>
    <MediaServiceOCR2 xmlns="99204534-1384-4b3b-99bf-42ea6966beea" xsi:nil="true"/>
    <MediaServiceOCR7 xmlns="99204534-1384-4b3b-99bf-42ea6966beea" xsi:nil="true"/>
    <MediaServiceOCR8 xmlns="99204534-1384-4b3b-99bf-42ea6966beea" xsi:nil="true"/>
    <MediaServiceLocation12 xmlns="99204534-1384-4b3b-99bf-42ea6966beea" xsi:nil="true"/>
    <MediaServiceLocation17 xmlns="99204534-1384-4b3b-99bf-42ea6966beea" xsi:nil="true"/>
    <MediaServiceLocation18 xmlns="99204534-1384-4b3b-99bf-42ea6966beea" xsi:nil="true"/>
    <MediaServiceKeyPoints31 xmlns="99204534-1384-4b3b-99bf-42ea6966beea" xsi:nil="true"/>
    <MediaServiceLocation53 xmlns="99204534-1384-4b3b-99bf-42ea6966beea" xsi:nil="true"/>
    <MediaServiceKeyPoints59 xmlns="99204534-1384-4b3b-99bf-42ea6966beea" xsi:nil="true"/>
    <MediaServiceKeyPoints61 xmlns="99204534-1384-4b3b-99bf-42ea6966beea" xsi:nil="true"/>
    <MediaServiceLocation59 xmlns="99204534-1384-4b3b-99bf-42ea6966beea" xsi:nil="true"/>
    <MediaServiceKeyPoints75 xmlns="99204534-1384-4b3b-99bf-42ea6966beea" xsi:nil="true"/>
    <MediaServiceKeyPoints91 xmlns="99204534-1384-4b3b-99bf-42ea6966beea" xsi:nil="true"/>
    <MediaServiceLocation94 xmlns="99204534-1384-4b3b-99bf-42ea6966beea" xsi:nil="true"/>
    <MediaServiceAutoTags8 xmlns="99204534-1384-4b3b-99bf-42ea6966beea" xsi:nil="true"/>
    <MediaServiceKeyPoints22 xmlns="99204534-1384-4b3b-99bf-42ea6966beea" xsi:nil="true"/>
    <MediaServiceLocation23 xmlns="99204534-1384-4b3b-99bf-42ea6966beea" xsi:nil="true"/>
    <MediaServiceLocation29 xmlns="99204534-1384-4b3b-99bf-42ea6966beea" xsi:nil="true"/>
    <MediaServiceKeyPoints36 xmlns="99204534-1384-4b3b-99bf-42ea6966beea" xsi:nil="true"/>
    <MediaServiceKeyPoints66 xmlns="99204534-1384-4b3b-99bf-42ea6966beea" xsi:nil="true"/>
    <MediaServiceLocation64 xmlns="99204534-1384-4b3b-99bf-42ea6966beea" xsi:nil="true"/>
    <MediaServiceKeyPoints82 xmlns="99204534-1384-4b3b-99bf-42ea6966beea" xsi:nil="true"/>
    <MediaServiceKeyPoints96 xmlns="99204534-1384-4b3b-99bf-42ea6966beea" xsi:nil="true"/>
    <SharedWithInternalId xmlns="99204534-1384-4b3b-99bf-42ea6966beea" xsi:nil="true"/>
    <MediaServiceAutoTags9 xmlns="99204534-1384-4b3b-99bf-42ea6966beea" xsi:nil="true"/>
    <MediaServiceKeyPoints23 xmlns="99204534-1384-4b3b-99bf-42ea6966beea" xsi:nil="true"/>
    <MediaServiceLocation33 xmlns="99204534-1384-4b3b-99bf-42ea6966beea" xsi:nil="true"/>
    <MediaServiceKeyPoints37 xmlns="99204534-1384-4b3b-99bf-42ea6966beea" xsi:nil="true"/>
    <MediaServiceLocation39 xmlns="99204534-1384-4b3b-99bf-42ea6966beea" xsi:nil="true"/>
    <MediaServiceKeyPoints67 xmlns="99204534-1384-4b3b-99bf-42ea6966beea" xsi:nil="true"/>
    <MediaServiceLocation74 xmlns="99204534-1384-4b3b-99bf-42ea6966beea" xsi:nil="true"/>
    <MediaServiceKeyPoints83 xmlns="99204534-1384-4b3b-99bf-42ea6966beea" xsi:nil="true"/>
    <MediaServiceKeyPoints97 xmlns="99204534-1384-4b3b-99bf-42ea6966beea" xsi:nil="true"/>
    <MediaServiceKeyPoints0 xmlns="99204534-1384-4b3b-99bf-42ea6966beea" xsi:nil="true"/>
    <MediaServiceKeyPoints7 xmlns="99204534-1384-4b3b-99bf-42ea6966beea" xsi:nil="true"/>
    <MediaServiceKeyPoints18 xmlns="99204534-1384-4b3b-99bf-42ea6966beea" xsi:nil="true"/>
    <MediaServiceKeyPoints20 xmlns="99204534-1384-4b3b-99bf-42ea6966beea" xsi:nil="true"/>
    <MediaServiceKeyPoints34 xmlns="99204534-1384-4b3b-99bf-42ea6966beea" xsi:nil="true"/>
    <MediaServiceLocation44 xmlns="99204534-1384-4b3b-99bf-42ea6966beea" xsi:nil="true"/>
    <MediaServiceKeyPoints48 xmlns="99204534-1384-4b3b-99bf-42ea6966beea" xsi:nil="true"/>
    <MediaServiceKeyPoints64 xmlns="99204534-1384-4b3b-99bf-42ea6966beea" xsi:nil="true"/>
    <MediaServiceKeyPoints80 xmlns="99204534-1384-4b3b-99bf-42ea6966beea" xsi:nil="true"/>
    <MediaServiceLocation80 xmlns="99204534-1384-4b3b-99bf-42ea6966beea" xsi:nil="true"/>
    <MediaServiceLocation85 xmlns="99204534-1384-4b3b-99bf-42ea6966beea" xsi:nil="true"/>
    <MediaServiceKeyPoints94 xmlns="99204534-1384-4b3b-99bf-42ea6966beea" xsi:nil="true"/>
    <MediaServiceKeyPoints101 xmlns="99204534-1384-4b3b-99bf-42ea6966beea" xsi:nil="true"/>
    <MediaServiceOCR3 xmlns="99204534-1384-4b3b-99bf-42ea6966beea" xsi:nil="true"/>
    <MediaServiceOCR4 xmlns="99204534-1384-4b3b-99bf-42ea6966beea" xsi:nil="true"/>
    <MediaServiceOCR9 xmlns="99204534-1384-4b3b-99bf-42ea6966beea" xsi:nil="true"/>
    <MediaServiceLocation13 xmlns="99204534-1384-4b3b-99bf-42ea6966beea" xsi:nil="true"/>
    <MediaServiceKeyPoints19 xmlns="99204534-1384-4b3b-99bf-42ea6966beea" xsi:nil="true"/>
    <MediaServiceLocation19 xmlns="99204534-1384-4b3b-99bf-42ea6966beea" xsi:nil="true"/>
    <MediaServiceKeyPoints21 xmlns="99204534-1384-4b3b-99bf-42ea6966beea" xsi:nil="true"/>
    <MediaServiceKeyPoints35 xmlns="99204534-1384-4b3b-99bf-42ea6966beea" xsi:nil="true"/>
    <MediaServiceKeyPoints49 xmlns="99204534-1384-4b3b-99bf-42ea6966beea" xsi:nil="true"/>
    <MediaServiceLocation54 xmlns="99204534-1384-4b3b-99bf-42ea6966beea" xsi:nil="true"/>
    <MediaServiceKeyPoints65 xmlns="99204534-1384-4b3b-99bf-42ea6966beea" xsi:nil="true"/>
    <MediaServiceKeyPoints81 xmlns="99204534-1384-4b3b-99bf-42ea6966beea" xsi:nil="true"/>
    <MediaServiceLocation90 xmlns="99204534-1384-4b3b-99bf-42ea6966beea" xsi:nil="true"/>
    <MediaServiceKeyPoints95 xmlns="99204534-1384-4b3b-99bf-42ea6966beea" xsi:nil="true"/>
    <MediaServiceLocation95 xmlns="99204534-1384-4b3b-99bf-42ea6966beea" xsi:nil="true"/>
  </documentManagement>
</p:properties>
</file>

<file path=customXml/itemProps1.xml><?xml version="1.0" encoding="utf-8"?>
<ds:datastoreItem xmlns:ds="http://schemas.openxmlformats.org/officeDocument/2006/customXml" ds:itemID="{D5FE37AF-B4D6-4CCF-A21B-C995FFD4A931}">
  <ds:schemaRefs>
    <ds:schemaRef ds:uri="http://schemas.microsoft.com/sharepoint/v3/contenttype/forms"/>
  </ds:schemaRefs>
</ds:datastoreItem>
</file>

<file path=customXml/itemProps2.xml><?xml version="1.0" encoding="utf-8"?>
<ds:datastoreItem xmlns:ds="http://schemas.openxmlformats.org/officeDocument/2006/customXml" ds:itemID="{24BB9B11-2122-4017-B51D-F7A28F5D5D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204534-1384-4b3b-99bf-42ea6966beea"/>
    <ds:schemaRef ds:uri="c42bb2a1-ffd1-47b8-87fd-b1268cce85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C00698-A8EB-44BA-96A0-AA58C7080F3B}">
  <ds:schemaRefs>
    <ds:schemaRef ds:uri="http://schemas.microsoft.com/office/2006/metadata/properties"/>
    <ds:schemaRef ds:uri="http://schemas.microsoft.com/office/infopath/2007/PartnerControls"/>
    <ds:schemaRef ds:uri="99204534-1384-4b3b-99bf-42ea6966beea"/>
  </ds:schemaRefs>
</ds:datastoreItem>
</file>

<file path=docProps/app.xml><?xml version="1.0" encoding="utf-8"?>
<Properties xmlns="http://schemas.openxmlformats.org/officeDocument/2006/extended-properties" xmlns:vt="http://schemas.openxmlformats.org/officeDocument/2006/docPropsVTypes">
  <TotalTime>27544</TotalTime>
  <Words>5387</Words>
  <Application>Microsoft Office PowerPoint</Application>
  <PresentationFormat>מסך רחב</PresentationFormat>
  <Paragraphs>784</Paragraphs>
  <Slides>58</Slides>
  <Notes>3</Notes>
  <HiddenSlides>0</HiddenSlides>
  <MMClips>0</MMClips>
  <ScaleCrop>false</ScaleCrop>
  <HeadingPairs>
    <vt:vector size="6" baseType="variant">
      <vt:variant>
        <vt:lpstr>גופנים בשימוש</vt:lpstr>
      </vt:variant>
      <vt:variant>
        <vt:i4>11</vt:i4>
      </vt:variant>
      <vt:variant>
        <vt:lpstr>ערכת נושא</vt:lpstr>
      </vt:variant>
      <vt:variant>
        <vt:i4>2</vt:i4>
      </vt:variant>
      <vt:variant>
        <vt:lpstr>כותרות שקופיות</vt:lpstr>
      </vt:variant>
      <vt:variant>
        <vt:i4>58</vt:i4>
      </vt:variant>
    </vt:vector>
  </HeadingPairs>
  <TitlesOfParts>
    <vt:vector size="71" baseType="lpstr">
      <vt:lpstr>Calibri Light</vt:lpstr>
      <vt:lpstr>Calibri</vt:lpstr>
      <vt:lpstr>Ploni ML v2 AAA</vt:lpstr>
      <vt:lpstr>Rubik Black</vt:lpstr>
      <vt:lpstr>Wingdings</vt:lpstr>
      <vt:lpstr>Ploni ML v2 AAA Medium</vt:lpstr>
      <vt:lpstr>Aptos</vt:lpstr>
      <vt:lpstr>Rubik</vt:lpstr>
      <vt:lpstr>Ploni ML v2 AAA Light</vt:lpstr>
      <vt:lpstr>Arial</vt:lpstr>
      <vt:lpstr>Rubik Light</vt:lpstr>
      <vt:lpstr>ערכת נושא Office</vt:lpstr>
      <vt:lpstr>1_ערכת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Adva Helvitz</dc:creator>
  <cp:lastModifiedBy>Adva Helvitz</cp:lastModifiedBy>
  <cp:revision>18</cp:revision>
  <dcterms:created xsi:type="dcterms:W3CDTF">2024-03-17T08:50:49Z</dcterms:created>
  <dcterms:modified xsi:type="dcterms:W3CDTF">2026-10-11T10:50:13Z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0x0101008F2B7C84A18DFC44908A49D038C45C41</vt:lpwstr>
  </property>
  <property fmtid="{D5CDD505-2E9C-101B-9397-08002B2CF9AE}" pid="3" name="MSIP_Label_c2b7fa0d-de84-4be0-941d-e905439095d6_Enabled">
    <vt:lpwstr>true</vt:lpwstr>
  </property>
  <property fmtid="{D5CDD505-2E9C-101B-9397-08002B2CF9AE}" pid="4" name="MSIP_Label_c2b7fa0d-de84-4be0-941d-e905439095d6_SetDate">
    <vt:lpwstr>2026-05-06T08:10:47Z</vt:lpwstr>
  </property>
  <property fmtid="{D5CDD505-2E9C-101B-9397-08002B2CF9AE}" pid="5" name="MSIP_Label_c2b7fa0d-de84-4be0-941d-e905439095d6_Method">
    <vt:lpwstr>Standard</vt:lpwstr>
  </property>
  <property fmtid="{D5CDD505-2E9C-101B-9397-08002B2CF9AE}" pid="6" name="MSIP_Label_c2b7fa0d-de84-4be0-941d-e905439095d6_Name">
    <vt:lpwstr>חסוי ארגוני</vt:lpwstr>
  </property>
  <property fmtid="{D5CDD505-2E9C-101B-9397-08002B2CF9AE}" pid="7" name="MSIP_Label_c2b7fa0d-de84-4be0-941d-e905439095d6_SiteId">
    <vt:lpwstr>89e846c1-57c1-4a4c-b65a-6d2107dbdb64</vt:lpwstr>
  </property>
  <property fmtid="{D5CDD505-2E9C-101B-9397-08002B2CF9AE}" pid="8" name="MSIP_Label_c2b7fa0d-de84-4be0-941d-e905439095d6_ActionId">
    <vt:lpwstr>e04d5a38-5dea-4cbd-930b-ca6b51fe9934</vt:lpwstr>
  </property>
  <property fmtid="{D5CDD505-2E9C-101B-9397-08002B2CF9AE}" pid="9" name="MSIP_Label_c2b7fa0d-de84-4be0-941d-e905439095d6_ContentBits">
    <vt:lpwstr>2</vt:lpwstr>
  </property>
  <property fmtid="{D5CDD505-2E9C-101B-9397-08002B2CF9AE}" pid="10" name="MSIP_Label_c2b7fa0d-de84-4be0-941d-e905439095d6_Tag">
    <vt:lpwstr>10, 1, 2, 1</vt:lpwstr>
  </property>
  <property fmtid="{D5CDD505-2E9C-101B-9397-08002B2CF9AE}" pid="11" name="ClassificationContentMarkingFooterLocations">
    <vt:lpwstr>ערכת נושא Office:3</vt:lpwstr>
  </property>
  <property fmtid="{D5CDD505-2E9C-101B-9397-08002B2CF9AE}" pid="12" name="ClassificationContentMarkingFooterText">
    <vt:lpwstr> מסמך בסיווג חסוי עסקי</vt:lpwstr>
  </property>
</Properties>
</file>